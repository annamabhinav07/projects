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2"/>
  </p:notesMasterIdLst>
  <p:sldIdLst>
    <p:sldId id="256" r:id="rId5"/>
    <p:sldId id="257" r:id="rId6"/>
    <p:sldId id="258" r:id="rId7"/>
    <p:sldId id="259" r:id="rId8"/>
    <p:sldId id="260" r:id="rId9"/>
    <p:sldId id="261" r:id="rId10"/>
    <p:sldId id="262" r:id="rId11"/>
    <p:sldId id="263" r:id="rId12"/>
    <p:sldId id="264" r:id="rId13"/>
    <p:sldId id="265" r:id="rId14"/>
    <p:sldId id="266" r:id="rId15"/>
    <p:sldId id="280" r:id="rId16"/>
    <p:sldId id="267" r:id="rId17"/>
    <p:sldId id="268" r:id="rId18"/>
    <p:sldId id="282" r:id="rId19"/>
    <p:sldId id="281" r:id="rId20"/>
    <p:sldId id="276" r:id="rId21"/>
    <p:sldId id="277" r:id="rId22"/>
    <p:sldId id="278" r:id="rId23"/>
    <p:sldId id="272" r:id="rId24"/>
    <p:sldId id="273" r:id="rId25"/>
    <p:sldId id="274" r:id="rId26"/>
    <p:sldId id="279" r:id="rId27"/>
    <p:sldId id="275" r:id="rId28"/>
    <p:sldId id="269" r:id="rId29"/>
    <p:sldId id="270" r:id="rId30"/>
    <p:sldId id="271" r:id="rId31"/>
  </p:sldIdLst>
  <p:sldSz cx="18288000" cy="10287000"/>
  <p:notesSz cx="6858000" cy="9144000"/>
  <p:embeddedFontLst>
    <p:embeddedFont>
      <p:font typeface="Fredoka" panose="020B0604020202020204" charset="-79"/>
      <p:bold r:id="rId33"/>
    </p:embeddedFont>
    <p:embeddedFont>
      <p:font typeface="Nunito" pitchFamily="2" charset="0"/>
      <p:regular r:id="rId34"/>
      <p:bold r:id="rId35"/>
      <p:italic r:id="rId36"/>
      <p:boldItalic r:id="rId37"/>
    </p:embeddedFont>
    <p:embeddedFont>
      <p:font typeface="Poppins" panose="00000500000000000000" pitchFamily="2" charset="0"/>
      <p:regular r:id="rId38"/>
      <p:bold r:id="rId39"/>
      <p:italic r:id="rId40"/>
      <p:boldItalic r:id="rId41"/>
    </p:embeddedFont>
    <p:embeddedFont>
      <p:font typeface="Poppins Black" panose="00000A00000000000000" pitchFamily="2" charset="0"/>
      <p:bold r:id="rId42"/>
      <p:boldItalic r:id="rId43"/>
    </p:embeddedFont>
    <p:embeddedFont>
      <p:font typeface="Poppins ExtraBold" panose="00000900000000000000" pitchFamily="2" charset="0"/>
      <p:bold r:id="rId44"/>
      <p:boldItalic r:id="rId45"/>
    </p:embeddedFont>
    <p:embeddedFont>
      <p:font typeface="Poppins Medium" panose="000006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eqHDazTTWffQfxMeTub1Wj8NSO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FC56F-0B28-4D70-9D04-D94B9B89A533}" v="61" dt="2025-04-10T07:34:09.969"/>
  </p1510:revLst>
</p1510:revInfo>
</file>

<file path=ppt/tableStyles.xml><?xml version="1.0" encoding="utf-8"?>
<a:tblStyleLst xmlns:a="http://schemas.openxmlformats.org/drawingml/2006/main" def="{0868FE13-BAC4-4048-AD5E-5C70845600BE}">
  <a:tblStyle styleId="{0868FE13-BAC4-4048-AD5E-5C70845600B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7.fntdata"/><Relationship Id="rId21" Type="http://schemas.openxmlformats.org/officeDocument/2006/relationships/slide" Target="slides/slide17.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customschemas.google.com/relationships/presentationmetadata" Target="metadata"/><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2.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6.xml"/><Relationship Id="rId41" Type="http://schemas.openxmlformats.org/officeDocument/2006/relationships/font" Target="fonts/font9.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4.fntdata"/><Relationship Id="rId4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39563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3f5eda4048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3f5eda404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1792288" y="612775"/>
            <a:ext cx="5486400" cy="4114800"/>
          </a:xfrm>
          <a:prstGeom prst="rect">
            <a:avLst/>
          </a:prstGeom>
          <a:noFill/>
          <a:ln>
            <a:noFill/>
          </a:ln>
        </p:spPr>
      </p:sp>
      <p:sp>
        <p:nvSpPr>
          <p:cNvPr id="64" name="Google Shape;64;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pjewBSmWTlU" TargetMode="External"/><Relationship Id="rId3" Type="http://schemas.openxmlformats.org/officeDocument/2006/relationships/image" Target="../media/image1.png"/><Relationship Id="rId7" Type="http://schemas.openxmlformats.org/officeDocument/2006/relationships/hyperlink" Target="https://www.researchgate.net/publication/328541785_Phishing_Website_Detection_using_Machine_Learning_Algorithm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github.com/shreyagopal/Phishing-Website-Detection-by-Machine-Learning-Techniques" TargetMode="External"/><Relationship Id="rId5" Type="http://schemas.openxmlformats.org/officeDocument/2006/relationships/image" Target="../media/image3.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
          <p:cNvGrpSpPr/>
          <p:nvPr/>
        </p:nvGrpSpPr>
        <p:grpSpPr>
          <a:xfrm>
            <a:off x="-1109662" y="0"/>
            <a:ext cx="20507325" cy="10287000"/>
            <a:chOff x="0" y="0"/>
            <a:chExt cx="27343100" cy="13716000"/>
          </a:xfrm>
        </p:grpSpPr>
        <p:sp>
          <p:nvSpPr>
            <p:cNvPr id="85" name="Google Shape;85;p1"/>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86" name="Google Shape;86;p1"/>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sp>
        <p:nvSpPr>
          <p:cNvPr id="87" name="Google Shape;87;p1"/>
          <p:cNvSpPr/>
          <p:nvPr/>
        </p:nvSpPr>
        <p:spPr>
          <a:xfrm>
            <a:off x="-513395" y="-275425"/>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88" name="Google Shape;88;p1"/>
          <p:cNvSpPr/>
          <p:nvPr/>
        </p:nvSpPr>
        <p:spPr>
          <a:xfrm>
            <a:off x="1319116" y="8276387"/>
            <a:ext cx="3395204" cy="1049427"/>
          </a:xfrm>
          <a:custGeom>
            <a:avLst/>
            <a:gdLst/>
            <a:ahLst/>
            <a:cxnLst/>
            <a:rect l="l" t="t" r="r" b="b"/>
            <a:pathLst>
              <a:path w="3395204" h="1049427" extrusionOk="0">
                <a:moveTo>
                  <a:pt x="0" y="0"/>
                </a:moveTo>
                <a:lnTo>
                  <a:pt x="3395204" y="0"/>
                </a:lnTo>
                <a:lnTo>
                  <a:pt x="3395204" y="1049426"/>
                </a:lnTo>
                <a:lnTo>
                  <a:pt x="0" y="1049426"/>
                </a:lnTo>
                <a:lnTo>
                  <a:pt x="0" y="0"/>
                </a:lnTo>
                <a:close/>
              </a:path>
            </a:pathLst>
          </a:custGeom>
          <a:blipFill rotWithShape="1">
            <a:blip r:embed="rId5">
              <a:alphaModFix/>
            </a:blip>
            <a:stretch>
              <a:fillRect/>
            </a:stretch>
          </a:blipFill>
          <a:ln>
            <a:noFill/>
          </a:ln>
        </p:spPr>
        <p:txBody>
          <a:bodyPr/>
          <a:lstStyle/>
          <a:p>
            <a:endParaRPr lang="en-IN"/>
          </a:p>
        </p:txBody>
      </p:sp>
      <p:sp>
        <p:nvSpPr>
          <p:cNvPr id="89" name="Google Shape;89;p1"/>
          <p:cNvSpPr txBox="1"/>
          <p:nvPr/>
        </p:nvSpPr>
        <p:spPr>
          <a:xfrm>
            <a:off x="4084771" y="3147870"/>
            <a:ext cx="10012776" cy="1119656"/>
          </a:xfrm>
          <a:prstGeom prst="rect">
            <a:avLst/>
          </a:prstGeom>
          <a:noFill/>
          <a:ln>
            <a:noFill/>
          </a:ln>
        </p:spPr>
        <p:txBody>
          <a:bodyPr spcFirstLastPara="1" wrap="square" lIns="0" tIns="0" rIns="0" bIns="0" anchor="t" anchorCtr="0">
            <a:spAutoFit/>
          </a:bodyPr>
          <a:lstStyle/>
          <a:p>
            <a:pPr marL="0" marR="0" lvl="0" indent="0" algn="ctr" rtl="0">
              <a:lnSpc>
                <a:spcPct val="139990"/>
              </a:lnSpc>
              <a:spcBef>
                <a:spcPts val="0"/>
              </a:spcBef>
              <a:spcAft>
                <a:spcPts val="0"/>
              </a:spcAft>
              <a:buNone/>
            </a:pPr>
            <a:r>
              <a:rPr lang="en-US" sz="6544" b="1" i="0" u="none" strike="noStrike" cap="none">
                <a:solidFill>
                  <a:srgbClr val="000000"/>
                </a:solidFill>
                <a:latin typeface="Fredoka"/>
                <a:ea typeface="Fredoka"/>
                <a:cs typeface="Fredoka"/>
                <a:sym typeface="Fredoka"/>
              </a:rPr>
              <a:t>PHISHDETECTOR</a:t>
            </a:r>
            <a:endParaRPr/>
          </a:p>
        </p:txBody>
      </p:sp>
      <p:sp>
        <p:nvSpPr>
          <p:cNvPr id="90" name="Google Shape;90;p1"/>
          <p:cNvSpPr txBox="1"/>
          <p:nvPr/>
        </p:nvSpPr>
        <p:spPr>
          <a:xfrm>
            <a:off x="756250" y="1954450"/>
            <a:ext cx="17097900" cy="646800"/>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4202" b="1">
                <a:latin typeface="Nunito"/>
                <a:ea typeface="Nunito"/>
                <a:cs typeface="Nunito"/>
                <a:sym typeface="Nunito"/>
              </a:rPr>
              <a:t>Smart </a:t>
            </a:r>
            <a:r>
              <a:rPr lang="en-US" sz="4202" b="1" i="0" u="none" strike="noStrike" cap="none">
                <a:solidFill>
                  <a:srgbClr val="000000"/>
                </a:solidFill>
                <a:latin typeface="Nunito"/>
                <a:ea typeface="Nunito"/>
                <a:cs typeface="Nunito"/>
                <a:sym typeface="Nunito"/>
              </a:rPr>
              <a:t>Phishing Detection</a:t>
            </a:r>
            <a:r>
              <a:rPr lang="en-US" sz="4202" b="1">
                <a:latin typeface="Nunito"/>
                <a:ea typeface="Nunito"/>
                <a:cs typeface="Nunito"/>
                <a:sym typeface="Nunito"/>
              </a:rPr>
              <a:t>: Leveraging</a:t>
            </a:r>
            <a:r>
              <a:rPr lang="en-US" sz="4202" b="1" i="0" u="none" strike="noStrike" cap="none">
                <a:solidFill>
                  <a:srgbClr val="000000"/>
                </a:solidFill>
                <a:latin typeface="Nunito"/>
                <a:ea typeface="Nunito"/>
                <a:cs typeface="Nunito"/>
                <a:sym typeface="Nunito"/>
              </a:rPr>
              <a:t> Machine L</a:t>
            </a:r>
            <a:r>
              <a:rPr lang="en-US" sz="4202" b="1">
                <a:latin typeface="Nunito"/>
                <a:ea typeface="Nunito"/>
                <a:cs typeface="Nunito"/>
                <a:sym typeface="Nunito"/>
              </a:rPr>
              <a:t>earning</a:t>
            </a:r>
            <a:r>
              <a:rPr lang="en-US" sz="4202" b="1" i="0" u="none" strike="noStrike" cap="none">
                <a:solidFill>
                  <a:srgbClr val="000000"/>
                </a:solidFill>
                <a:latin typeface="Nunito"/>
                <a:ea typeface="Nunito"/>
                <a:cs typeface="Nunito"/>
                <a:sym typeface="Nunito"/>
              </a:rPr>
              <a:t> for Secur</a:t>
            </a:r>
            <a:r>
              <a:rPr lang="en-US" sz="4202" b="1">
                <a:latin typeface="Nunito"/>
                <a:ea typeface="Nunito"/>
                <a:cs typeface="Nunito"/>
                <a:sym typeface="Nunito"/>
              </a:rPr>
              <a:t>ity</a:t>
            </a:r>
            <a:endParaRPr/>
          </a:p>
        </p:txBody>
      </p:sp>
      <p:sp>
        <p:nvSpPr>
          <p:cNvPr id="91" name="Google Shape;91;p1"/>
          <p:cNvSpPr txBox="1"/>
          <p:nvPr/>
        </p:nvSpPr>
        <p:spPr>
          <a:xfrm>
            <a:off x="1319127" y="6293825"/>
            <a:ext cx="7046700" cy="1754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a:latin typeface="Nunito"/>
                <a:ea typeface="Nunito"/>
                <a:cs typeface="Nunito"/>
                <a:sym typeface="Nunito"/>
              </a:rPr>
              <a:t>                   </a:t>
            </a:r>
            <a:r>
              <a:rPr lang="en-US" sz="3000" b="0" i="0" u="none" strike="noStrike" cap="none">
                <a:solidFill>
                  <a:srgbClr val="000000"/>
                </a:solidFill>
                <a:latin typeface="Nunito"/>
                <a:ea typeface="Nunito"/>
                <a:cs typeface="Nunito"/>
                <a:sym typeface="Nunito"/>
              </a:rPr>
              <a:t>Project Guide:</a:t>
            </a:r>
            <a:endParaRPr/>
          </a:p>
          <a:p>
            <a:pPr marL="0" marR="0" lvl="0" indent="0" algn="l" rtl="0">
              <a:lnSpc>
                <a:spcPct val="140000"/>
              </a:lnSpc>
              <a:spcBef>
                <a:spcPts val="0"/>
              </a:spcBef>
              <a:spcAft>
                <a:spcPts val="0"/>
              </a:spcAft>
              <a:buNone/>
            </a:pPr>
            <a:r>
              <a:rPr lang="en-US" sz="3000">
                <a:latin typeface="Nunito"/>
                <a:ea typeface="Nunito"/>
                <a:cs typeface="Nunito"/>
                <a:sym typeface="Nunito"/>
              </a:rPr>
              <a:t>                   </a:t>
            </a:r>
            <a:r>
              <a:rPr lang="en-US" sz="3000" b="0" i="0" u="none" strike="noStrike" cap="none">
                <a:solidFill>
                  <a:srgbClr val="000000"/>
                </a:solidFill>
                <a:latin typeface="Nunito"/>
                <a:ea typeface="Nunito"/>
                <a:cs typeface="Nunito"/>
                <a:sym typeface="Nunito"/>
              </a:rPr>
              <a:t>M</a:t>
            </a:r>
            <a:r>
              <a:rPr lang="en-US" sz="3000">
                <a:latin typeface="Nunito"/>
                <a:ea typeface="Nunito"/>
                <a:cs typeface="Nunito"/>
                <a:sym typeface="Nunito"/>
              </a:rPr>
              <a:t>s . K. Neelima</a:t>
            </a:r>
            <a:r>
              <a:rPr lang="en-US" sz="3000" b="0" i="0" u="none" strike="noStrike" cap="none">
                <a:solidFill>
                  <a:srgbClr val="000000"/>
                </a:solidFill>
                <a:latin typeface="Nunito"/>
                <a:ea typeface="Nunito"/>
                <a:cs typeface="Nunito"/>
                <a:sym typeface="Nunito"/>
              </a:rPr>
              <a:t> [M.Tech]</a:t>
            </a:r>
            <a:endParaRPr/>
          </a:p>
          <a:p>
            <a:pPr marL="0" marR="0" lvl="0" indent="0" algn="l" rtl="0">
              <a:lnSpc>
                <a:spcPct val="140000"/>
              </a:lnSpc>
              <a:spcBef>
                <a:spcPts val="0"/>
              </a:spcBef>
              <a:spcAft>
                <a:spcPts val="0"/>
              </a:spcAft>
              <a:buNone/>
            </a:pPr>
            <a:endParaRPr sz="3000" b="0" i="0" u="none" strike="noStrike" cap="none">
              <a:solidFill>
                <a:srgbClr val="000000"/>
              </a:solidFill>
              <a:latin typeface="Nunito"/>
              <a:ea typeface="Nunito"/>
              <a:cs typeface="Nunito"/>
              <a:sym typeface="Nunito"/>
            </a:endParaRPr>
          </a:p>
        </p:txBody>
      </p:sp>
      <p:sp>
        <p:nvSpPr>
          <p:cNvPr id="92" name="Google Shape;92;p1"/>
          <p:cNvSpPr txBox="1"/>
          <p:nvPr/>
        </p:nvSpPr>
        <p:spPr>
          <a:xfrm>
            <a:off x="12257750" y="6153150"/>
            <a:ext cx="4774500" cy="30477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3000">
                <a:latin typeface="Nunito"/>
                <a:ea typeface="Nunito"/>
                <a:cs typeface="Nunito"/>
                <a:sym typeface="Nunito"/>
              </a:rPr>
              <a:t>P Nikhila Sai  Y21ADS424</a:t>
            </a:r>
            <a:endParaRPr/>
          </a:p>
          <a:p>
            <a:pPr marL="0" marR="0" lvl="0" indent="0" algn="just" rtl="0">
              <a:lnSpc>
                <a:spcPct val="140000"/>
              </a:lnSpc>
              <a:spcBef>
                <a:spcPts val="0"/>
              </a:spcBef>
              <a:spcAft>
                <a:spcPts val="0"/>
              </a:spcAft>
              <a:buNone/>
            </a:pPr>
            <a:r>
              <a:rPr lang="en-US" sz="3000">
                <a:latin typeface="Nunito"/>
                <a:ea typeface="Nunito"/>
                <a:cs typeface="Nunito"/>
                <a:sym typeface="Nunito"/>
              </a:rPr>
              <a:t>Ch Pavan Sai</a:t>
            </a:r>
            <a:r>
              <a:rPr lang="en-US" sz="3000" b="0" i="0" u="none" strike="noStrike" cap="none">
                <a:solidFill>
                  <a:srgbClr val="000000"/>
                </a:solidFill>
                <a:latin typeface="Nunito"/>
                <a:ea typeface="Nunito"/>
                <a:cs typeface="Nunito"/>
                <a:sym typeface="Nunito"/>
              </a:rPr>
              <a:t> Y2</a:t>
            </a:r>
            <a:r>
              <a:rPr lang="en-US" sz="3000">
                <a:latin typeface="Nunito"/>
                <a:ea typeface="Nunito"/>
                <a:cs typeface="Nunito"/>
                <a:sym typeface="Nunito"/>
              </a:rPr>
              <a:t>1</a:t>
            </a:r>
            <a:r>
              <a:rPr lang="en-US" sz="3000" b="0" i="0" u="none" strike="noStrike" cap="none">
                <a:solidFill>
                  <a:srgbClr val="000000"/>
                </a:solidFill>
                <a:latin typeface="Nunito"/>
                <a:ea typeface="Nunito"/>
                <a:cs typeface="Nunito"/>
                <a:sym typeface="Nunito"/>
              </a:rPr>
              <a:t>A</a:t>
            </a:r>
            <a:r>
              <a:rPr lang="en-US" sz="3000">
                <a:latin typeface="Nunito"/>
                <a:ea typeface="Nunito"/>
                <a:cs typeface="Nunito"/>
                <a:sym typeface="Nunito"/>
              </a:rPr>
              <a:t>D</a:t>
            </a:r>
            <a:r>
              <a:rPr lang="en-US" sz="3000" b="0" i="0" u="none" strike="noStrike" cap="none">
                <a:solidFill>
                  <a:srgbClr val="000000"/>
                </a:solidFill>
                <a:latin typeface="Nunito"/>
                <a:ea typeface="Nunito"/>
                <a:cs typeface="Nunito"/>
                <a:sym typeface="Nunito"/>
              </a:rPr>
              <a:t>S4</a:t>
            </a:r>
            <a:r>
              <a:rPr lang="en-US" sz="3000">
                <a:latin typeface="Nunito"/>
                <a:ea typeface="Nunito"/>
                <a:cs typeface="Nunito"/>
                <a:sym typeface="Nunito"/>
              </a:rPr>
              <a:t>08</a:t>
            </a:r>
            <a:endParaRPr/>
          </a:p>
          <a:p>
            <a:pPr marL="0" marR="0" lvl="0" indent="0" algn="just" rtl="0">
              <a:lnSpc>
                <a:spcPct val="140000"/>
              </a:lnSpc>
              <a:spcBef>
                <a:spcPts val="0"/>
              </a:spcBef>
              <a:spcAft>
                <a:spcPts val="0"/>
              </a:spcAft>
              <a:buNone/>
            </a:pPr>
            <a:r>
              <a:rPr lang="en-US" sz="3000">
                <a:latin typeface="Nunito"/>
                <a:ea typeface="Nunito"/>
                <a:cs typeface="Nunito"/>
                <a:sym typeface="Nunito"/>
              </a:rPr>
              <a:t>A Abhinav</a:t>
            </a:r>
            <a:r>
              <a:rPr lang="en-US" sz="3000" b="0" i="0" u="none" strike="noStrike" cap="none">
                <a:solidFill>
                  <a:srgbClr val="000000"/>
                </a:solidFill>
                <a:latin typeface="Nunito"/>
                <a:ea typeface="Nunito"/>
                <a:cs typeface="Nunito"/>
                <a:sym typeface="Nunito"/>
              </a:rPr>
              <a:t>      Y2</a:t>
            </a:r>
            <a:r>
              <a:rPr lang="en-US" sz="3000">
                <a:latin typeface="Nunito"/>
                <a:ea typeface="Nunito"/>
                <a:cs typeface="Nunito"/>
                <a:sym typeface="Nunito"/>
              </a:rPr>
              <a:t>1</a:t>
            </a:r>
            <a:r>
              <a:rPr lang="en-US" sz="3000" b="0" i="0" u="none" strike="noStrike" cap="none">
                <a:solidFill>
                  <a:srgbClr val="000000"/>
                </a:solidFill>
                <a:latin typeface="Nunito"/>
                <a:ea typeface="Nunito"/>
                <a:cs typeface="Nunito"/>
                <a:sym typeface="Nunito"/>
              </a:rPr>
              <a:t>A</a:t>
            </a:r>
            <a:r>
              <a:rPr lang="en-US" sz="3000">
                <a:latin typeface="Nunito"/>
                <a:ea typeface="Nunito"/>
                <a:cs typeface="Nunito"/>
                <a:sym typeface="Nunito"/>
              </a:rPr>
              <a:t>D</a:t>
            </a:r>
            <a:r>
              <a:rPr lang="en-US" sz="3000" b="0" i="0" u="none" strike="noStrike" cap="none">
                <a:solidFill>
                  <a:srgbClr val="000000"/>
                </a:solidFill>
                <a:latin typeface="Nunito"/>
                <a:ea typeface="Nunito"/>
                <a:cs typeface="Nunito"/>
                <a:sym typeface="Nunito"/>
              </a:rPr>
              <a:t>S4</a:t>
            </a:r>
            <a:r>
              <a:rPr lang="en-US" sz="3000">
                <a:latin typeface="Nunito"/>
                <a:ea typeface="Nunito"/>
                <a:cs typeface="Nunito"/>
                <a:sym typeface="Nunito"/>
              </a:rPr>
              <a:t>03</a:t>
            </a:r>
            <a:endParaRPr/>
          </a:p>
          <a:p>
            <a:pPr marL="0" marR="0" lvl="0" indent="0" algn="just" rtl="0">
              <a:lnSpc>
                <a:spcPct val="140000"/>
              </a:lnSpc>
              <a:spcBef>
                <a:spcPts val="0"/>
              </a:spcBef>
              <a:spcAft>
                <a:spcPts val="0"/>
              </a:spcAft>
              <a:buNone/>
            </a:pPr>
            <a:r>
              <a:rPr lang="en-US" sz="3000" b="0" i="0" u="none" strike="noStrike" cap="none">
                <a:solidFill>
                  <a:srgbClr val="000000"/>
                </a:solidFill>
                <a:latin typeface="Nunito"/>
                <a:ea typeface="Nunito"/>
                <a:cs typeface="Nunito"/>
                <a:sym typeface="Nunito"/>
              </a:rPr>
              <a:t>B K</a:t>
            </a:r>
            <a:r>
              <a:rPr lang="en-US" sz="3000">
                <a:latin typeface="Nunito"/>
                <a:ea typeface="Nunito"/>
                <a:cs typeface="Nunito"/>
                <a:sym typeface="Nunito"/>
              </a:rPr>
              <a:t>alyani</a:t>
            </a:r>
            <a:r>
              <a:rPr lang="en-US" sz="3000" b="0" i="0" u="none" strike="noStrike" cap="none">
                <a:solidFill>
                  <a:srgbClr val="000000"/>
                </a:solidFill>
                <a:latin typeface="Nunito"/>
                <a:ea typeface="Nunito"/>
                <a:cs typeface="Nunito"/>
                <a:sym typeface="Nunito"/>
              </a:rPr>
              <a:t>        </a:t>
            </a:r>
            <a:r>
              <a:rPr lang="en-US" sz="3000">
                <a:latin typeface="Nunito"/>
                <a:ea typeface="Nunito"/>
                <a:cs typeface="Nunito"/>
                <a:sym typeface="Nunito"/>
              </a:rPr>
              <a:t>Y</a:t>
            </a:r>
            <a:r>
              <a:rPr lang="en-US" sz="3000" b="0" i="0" u="none" strike="noStrike" cap="none">
                <a:solidFill>
                  <a:srgbClr val="000000"/>
                </a:solidFill>
                <a:latin typeface="Nunito"/>
                <a:ea typeface="Nunito"/>
                <a:cs typeface="Nunito"/>
                <a:sym typeface="Nunito"/>
              </a:rPr>
              <a:t>21A</a:t>
            </a:r>
            <a:r>
              <a:rPr lang="en-US" sz="3000">
                <a:latin typeface="Nunito"/>
                <a:ea typeface="Nunito"/>
                <a:cs typeface="Nunito"/>
                <a:sym typeface="Nunito"/>
              </a:rPr>
              <a:t>D</a:t>
            </a:r>
            <a:r>
              <a:rPr lang="en-US" sz="3000" b="0" i="0" u="none" strike="noStrike" cap="none">
                <a:solidFill>
                  <a:srgbClr val="000000"/>
                </a:solidFill>
                <a:latin typeface="Nunito"/>
                <a:ea typeface="Nunito"/>
                <a:cs typeface="Nunito"/>
                <a:sym typeface="Nunito"/>
              </a:rPr>
              <a:t>S40</a:t>
            </a:r>
            <a:r>
              <a:rPr lang="en-US" sz="3000">
                <a:latin typeface="Nunito"/>
                <a:ea typeface="Nunito"/>
                <a:cs typeface="Nunito"/>
                <a:sym typeface="Nunito"/>
              </a:rPr>
              <a:t>6</a:t>
            </a:r>
            <a:endParaRPr/>
          </a:p>
          <a:p>
            <a:pPr marL="0" marR="0" lvl="0" indent="0" algn="just" rtl="0">
              <a:lnSpc>
                <a:spcPct val="140000"/>
              </a:lnSpc>
              <a:spcBef>
                <a:spcPts val="0"/>
              </a:spcBef>
              <a:spcAft>
                <a:spcPts val="0"/>
              </a:spcAft>
              <a:buNone/>
            </a:pPr>
            <a:endParaRPr sz="3000" b="0" i="0" u="none" strike="noStrike" cap="none">
              <a:solidFill>
                <a:srgbClr val="000000"/>
              </a:solidFill>
              <a:latin typeface="Nunito"/>
              <a:ea typeface="Nunito"/>
              <a:cs typeface="Nunito"/>
              <a:sym typeface="Nunito"/>
            </a:endParaRPr>
          </a:p>
        </p:txBody>
      </p:sp>
      <p:sp>
        <p:nvSpPr>
          <p:cNvPr id="93" name="Google Shape;93;p1"/>
          <p:cNvSpPr/>
          <p:nvPr/>
        </p:nvSpPr>
        <p:spPr>
          <a:xfrm>
            <a:off x="17216912" y="-911620"/>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94" name="Google Shape;94;p1"/>
          <p:cNvSpPr/>
          <p:nvPr/>
        </p:nvSpPr>
        <p:spPr>
          <a:xfrm>
            <a:off x="-631849" y="2601257"/>
            <a:ext cx="4716622" cy="13168235"/>
          </a:xfrm>
          <a:custGeom>
            <a:avLst/>
            <a:gdLst/>
            <a:ahLst/>
            <a:cxnLst/>
            <a:rect l="l" t="t" r="r" b="b"/>
            <a:pathLst>
              <a:path w="4716622" h="13168235" extrusionOk="0">
                <a:moveTo>
                  <a:pt x="0" y="0"/>
                </a:moveTo>
                <a:lnTo>
                  <a:pt x="4716623" y="0"/>
                </a:lnTo>
                <a:lnTo>
                  <a:pt x="4716623" y="13168235"/>
                </a:lnTo>
                <a:lnTo>
                  <a:pt x="0" y="13168235"/>
                </a:lnTo>
                <a:lnTo>
                  <a:pt x="0" y="0"/>
                </a:lnTo>
                <a:close/>
              </a:path>
            </a:pathLst>
          </a:custGeom>
          <a:blipFill rotWithShape="1">
            <a:blip r:embed="rId6">
              <a:alphaModFix/>
            </a:blip>
            <a:stretch>
              <a:fillRect/>
            </a:stretch>
          </a:blipFill>
          <a:ln>
            <a:no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2"/>
          <p:cNvGrpSpPr/>
          <p:nvPr/>
        </p:nvGrpSpPr>
        <p:grpSpPr>
          <a:xfrm>
            <a:off x="-1109663" y="874793"/>
            <a:ext cx="20507325" cy="10287000"/>
            <a:chOff x="0" y="0"/>
            <a:chExt cx="27343100" cy="13716000"/>
          </a:xfrm>
        </p:grpSpPr>
        <p:sp>
          <p:nvSpPr>
            <p:cNvPr id="100" name="Google Shape;100;p2"/>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101" name="Google Shape;101;p2"/>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102" name="Google Shape;102;p2"/>
          <p:cNvGrpSpPr/>
          <p:nvPr/>
        </p:nvGrpSpPr>
        <p:grpSpPr>
          <a:xfrm>
            <a:off x="1028700" y="2165401"/>
            <a:ext cx="16230707" cy="6944563"/>
            <a:chOff x="0" y="-57150"/>
            <a:chExt cx="4274726" cy="1776103"/>
          </a:xfrm>
        </p:grpSpPr>
        <p:sp>
          <p:nvSpPr>
            <p:cNvPr id="103" name="Google Shape;103;p2"/>
            <p:cNvSpPr/>
            <p:nvPr/>
          </p:nvSpPr>
          <p:spPr>
            <a:xfrm>
              <a:off x="0" y="0"/>
              <a:ext cx="4274726" cy="1718953"/>
            </a:xfrm>
            <a:custGeom>
              <a:avLst/>
              <a:gdLst/>
              <a:ahLst/>
              <a:cxnLst/>
              <a:rect l="l" t="t" r="r" b="b"/>
              <a:pathLst>
                <a:path w="4274726" h="1718953" extrusionOk="0">
                  <a:moveTo>
                    <a:pt x="0" y="0"/>
                  </a:moveTo>
                  <a:lnTo>
                    <a:pt x="4274726" y="0"/>
                  </a:lnTo>
                  <a:lnTo>
                    <a:pt x="4274726" y="1718953"/>
                  </a:lnTo>
                  <a:lnTo>
                    <a:pt x="0" y="1718953"/>
                  </a:lnTo>
                  <a:close/>
                </a:path>
              </a:pathLst>
            </a:custGeom>
            <a:solidFill>
              <a:srgbClr val="F1F2F2"/>
            </a:solidFill>
            <a:ln>
              <a:noFill/>
            </a:ln>
          </p:spPr>
          <p:txBody>
            <a:bodyPr/>
            <a:lstStyle/>
            <a:p>
              <a:endParaRPr lang="en-IN"/>
            </a:p>
          </p:txBody>
        </p:sp>
        <p:sp>
          <p:nvSpPr>
            <p:cNvPr id="104" name="Google Shape;104;p2"/>
            <p:cNvSpPr txBox="1"/>
            <p:nvPr/>
          </p:nvSpPr>
          <p:spPr>
            <a:xfrm>
              <a:off x="0" y="-57150"/>
              <a:ext cx="4274726" cy="177610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 name="Google Shape;105;p2"/>
          <p:cNvGrpSpPr/>
          <p:nvPr/>
        </p:nvGrpSpPr>
        <p:grpSpPr>
          <a:xfrm>
            <a:off x="5139012" y="470313"/>
            <a:ext cx="6540384" cy="1560343"/>
            <a:chOff x="0" y="-57150"/>
            <a:chExt cx="1722570" cy="410954"/>
          </a:xfrm>
        </p:grpSpPr>
        <p:sp>
          <p:nvSpPr>
            <p:cNvPr id="106" name="Google Shape;106;p2"/>
            <p:cNvSpPr/>
            <p:nvPr/>
          </p:nvSpPr>
          <p:spPr>
            <a:xfrm>
              <a:off x="0" y="0"/>
              <a:ext cx="1722570" cy="353804"/>
            </a:xfrm>
            <a:custGeom>
              <a:avLst/>
              <a:gdLst/>
              <a:ahLst/>
              <a:cxnLst/>
              <a:rect l="l" t="t" r="r" b="b"/>
              <a:pathLst>
                <a:path w="1722570" h="353804" extrusionOk="0">
                  <a:moveTo>
                    <a:pt x="0" y="0"/>
                  </a:moveTo>
                  <a:lnTo>
                    <a:pt x="1722570" y="0"/>
                  </a:lnTo>
                  <a:lnTo>
                    <a:pt x="1722570" y="353804"/>
                  </a:lnTo>
                  <a:lnTo>
                    <a:pt x="0" y="353804"/>
                  </a:lnTo>
                  <a:close/>
                </a:path>
              </a:pathLst>
            </a:custGeom>
            <a:solidFill>
              <a:srgbClr val="DDDEDE"/>
            </a:solidFill>
            <a:ln w="38100" cap="sq" cmpd="sng">
              <a:solidFill>
                <a:srgbClr val="F1F2F2"/>
              </a:solidFill>
              <a:prstDash val="solid"/>
              <a:miter lim="8000"/>
              <a:headEnd type="none" w="sm" len="sm"/>
              <a:tailEnd type="none" w="sm" len="sm"/>
            </a:ln>
          </p:spPr>
          <p:txBody>
            <a:bodyPr numCol="2"/>
            <a:lstStyle/>
            <a:p>
              <a:endParaRPr lang="en-IN"/>
            </a:p>
          </p:txBody>
        </p:sp>
        <p:sp>
          <p:nvSpPr>
            <p:cNvPr id="107" name="Google Shape;107;p2"/>
            <p:cNvSpPr txBox="1"/>
            <p:nvPr/>
          </p:nvSpPr>
          <p:spPr>
            <a:xfrm>
              <a:off x="0" y="-57150"/>
              <a:ext cx="1722570" cy="410954"/>
            </a:xfrm>
            <a:prstGeom prst="rect">
              <a:avLst/>
            </a:prstGeom>
            <a:noFill/>
            <a:ln>
              <a:noFill/>
            </a:ln>
          </p:spPr>
          <p:txBody>
            <a:bodyPr spcFirstLastPara="1" wrap="square" lIns="50800" tIns="50800" rIns="50800" bIns="50800" numCol="2"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8" name="Google Shape;108;p2"/>
          <p:cNvSpPr txBox="1"/>
          <p:nvPr/>
        </p:nvSpPr>
        <p:spPr>
          <a:xfrm>
            <a:off x="3808925" y="874793"/>
            <a:ext cx="9200557"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000000"/>
                </a:solidFill>
                <a:latin typeface="Fredoka"/>
                <a:ea typeface="Fredoka"/>
                <a:cs typeface="Fredoka"/>
                <a:sym typeface="Fredoka"/>
              </a:rPr>
              <a:t>CONTENTS</a:t>
            </a:r>
            <a:endParaRPr/>
          </a:p>
        </p:txBody>
      </p:sp>
      <p:sp>
        <p:nvSpPr>
          <p:cNvPr id="109" name="Google Shape;109;p2"/>
          <p:cNvSpPr txBox="1"/>
          <p:nvPr/>
        </p:nvSpPr>
        <p:spPr>
          <a:xfrm>
            <a:off x="1700004" y="3088757"/>
            <a:ext cx="12164179" cy="8273034"/>
          </a:xfrm>
          <a:prstGeom prst="rect">
            <a:avLst/>
          </a:prstGeom>
          <a:noFill/>
          <a:ln>
            <a:noFill/>
          </a:ln>
        </p:spPr>
        <p:txBody>
          <a:bodyPr spcFirstLastPara="1" wrap="square" lIns="0" tIns="0" rIns="0" bIns="0" numCol="2" anchor="t" anchorCtr="0">
            <a:spAutoFit/>
          </a:bodyPr>
          <a:lstStyle/>
          <a:p>
            <a:pPr marL="777238" marR="0" lvl="1" indent="-382269" algn="just"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Abstract</a:t>
            </a:r>
            <a:endParaRPr lang="en-US" sz="3200" dirty="0"/>
          </a:p>
          <a:p>
            <a:pPr marL="777238" marR="0" lvl="1" indent="-382269" algn="just"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Literature Survey</a:t>
            </a:r>
            <a:endParaRPr sz="3200" dirty="0"/>
          </a:p>
          <a:p>
            <a:pPr marL="777238" marR="0" lvl="1" indent="-382269" algn="l"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Existing System</a:t>
            </a:r>
            <a:endParaRPr sz="3200" dirty="0"/>
          </a:p>
          <a:p>
            <a:pPr marL="777238" marR="0" lvl="1" indent="-382269" algn="l"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Proposed System</a:t>
            </a:r>
            <a:endParaRPr sz="3200" dirty="0"/>
          </a:p>
          <a:p>
            <a:pPr marL="777238" marR="0" lvl="1" indent="-382269" algn="l"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Block Diagram</a:t>
            </a:r>
            <a:endParaRPr sz="3200" dirty="0"/>
          </a:p>
          <a:p>
            <a:pPr marL="777238" marR="0" lvl="1" indent="-382269" algn="l"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System</a:t>
            </a:r>
            <a:r>
              <a:rPr lang="en-US" sz="3200" b="1" i="0" u="none" strike="noStrike" cap="none" dirty="0">
                <a:solidFill>
                  <a:srgbClr val="000000"/>
                </a:solidFill>
                <a:latin typeface="Nunito"/>
                <a:ea typeface="Nunito"/>
                <a:cs typeface="Nunito"/>
                <a:sym typeface="Nunito"/>
              </a:rPr>
              <a:t> Requirements</a:t>
            </a:r>
          </a:p>
          <a:p>
            <a:pPr marL="777238" marR="0" lvl="1" indent="-382269" algn="l" rtl="0">
              <a:lnSpc>
                <a:spcPct val="140011"/>
              </a:lnSpc>
              <a:spcBef>
                <a:spcPts val="0"/>
              </a:spcBef>
              <a:spcAft>
                <a:spcPts val="0"/>
              </a:spcAft>
              <a:buClr>
                <a:srgbClr val="000000"/>
              </a:buClr>
              <a:buSzPts val="3499"/>
              <a:buFont typeface="Arial"/>
              <a:buChar char="•"/>
            </a:pPr>
            <a:r>
              <a:rPr lang="en-US" sz="3200" b="1" dirty="0">
                <a:latin typeface="Nunito"/>
                <a:sym typeface="Nunito"/>
              </a:rPr>
              <a:t>Algorithms</a:t>
            </a:r>
            <a:endParaRPr sz="3200" dirty="0"/>
          </a:p>
          <a:p>
            <a:pPr marL="777237" marR="0" lvl="1" indent="-382268" algn="l" rtl="0">
              <a:lnSpc>
                <a:spcPct val="140011"/>
              </a:lnSpc>
              <a:spcBef>
                <a:spcPts val="0"/>
              </a:spcBef>
              <a:spcAft>
                <a:spcPts val="0"/>
              </a:spcAft>
              <a:buClr>
                <a:srgbClr val="000000"/>
              </a:buClr>
              <a:buSzPts val="3499"/>
              <a:buFont typeface="Arial"/>
              <a:buChar char="•"/>
            </a:pPr>
            <a:r>
              <a:rPr lang="en-US" sz="3200" b="1" dirty="0">
                <a:latin typeface="Nunito"/>
                <a:ea typeface="Nunito"/>
                <a:cs typeface="Nunito"/>
                <a:sym typeface="Nunito"/>
              </a:rPr>
              <a:t>Applications</a:t>
            </a:r>
          </a:p>
          <a:p>
            <a:pPr marL="394969" marR="0" lvl="1" algn="l" rtl="0">
              <a:lnSpc>
                <a:spcPct val="140011"/>
              </a:lnSpc>
              <a:spcBef>
                <a:spcPts val="0"/>
              </a:spcBef>
              <a:spcAft>
                <a:spcPts val="0"/>
              </a:spcAft>
              <a:buClr>
                <a:srgbClr val="000000"/>
              </a:buClr>
              <a:buSzPts val="3499"/>
            </a:pPr>
            <a:endParaRPr lang="en-US" sz="3200" b="1" dirty="0">
              <a:latin typeface="Nunito"/>
              <a:ea typeface="Nunito"/>
              <a:cs typeface="Nunito"/>
              <a:sym typeface="Nunito"/>
            </a:endParaRPr>
          </a:p>
          <a:p>
            <a:pPr marL="777237" marR="0" lvl="1" indent="-382268" algn="l" rtl="0">
              <a:lnSpc>
                <a:spcPct val="140011"/>
              </a:lnSpc>
              <a:spcBef>
                <a:spcPts val="0"/>
              </a:spcBef>
              <a:spcAft>
                <a:spcPts val="0"/>
              </a:spcAft>
              <a:buSzPts val="3499"/>
              <a:buFont typeface="Nunito"/>
              <a:buChar char="•"/>
            </a:pPr>
            <a:endParaRPr lang="en-US" sz="3200" b="1" dirty="0">
              <a:latin typeface="Nunito"/>
              <a:ea typeface="Nunito"/>
              <a:cs typeface="Nunito"/>
              <a:sym typeface="Nunito"/>
            </a:endParaRPr>
          </a:p>
          <a:p>
            <a:pPr marL="777237" marR="0" lvl="1" indent="-382268" algn="l" rtl="0">
              <a:lnSpc>
                <a:spcPct val="140011"/>
              </a:lnSpc>
              <a:spcBef>
                <a:spcPts val="0"/>
              </a:spcBef>
              <a:spcAft>
                <a:spcPts val="0"/>
              </a:spcAft>
              <a:buSzPts val="3499"/>
              <a:buFont typeface="Nunito"/>
              <a:buChar char="•"/>
            </a:pPr>
            <a:endParaRPr lang="en-US" sz="3200" b="1" dirty="0">
              <a:latin typeface="Nunito"/>
              <a:ea typeface="Nunito"/>
              <a:cs typeface="Nunito"/>
              <a:sym typeface="Nunito"/>
            </a:endParaRPr>
          </a:p>
          <a:p>
            <a:pPr marL="394969" marR="0" lvl="1" algn="l" rtl="0">
              <a:lnSpc>
                <a:spcPct val="140011"/>
              </a:lnSpc>
              <a:spcBef>
                <a:spcPts val="0"/>
              </a:spcBef>
              <a:spcAft>
                <a:spcPts val="0"/>
              </a:spcAft>
              <a:buSzPts val="3499"/>
            </a:pPr>
            <a:endParaRPr lang="en-US" sz="3200" b="1" dirty="0">
              <a:latin typeface="Nunito"/>
              <a:ea typeface="Nunito"/>
              <a:cs typeface="Nunito"/>
              <a:sym typeface="Nunito"/>
            </a:endParaRPr>
          </a:p>
          <a:p>
            <a:pPr marL="777237" marR="0" lvl="1" indent="-382268" algn="l" rtl="0">
              <a:lnSpc>
                <a:spcPct val="140011"/>
              </a:lnSpc>
              <a:spcBef>
                <a:spcPts val="0"/>
              </a:spcBef>
              <a:spcAft>
                <a:spcPts val="0"/>
              </a:spcAft>
              <a:buSzPts val="3499"/>
              <a:buFont typeface="Nunito"/>
              <a:buChar char="•"/>
            </a:pPr>
            <a:r>
              <a:rPr lang="en-US" sz="3200" b="1" dirty="0">
                <a:latin typeface="Nunito"/>
                <a:ea typeface="Nunito"/>
                <a:cs typeface="Nunito"/>
                <a:sym typeface="Nunito"/>
              </a:rPr>
              <a:t>Work Plan</a:t>
            </a:r>
          </a:p>
          <a:p>
            <a:pPr marL="777237" marR="0" lvl="1" indent="-382268" algn="l" rtl="0">
              <a:lnSpc>
                <a:spcPct val="140011"/>
              </a:lnSpc>
              <a:spcBef>
                <a:spcPts val="0"/>
              </a:spcBef>
              <a:spcAft>
                <a:spcPts val="0"/>
              </a:spcAft>
              <a:buSzPts val="3499"/>
              <a:buFont typeface="Nunito"/>
              <a:buChar char="•"/>
            </a:pPr>
            <a:r>
              <a:rPr lang="en-US" sz="3200" b="1" dirty="0">
                <a:latin typeface="Nunito"/>
                <a:ea typeface="Nunito"/>
                <a:cs typeface="Nunito"/>
                <a:sym typeface="Nunito"/>
              </a:rPr>
              <a:t>Results</a:t>
            </a:r>
          </a:p>
          <a:p>
            <a:pPr marL="777237" marR="0" lvl="1" indent="-382268" algn="l" rtl="0">
              <a:lnSpc>
                <a:spcPct val="140011"/>
              </a:lnSpc>
              <a:spcBef>
                <a:spcPts val="0"/>
              </a:spcBef>
              <a:spcAft>
                <a:spcPts val="0"/>
              </a:spcAft>
              <a:buSzPts val="3499"/>
              <a:buFont typeface="Nunito"/>
              <a:buChar char="•"/>
            </a:pPr>
            <a:r>
              <a:rPr lang="en-US" sz="3200" b="1" dirty="0">
                <a:latin typeface="Nunito"/>
                <a:ea typeface="Nunito"/>
                <a:cs typeface="Nunito"/>
                <a:sym typeface="Nunito"/>
              </a:rPr>
              <a:t>Future Scope</a:t>
            </a:r>
          </a:p>
          <a:p>
            <a:pPr marL="777237" marR="0" lvl="1" indent="-382268" algn="l" rtl="0">
              <a:lnSpc>
                <a:spcPct val="140011"/>
              </a:lnSpc>
              <a:spcBef>
                <a:spcPts val="0"/>
              </a:spcBef>
              <a:spcAft>
                <a:spcPts val="0"/>
              </a:spcAft>
              <a:buSzPts val="3499"/>
              <a:buFont typeface="Nunito"/>
              <a:buChar char="•"/>
            </a:pPr>
            <a:r>
              <a:rPr lang="en-US" sz="3200" b="1" dirty="0">
                <a:latin typeface="Nunito"/>
                <a:ea typeface="Nunito"/>
                <a:cs typeface="Nunito"/>
                <a:sym typeface="Nunito"/>
              </a:rPr>
              <a:t>References</a:t>
            </a:r>
          </a:p>
          <a:p>
            <a:pPr marL="777238" marR="0" lvl="1" indent="-382269" algn="l" rtl="0">
              <a:lnSpc>
                <a:spcPct val="140011"/>
              </a:lnSpc>
              <a:spcBef>
                <a:spcPts val="0"/>
              </a:spcBef>
              <a:spcAft>
                <a:spcPts val="0"/>
              </a:spcAft>
              <a:buSzPts val="3499"/>
              <a:buFont typeface="Nunito"/>
              <a:buChar char="•"/>
            </a:pPr>
            <a:r>
              <a:rPr lang="en-US" sz="3200" b="1" dirty="0">
                <a:latin typeface="Nunito"/>
                <a:ea typeface="Nunito"/>
                <a:cs typeface="Nunito"/>
                <a:sym typeface="Nunito"/>
              </a:rPr>
              <a:t>Conclusion</a:t>
            </a:r>
          </a:p>
        </p:txBody>
      </p:sp>
      <p:sp>
        <p:nvSpPr>
          <p:cNvPr id="110" name="Google Shape;110;p2"/>
          <p:cNvSpPr/>
          <p:nvPr/>
        </p:nvSpPr>
        <p:spPr>
          <a:xfrm>
            <a:off x="-1109662" y="-911620"/>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111" name="Google Shape;111;p2"/>
          <p:cNvSpPr/>
          <p:nvPr/>
        </p:nvSpPr>
        <p:spPr>
          <a:xfrm>
            <a:off x="14386010" y="9237573"/>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5">
              <a:alphaModFix/>
            </a:blip>
            <a:stretch>
              <a:fillRect/>
            </a:stretch>
          </a:blipFill>
          <a:ln>
            <a:noFill/>
          </a:ln>
        </p:spPr>
        <p:txBody>
          <a:bodyPr/>
          <a:lstStyle/>
          <a:p>
            <a:endParaRPr lang="en-IN"/>
          </a:p>
        </p:txBody>
      </p:sp>
      <p:sp>
        <p:nvSpPr>
          <p:cNvPr id="112" name="Google Shape;112;p2"/>
          <p:cNvSpPr/>
          <p:nvPr/>
        </p:nvSpPr>
        <p:spPr>
          <a:xfrm>
            <a:off x="12552168" y="2165411"/>
            <a:ext cx="5229066" cy="11412644"/>
          </a:xfrm>
          <a:custGeom>
            <a:avLst/>
            <a:gdLst/>
            <a:ahLst/>
            <a:cxnLst/>
            <a:rect l="l" t="t" r="r" b="b"/>
            <a:pathLst>
              <a:path w="5229066" h="11412644" extrusionOk="0">
                <a:moveTo>
                  <a:pt x="0" y="0"/>
                </a:moveTo>
                <a:lnTo>
                  <a:pt x="5229066" y="0"/>
                </a:lnTo>
                <a:lnTo>
                  <a:pt x="5229066" y="11412643"/>
                </a:lnTo>
                <a:lnTo>
                  <a:pt x="0" y="11412643"/>
                </a:lnTo>
                <a:lnTo>
                  <a:pt x="0" y="0"/>
                </a:lnTo>
                <a:close/>
              </a:path>
            </a:pathLst>
          </a:custGeom>
          <a:blipFill rotWithShape="1">
            <a:blip r:embed="rId6">
              <a:alphaModFix/>
            </a:blip>
            <a:stretch>
              <a:fillRect/>
            </a:stretch>
          </a:blipFill>
          <a:ln>
            <a:noFill/>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pSp>
        <p:nvGrpSpPr>
          <p:cNvPr id="117" name="Google Shape;117;p3"/>
          <p:cNvGrpSpPr/>
          <p:nvPr/>
        </p:nvGrpSpPr>
        <p:grpSpPr>
          <a:xfrm>
            <a:off x="-1109662" y="0"/>
            <a:ext cx="20507325" cy="10287000"/>
            <a:chOff x="0" y="0"/>
            <a:chExt cx="27343100" cy="13716000"/>
          </a:xfrm>
        </p:grpSpPr>
        <p:sp>
          <p:nvSpPr>
            <p:cNvPr id="118" name="Google Shape;118;p3"/>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119" name="Google Shape;119;p3"/>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120" name="Google Shape;120;p3"/>
          <p:cNvGrpSpPr/>
          <p:nvPr/>
        </p:nvGrpSpPr>
        <p:grpSpPr>
          <a:xfrm>
            <a:off x="1028700" y="1288950"/>
            <a:ext cx="16230707" cy="7588708"/>
            <a:chOff x="0" y="-57150"/>
            <a:chExt cx="4274726" cy="1998659"/>
          </a:xfrm>
        </p:grpSpPr>
        <p:sp>
          <p:nvSpPr>
            <p:cNvPr id="121" name="Google Shape;121;p3"/>
            <p:cNvSpPr/>
            <p:nvPr/>
          </p:nvSpPr>
          <p:spPr>
            <a:xfrm>
              <a:off x="0" y="0"/>
              <a:ext cx="4274726" cy="1941509"/>
            </a:xfrm>
            <a:custGeom>
              <a:avLst/>
              <a:gdLst/>
              <a:ahLst/>
              <a:cxnLst/>
              <a:rect l="l" t="t" r="r" b="b"/>
              <a:pathLst>
                <a:path w="4274726" h="1941509" extrusionOk="0">
                  <a:moveTo>
                    <a:pt x="0" y="0"/>
                  </a:moveTo>
                  <a:lnTo>
                    <a:pt x="4274726" y="0"/>
                  </a:lnTo>
                  <a:lnTo>
                    <a:pt x="4274726" y="1941509"/>
                  </a:lnTo>
                  <a:lnTo>
                    <a:pt x="0" y="1941509"/>
                  </a:lnTo>
                  <a:close/>
                </a:path>
              </a:pathLst>
            </a:custGeom>
            <a:solidFill>
              <a:srgbClr val="F1F2F2"/>
            </a:solidFill>
            <a:ln>
              <a:noFill/>
            </a:ln>
          </p:spPr>
          <p:txBody>
            <a:bodyPr/>
            <a:lstStyle/>
            <a:p>
              <a:endParaRPr lang="en-IN"/>
            </a:p>
          </p:txBody>
        </p:sp>
        <p:sp>
          <p:nvSpPr>
            <p:cNvPr id="122" name="Google Shape;122;p3"/>
            <p:cNvSpPr txBox="1"/>
            <p:nvPr/>
          </p:nvSpPr>
          <p:spPr>
            <a:xfrm>
              <a:off x="0" y="-57150"/>
              <a:ext cx="4274726" cy="199865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3"/>
          <p:cNvGrpSpPr/>
          <p:nvPr/>
        </p:nvGrpSpPr>
        <p:grpSpPr>
          <a:xfrm>
            <a:off x="4817701" y="423837"/>
            <a:ext cx="9185650" cy="1606820"/>
            <a:chOff x="0" y="-57150"/>
            <a:chExt cx="2419266" cy="423195"/>
          </a:xfrm>
        </p:grpSpPr>
        <p:sp>
          <p:nvSpPr>
            <p:cNvPr id="124" name="Google Shape;124;p3"/>
            <p:cNvSpPr/>
            <p:nvPr/>
          </p:nvSpPr>
          <p:spPr>
            <a:xfrm>
              <a:off x="0" y="0"/>
              <a:ext cx="2419266" cy="366045"/>
            </a:xfrm>
            <a:custGeom>
              <a:avLst/>
              <a:gdLst/>
              <a:ahLst/>
              <a:cxnLst/>
              <a:rect l="l" t="t" r="r" b="b"/>
              <a:pathLst>
                <a:path w="2419266" h="366045" extrusionOk="0">
                  <a:moveTo>
                    <a:pt x="0" y="0"/>
                  </a:moveTo>
                  <a:lnTo>
                    <a:pt x="2419266" y="0"/>
                  </a:lnTo>
                  <a:lnTo>
                    <a:pt x="2419266" y="366045"/>
                  </a:lnTo>
                  <a:lnTo>
                    <a:pt x="0" y="366045"/>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25" name="Google Shape;125;p3"/>
            <p:cNvSpPr txBox="1"/>
            <p:nvPr/>
          </p:nvSpPr>
          <p:spPr>
            <a:xfrm>
              <a:off x="0" y="-57150"/>
              <a:ext cx="2419266" cy="42319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6" name="Google Shape;126;p3"/>
          <p:cNvSpPr txBox="1"/>
          <p:nvPr/>
        </p:nvSpPr>
        <p:spPr>
          <a:xfrm>
            <a:off x="4461219" y="933450"/>
            <a:ext cx="9898500" cy="738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800" b="1">
                <a:latin typeface="Fredoka"/>
                <a:ea typeface="Fredoka"/>
                <a:cs typeface="Fredoka"/>
                <a:sym typeface="Fredoka"/>
              </a:rPr>
              <a:t>ABSTRACT</a:t>
            </a:r>
            <a:endParaRPr/>
          </a:p>
        </p:txBody>
      </p:sp>
      <p:sp>
        <p:nvSpPr>
          <p:cNvPr id="127" name="Google Shape;127;p3"/>
          <p:cNvSpPr txBox="1"/>
          <p:nvPr/>
        </p:nvSpPr>
        <p:spPr>
          <a:xfrm>
            <a:off x="1547975" y="2677449"/>
            <a:ext cx="15081900" cy="6926700"/>
          </a:xfrm>
          <a:prstGeom prst="rect">
            <a:avLst/>
          </a:prstGeom>
          <a:noFill/>
          <a:ln>
            <a:noFill/>
          </a:ln>
        </p:spPr>
        <p:txBody>
          <a:bodyPr spcFirstLastPara="1" wrap="square" lIns="0" tIns="0" rIns="0" bIns="0" anchor="t" anchorCtr="0">
            <a:spAutoFit/>
          </a:bodyPr>
          <a:lstStyle/>
          <a:p>
            <a:pPr marL="647702" marR="0" lvl="1" indent="-323851" algn="just" rtl="0">
              <a:lnSpc>
                <a:spcPct val="140000"/>
              </a:lnSpc>
              <a:spcBef>
                <a:spcPts val="0"/>
              </a:spcBef>
              <a:spcAft>
                <a:spcPts val="0"/>
              </a:spcAft>
              <a:buClr>
                <a:srgbClr val="000000"/>
              </a:buClr>
              <a:buSzPts val="3000"/>
              <a:buFont typeface="Arial"/>
              <a:buChar char="•"/>
            </a:pPr>
            <a:r>
              <a:rPr lang="en-US" sz="3000">
                <a:latin typeface="Nunito"/>
                <a:ea typeface="Nunito"/>
                <a:cs typeface="Nunito"/>
                <a:sym typeface="Nunito"/>
              </a:rPr>
              <a:t>Phishing is a kind of worldwide spread cybercrime that uses disguised websites to trick users into downloading malware or providing personally sensitive information to attackers.</a:t>
            </a:r>
            <a:endParaRPr/>
          </a:p>
          <a:p>
            <a:pPr marL="647702" marR="0" lvl="1" indent="-323851" algn="just" rtl="0">
              <a:lnSpc>
                <a:spcPct val="140000"/>
              </a:lnSpc>
              <a:spcBef>
                <a:spcPts val="0"/>
              </a:spcBef>
              <a:spcAft>
                <a:spcPts val="0"/>
              </a:spcAft>
              <a:buClr>
                <a:srgbClr val="000000"/>
              </a:buClr>
              <a:buSzPts val="3000"/>
              <a:buFont typeface="Arial"/>
              <a:buChar char="•"/>
            </a:pPr>
            <a:r>
              <a:rPr lang="en-US" sz="3000">
                <a:latin typeface="Nunito"/>
                <a:ea typeface="Nunito"/>
                <a:cs typeface="Nunito"/>
                <a:sym typeface="Nunito"/>
              </a:rPr>
              <a:t>With the rapid development of artificial intelligence, more and more researchers in the cybersecurity field utilize machine learning algorithms to classify phishing websites.</a:t>
            </a:r>
            <a:endParaRPr sz="3000">
              <a:latin typeface="Nunito"/>
              <a:ea typeface="Nunito"/>
              <a:cs typeface="Nunito"/>
              <a:sym typeface="Nunito"/>
            </a:endParaRPr>
          </a:p>
          <a:p>
            <a:pPr marL="647702" marR="0" lvl="1" indent="-323851" algn="just" rtl="0">
              <a:lnSpc>
                <a:spcPct val="140000"/>
              </a:lnSpc>
              <a:spcBef>
                <a:spcPts val="0"/>
              </a:spcBef>
              <a:spcAft>
                <a:spcPts val="0"/>
              </a:spcAft>
              <a:buSzPts val="3000"/>
              <a:buFont typeface="Nunito"/>
              <a:buChar char="•"/>
            </a:pPr>
            <a:r>
              <a:rPr lang="en-US" sz="3000">
                <a:latin typeface="Nunito"/>
                <a:ea typeface="Nunito"/>
                <a:cs typeface="Nunito"/>
                <a:sym typeface="Nunito"/>
              </a:rPr>
              <a:t>This project proposes a comprehensive framework for detecting phishing websites using machine learning techniques. It involves data collection, preprocessing, feature extraction, model selection, training, evaluation, and deployment. </a:t>
            </a:r>
            <a:endParaRPr sz="3000">
              <a:latin typeface="Nunito"/>
              <a:ea typeface="Nunito"/>
              <a:cs typeface="Nunito"/>
              <a:sym typeface="Nunito"/>
            </a:endParaRPr>
          </a:p>
          <a:p>
            <a:pPr marL="647702" marR="0" lvl="1" indent="-323851" algn="just" rtl="0">
              <a:lnSpc>
                <a:spcPct val="140000"/>
              </a:lnSpc>
              <a:spcBef>
                <a:spcPts val="0"/>
              </a:spcBef>
              <a:spcAft>
                <a:spcPts val="0"/>
              </a:spcAft>
              <a:buSzPts val="3000"/>
              <a:buFont typeface="Nunito"/>
              <a:buChar char="•"/>
            </a:pPr>
            <a:r>
              <a:rPr lang="en-US" sz="3000">
                <a:latin typeface="Nunito"/>
                <a:ea typeface="Nunito"/>
                <a:cs typeface="Nunito"/>
                <a:sym typeface="Nunito"/>
              </a:rPr>
              <a:t>Relevant features are extracted from URLs, and various machine learning models are explored for classification, with hyperparameter tuning for optimization</a:t>
            </a:r>
            <a:endParaRPr sz="3000">
              <a:latin typeface="Nunito"/>
              <a:ea typeface="Nunito"/>
              <a:cs typeface="Nunito"/>
              <a:sym typeface="Nunito"/>
            </a:endParaRPr>
          </a:p>
        </p:txBody>
      </p:sp>
      <p:sp>
        <p:nvSpPr>
          <p:cNvPr id="128" name="Google Shape;128;p3"/>
          <p:cNvSpPr/>
          <p:nvPr/>
        </p:nvSpPr>
        <p:spPr>
          <a:xfrm>
            <a:off x="-1109662" y="-911620"/>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129" name="Google Shape;129;p3"/>
          <p:cNvSpPr/>
          <p:nvPr/>
        </p:nvSpPr>
        <p:spPr>
          <a:xfrm>
            <a:off x="15316914" y="9119932"/>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5">
              <a:alphaModFix/>
            </a:blip>
            <a:stretch>
              <a:fillRect/>
            </a:stretch>
          </a:blipFill>
          <a:ln>
            <a:no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grpSp>
        <p:nvGrpSpPr>
          <p:cNvPr id="134" name="Google Shape;134;p8"/>
          <p:cNvGrpSpPr/>
          <p:nvPr/>
        </p:nvGrpSpPr>
        <p:grpSpPr>
          <a:xfrm>
            <a:off x="-1109662" y="0"/>
            <a:ext cx="20507325" cy="10287000"/>
            <a:chOff x="0" y="0"/>
            <a:chExt cx="27343100" cy="13716000"/>
          </a:xfrm>
        </p:grpSpPr>
        <p:sp>
          <p:nvSpPr>
            <p:cNvPr id="135" name="Google Shape;135;p8"/>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136" name="Google Shape;136;p8"/>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137" name="Google Shape;137;p8"/>
          <p:cNvGrpSpPr/>
          <p:nvPr/>
        </p:nvGrpSpPr>
        <p:grpSpPr>
          <a:xfrm>
            <a:off x="5139544" y="414857"/>
            <a:ext cx="7751733" cy="1488012"/>
            <a:chOff x="0" y="-38100"/>
            <a:chExt cx="2041609" cy="391904"/>
          </a:xfrm>
        </p:grpSpPr>
        <p:sp>
          <p:nvSpPr>
            <p:cNvPr id="138" name="Google Shape;138;p8"/>
            <p:cNvSpPr/>
            <p:nvPr/>
          </p:nvSpPr>
          <p:spPr>
            <a:xfrm>
              <a:off x="0" y="0"/>
              <a:ext cx="2041609" cy="353804"/>
            </a:xfrm>
            <a:custGeom>
              <a:avLst/>
              <a:gdLst/>
              <a:ahLst/>
              <a:cxnLst/>
              <a:rect l="l" t="t" r="r" b="b"/>
              <a:pathLst>
                <a:path w="2041609" h="353804" extrusionOk="0">
                  <a:moveTo>
                    <a:pt x="0" y="0"/>
                  </a:moveTo>
                  <a:lnTo>
                    <a:pt x="2041609" y="0"/>
                  </a:lnTo>
                  <a:lnTo>
                    <a:pt x="2041609" y="353804"/>
                  </a:lnTo>
                  <a:lnTo>
                    <a:pt x="0" y="353804"/>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39" name="Google Shape;139;p8"/>
            <p:cNvSpPr txBox="1"/>
            <p:nvPr/>
          </p:nvSpPr>
          <p:spPr>
            <a:xfrm>
              <a:off x="0" y="-38100"/>
              <a:ext cx="2041609" cy="39190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0" name="Google Shape;140;p8"/>
          <p:cNvSpPr/>
          <p:nvPr/>
        </p:nvSpPr>
        <p:spPr>
          <a:xfrm>
            <a:off x="-1109662" y="-911620"/>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141" name="Google Shape;141;p8"/>
          <p:cNvSpPr/>
          <p:nvPr/>
        </p:nvSpPr>
        <p:spPr>
          <a:xfrm flipH="1">
            <a:off x="15561698" y="480251"/>
            <a:ext cx="3395204" cy="1049427"/>
          </a:xfrm>
          <a:custGeom>
            <a:avLst/>
            <a:gdLst/>
            <a:ahLst/>
            <a:cxnLst/>
            <a:rect l="l" t="t" r="r" b="b"/>
            <a:pathLst>
              <a:path w="3395204" h="1049427" extrusionOk="0">
                <a:moveTo>
                  <a:pt x="3395204" y="0"/>
                </a:moveTo>
                <a:lnTo>
                  <a:pt x="0" y="0"/>
                </a:lnTo>
                <a:lnTo>
                  <a:pt x="0" y="1049427"/>
                </a:lnTo>
                <a:lnTo>
                  <a:pt x="3395204" y="1049427"/>
                </a:lnTo>
                <a:lnTo>
                  <a:pt x="3395204" y="0"/>
                </a:lnTo>
                <a:close/>
              </a:path>
            </a:pathLst>
          </a:custGeom>
          <a:blipFill rotWithShape="1">
            <a:blip r:embed="rId5">
              <a:alphaModFix/>
            </a:blip>
            <a:stretch>
              <a:fillRect/>
            </a:stretch>
          </a:blipFill>
          <a:ln>
            <a:noFill/>
          </a:ln>
        </p:spPr>
        <p:txBody>
          <a:bodyPr/>
          <a:lstStyle/>
          <a:p>
            <a:endParaRPr lang="en-IN"/>
          </a:p>
        </p:txBody>
      </p:sp>
      <p:graphicFrame>
        <p:nvGraphicFramePr>
          <p:cNvPr id="142" name="Google Shape;142;p8"/>
          <p:cNvGraphicFramePr/>
          <p:nvPr/>
        </p:nvGraphicFramePr>
        <p:xfrm>
          <a:off x="1654989" y="2276385"/>
          <a:ext cx="14978000" cy="6191250"/>
        </p:xfrm>
        <a:graphic>
          <a:graphicData uri="http://schemas.openxmlformats.org/drawingml/2006/table">
            <a:tbl>
              <a:tblPr>
                <a:noFill/>
                <a:tableStyleId>{0868FE13-BAC4-4048-AD5E-5C70845600BE}</a:tableStyleId>
              </a:tblPr>
              <a:tblGrid>
                <a:gridCol w="4520200">
                  <a:extLst>
                    <a:ext uri="{9D8B030D-6E8A-4147-A177-3AD203B41FA5}">
                      <a16:colId xmlns:a16="http://schemas.microsoft.com/office/drawing/2014/main" val="20000"/>
                    </a:ext>
                  </a:extLst>
                </a:gridCol>
                <a:gridCol w="3647550">
                  <a:extLst>
                    <a:ext uri="{9D8B030D-6E8A-4147-A177-3AD203B41FA5}">
                      <a16:colId xmlns:a16="http://schemas.microsoft.com/office/drawing/2014/main" val="20001"/>
                    </a:ext>
                  </a:extLst>
                </a:gridCol>
                <a:gridCol w="2671625">
                  <a:extLst>
                    <a:ext uri="{9D8B030D-6E8A-4147-A177-3AD203B41FA5}">
                      <a16:colId xmlns:a16="http://schemas.microsoft.com/office/drawing/2014/main" val="20002"/>
                    </a:ext>
                  </a:extLst>
                </a:gridCol>
                <a:gridCol w="4138625">
                  <a:extLst>
                    <a:ext uri="{9D8B030D-6E8A-4147-A177-3AD203B41FA5}">
                      <a16:colId xmlns:a16="http://schemas.microsoft.com/office/drawing/2014/main" val="20003"/>
                    </a:ext>
                  </a:extLst>
                </a:gridCol>
              </a:tblGrid>
              <a:tr h="1418425">
                <a:tc>
                  <a:txBody>
                    <a:bodyPr/>
                    <a:lstStyle/>
                    <a:p>
                      <a:pPr marL="0" marR="0" lvl="0" indent="0" algn="ctr" rtl="0">
                        <a:lnSpc>
                          <a:spcPct val="140010"/>
                        </a:lnSpc>
                        <a:spcBef>
                          <a:spcPts val="0"/>
                        </a:spcBef>
                        <a:spcAft>
                          <a:spcPts val="0"/>
                        </a:spcAft>
                        <a:buNone/>
                      </a:pPr>
                      <a:r>
                        <a:rPr lang="en-US" sz="3999" b="1" u="none" strike="noStrike" cap="none">
                          <a:solidFill>
                            <a:srgbClr val="000000"/>
                          </a:solidFill>
                          <a:latin typeface="Poppins"/>
                          <a:ea typeface="Poppins"/>
                          <a:cs typeface="Poppins"/>
                          <a:sym typeface="Poppins"/>
                        </a:rPr>
                        <a:t>Project Title</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10"/>
                        </a:lnSpc>
                        <a:spcBef>
                          <a:spcPts val="0"/>
                        </a:spcBef>
                        <a:spcAft>
                          <a:spcPts val="0"/>
                        </a:spcAft>
                        <a:buNone/>
                      </a:pPr>
                      <a:r>
                        <a:rPr lang="en-US" sz="3999" b="1" u="none" strike="noStrike" cap="none">
                          <a:solidFill>
                            <a:srgbClr val="000000"/>
                          </a:solidFill>
                          <a:latin typeface="Poppins"/>
                          <a:ea typeface="Poppins"/>
                          <a:cs typeface="Poppins"/>
                          <a:sym typeface="Poppins"/>
                        </a:rPr>
                        <a:t>Author</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10"/>
                        </a:lnSpc>
                        <a:spcBef>
                          <a:spcPts val="0"/>
                        </a:spcBef>
                        <a:spcAft>
                          <a:spcPts val="0"/>
                        </a:spcAft>
                        <a:buNone/>
                      </a:pPr>
                      <a:r>
                        <a:rPr lang="en-US" sz="3999" b="1" u="none" strike="noStrike" cap="none">
                          <a:solidFill>
                            <a:srgbClr val="000000"/>
                          </a:solidFill>
                          <a:latin typeface="Poppins"/>
                          <a:ea typeface="Poppins"/>
                          <a:cs typeface="Poppins"/>
                          <a:sym typeface="Poppins"/>
                        </a:rPr>
                        <a:t>year</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10"/>
                        </a:lnSpc>
                        <a:spcBef>
                          <a:spcPts val="0"/>
                        </a:spcBef>
                        <a:spcAft>
                          <a:spcPts val="0"/>
                        </a:spcAft>
                        <a:buNone/>
                      </a:pPr>
                      <a:r>
                        <a:rPr lang="en-US" sz="3999" b="1" u="none" strike="noStrike" cap="none">
                          <a:solidFill>
                            <a:srgbClr val="000000"/>
                          </a:solidFill>
                          <a:latin typeface="Poppins"/>
                          <a:ea typeface="Poppins"/>
                          <a:cs typeface="Poppins"/>
                          <a:sym typeface="Poppins"/>
                        </a:rPr>
                        <a:t>Techniques</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629275">
                <a:tc>
                  <a:txBody>
                    <a:bodyPr/>
                    <a:lstStyle/>
                    <a:p>
                      <a:pPr marL="0" marR="0" lvl="0" indent="0" algn="ctr" rtl="0">
                        <a:lnSpc>
                          <a:spcPct val="140020"/>
                        </a:lnSpc>
                        <a:spcBef>
                          <a:spcPts val="0"/>
                        </a:spcBef>
                        <a:spcAft>
                          <a:spcPts val="0"/>
                        </a:spcAft>
                        <a:buNone/>
                      </a:pPr>
                      <a:r>
                        <a:rPr lang="en-US" sz="1999" u="none" strike="noStrike" cap="none">
                          <a:solidFill>
                            <a:srgbClr val="000000"/>
                          </a:solidFill>
                          <a:latin typeface="Poppins"/>
                          <a:ea typeface="Poppins"/>
                          <a:cs typeface="Poppins"/>
                          <a:sym typeface="Poppins"/>
                        </a:rPr>
                        <a:t>Phishing Website Detection using Machine Learning Algorithms</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0"/>
                        </a:lnSpc>
                        <a:spcBef>
                          <a:spcPts val="0"/>
                        </a:spcBef>
                        <a:spcAft>
                          <a:spcPts val="0"/>
                        </a:spcAft>
                        <a:buNone/>
                      </a:pPr>
                      <a:r>
                        <a:rPr lang="en-US" sz="1999" u="none" strike="noStrike" cap="none">
                          <a:solidFill>
                            <a:srgbClr val="000000"/>
                          </a:solidFill>
                          <a:latin typeface="Poppins"/>
                          <a:ea typeface="Poppins"/>
                          <a:cs typeface="Poppins"/>
                          <a:sym typeface="Poppins"/>
                        </a:rPr>
                        <a:t>Rishikesh Mahajan,</a:t>
                      </a:r>
                      <a:endParaRPr sz="1100" u="none" strike="noStrike" cap="none"/>
                    </a:p>
                    <a:p>
                      <a:pPr marL="0" marR="0" lvl="0" indent="0" algn="ctr" rtl="0">
                        <a:lnSpc>
                          <a:spcPct val="140020"/>
                        </a:lnSpc>
                        <a:spcBef>
                          <a:spcPts val="0"/>
                        </a:spcBef>
                        <a:spcAft>
                          <a:spcPts val="0"/>
                        </a:spcAft>
                        <a:buNone/>
                      </a:pPr>
                      <a:r>
                        <a:rPr lang="en-US" sz="1999" u="none" strike="noStrike" cap="none">
                          <a:solidFill>
                            <a:srgbClr val="000000"/>
                          </a:solidFill>
                          <a:latin typeface="Poppins"/>
                          <a:ea typeface="Poppins"/>
                          <a:cs typeface="Poppins"/>
                          <a:sym typeface="Poppins"/>
                        </a:rPr>
                        <a:t> Irfan Siddavatam</a:t>
                      </a:r>
                      <a:endParaRPr/>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0"/>
                        </a:lnSpc>
                        <a:spcBef>
                          <a:spcPts val="0"/>
                        </a:spcBef>
                        <a:spcAft>
                          <a:spcPts val="0"/>
                        </a:spcAft>
                        <a:buNone/>
                      </a:pPr>
                      <a:r>
                        <a:rPr lang="en-US" sz="1999" u="none" strike="noStrike" cap="none">
                          <a:solidFill>
                            <a:srgbClr val="000000"/>
                          </a:solidFill>
                          <a:latin typeface="Poppins"/>
                          <a:ea typeface="Poppins"/>
                          <a:cs typeface="Poppins"/>
                          <a:sym typeface="Poppins"/>
                        </a:rPr>
                        <a:t>2018</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Decision Tree, Random Forest, Support Vector Machine</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571775">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Phishing Detection by Using Classification Machine Learning Techniques</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Vahid Shahrivari, Mohammad Mahdi Darabi, Mohammad Izadi</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2021</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Logisitc Regression, K Nearest </a:t>
                      </a:r>
                      <a:r>
                        <a:rPr lang="en-US" sz="1899">
                          <a:latin typeface="Poppins"/>
                          <a:ea typeface="Poppins"/>
                          <a:cs typeface="Poppins"/>
                          <a:sym typeface="Poppins"/>
                        </a:rPr>
                        <a:t>Neighbours</a:t>
                      </a:r>
                      <a:r>
                        <a:rPr lang="en-US" sz="1899" u="none" strike="noStrike" cap="none">
                          <a:solidFill>
                            <a:srgbClr val="000000"/>
                          </a:solidFill>
                          <a:latin typeface="Poppins"/>
                          <a:ea typeface="Poppins"/>
                          <a:cs typeface="Poppins"/>
                          <a:sym typeface="Poppins"/>
                        </a:rPr>
                        <a:t>, Sup</a:t>
                      </a:r>
                      <a:r>
                        <a:rPr lang="en-US" sz="1899">
                          <a:latin typeface="Poppins"/>
                          <a:ea typeface="Poppins"/>
                          <a:cs typeface="Poppins"/>
                          <a:sym typeface="Poppins"/>
                        </a:rPr>
                        <a:t>p</a:t>
                      </a:r>
                      <a:r>
                        <a:rPr lang="en-US" sz="1899" u="none" strike="noStrike" cap="none">
                          <a:solidFill>
                            <a:srgbClr val="000000"/>
                          </a:solidFill>
                          <a:latin typeface="Poppins"/>
                          <a:ea typeface="Poppins"/>
                          <a:cs typeface="Poppins"/>
                          <a:sym typeface="Poppins"/>
                        </a:rPr>
                        <a:t>ort Vector</a:t>
                      </a:r>
                      <a:r>
                        <a:rPr lang="en-US" sz="1899">
                          <a:latin typeface="Poppins"/>
                          <a:ea typeface="Poppins"/>
                          <a:cs typeface="Poppins"/>
                          <a:sym typeface="Poppins"/>
                        </a:rPr>
                        <a:t> </a:t>
                      </a:r>
                      <a:r>
                        <a:rPr lang="en-US" sz="1899" u="none" strike="noStrike" cap="none">
                          <a:solidFill>
                            <a:srgbClr val="000000"/>
                          </a:solidFill>
                          <a:latin typeface="Poppins"/>
                          <a:ea typeface="Poppins"/>
                          <a:cs typeface="Poppins"/>
                          <a:sym typeface="Poppins"/>
                        </a:rPr>
                        <a:t>Machine</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571775">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Sufficiency of Ensemble Machine Learning Methods for Phishing Websites Detection </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YI WE, YUJI SEKIYA</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2022</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u="none" strike="noStrike" cap="none">
                          <a:solidFill>
                            <a:srgbClr val="000000"/>
                          </a:solidFill>
                          <a:latin typeface="Poppins"/>
                          <a:ea typeface="Poppins"/>
                          <a:cs typeface="Poppins"/>
                          <a:sym typeface="Poppins"/>
                        </a:rPr>
                        <a:t>K Means, SVM, Random Forest</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43" name="Google Shape;143;p8"/>
          <p:cNvSpPr txBox="1"/>
          <p:nvPr/>
        </p:nvSpPr>
        <p:spPr>
          <a:xfrm>
            <a:off x="4533237" y="747007"/>
            <a:ext cx="9221526"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000000"/>
                </a:solidFill>
                <a:latin typeface="Fredoka"/>
                <a:ea typeface="Fredoka"/>
                <a:cs typeface="Fredoka"/>
                <a:sym typeface="Fredoka"/>
              </a:rPr>
              <a:t>LITERATURE SURVEY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p:nvPr/>
        </p:nvSpPr>
        <p:spPr>
          <a:xfrm>
            <a:off x="9110662" y="0"/>
            <a:ext cx="10287000" cy="10287000"/>
          </a:xfrm>
          <a:custGeom>
            <a:avLst/>
            <a:gdLst/>
            <a:ahLst/>
            <a:cxnLst/>
            <a:rect l="l" t="t" r="r" b="b"/>
            <a:pathLst>
              <a:path w="10287000" h="10287000" extrusionOk="0">
                <a:moveTo>
                  <a:pt x="0" y="0"/>
                </a:moveTo>
                <a:lnTo>
                  <a:pt x="10287000" y="0"/>
                </a:lnTo>
                <a:lnTo>
                  <a:pt x="10287000" y="10287000"/>
                </a:lnTo>
                <a:lnTo>
                  <a:pt x="0" y="10287000"/>
                </a:lnTo>
                <a:lnTo>
                  <a:pt x="0" y="0"/>
                </a:lnTo>
                <a:close/>
              </a:path>
            </a:pathLst>
          </a:custGeom>
          <a:blipFill rotWithShape="1">
            <a:blip r:embed="rId3">
              <a:alphaModFix/>
            </a:blip>
            <a:stretch>
              <a:fillRect/>
            </a:stretch>
          </a:blipFill>
          <a:ln>
            <a:noFill/>
          </a:ln>
        </p:spPr>
        <p:txBody>
          <a:bodyPr/>
          <a:lstStyle/>
          <a:p>
            <a:endParaRPr lang="en-IN"/>
          </a:p>
        </p:txBody>
      </p:sp>
      <p:sp>
        <p:nvSpPr>
          <p:cNvPr id="149" name="Google Shape;149;p7"/>
          <p:cNvSpPr/>
          <p:nvPr/>
        </p:nvSpPr>
        <p:spPr>
          <a:xfrm rot="-1536545" flipH="1">
            <a:off x="16487867" y="-61854"/>
            <a:ext cx="2537840" cy="2297899"/>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grpSp>
        <p:nvGrpSpPr>
          <p:cNvPr id="150" name="Google Shape;150;p7"/>
          <p:cNvGrpSpPr/>
          <p:nvPr/>
        </p:nvGrpSpPr>
        <p:grpSpPr>
          <a:xfrm>
            <a:off x="1028700" y="1199577"/>
            <a:ext cx="16230600" cy="8263266"/>
            <a:chOff x="0" y="-57150"/>
            <a:chExt cx="4274726" cy="2176334"/>
          </a:xfrm>
        </p:grpSpPr>
        <p:sp>
          <p:nvSpPr>
            <p:cNvPr id="151" name="Google Shape;151;p7"/>
            <p:cNvSpPr/>
            <p:nvPr/>
          </p:nvSpPr>
          <p:spPr>
            <a:xfrm>
              <a:off x="0" y="0"/>
              <a:ext cx="4274726" cy="2119184"/>
            </a:xfrm>
            <a:custGeom>
              <a:avLst/>
              <a:gdLst/>
              <a:ahLst/>
              <a:cxnLst/>
              <a:rect l="l" t="t" r="r" b="b"/>
              <a:pathLst>
                <a:path w="4274726" h="2119184" extrusionOk="0">
                  <a:moveTo>
                    <a:pt x="0" y="0"/>
                  </a:moveTo>
                  <a:lnTo>
                    <a:pt x="4274726" y="0"/>
                  </a:lnTo>
                  <a:lnTo>
                    <a:pt x="4274726" y="2119184"/>
                  </a:lnTo>
                  <a:lnTo>
                    <a:pt x="0" y="2119184"/>
                  </a:lnTo>
                  <a:close/>
                </a:path>
              </a:pathLst>
            </a:custGeom>
            <a:solidFill>
              <a:srgbClr val="F1F2F2"/>
            </a:solidFill>
            <a:ln>
              <a:noFill/>
            </a:ln>
          </p:spPr>
          <p:txBody>
            <a:bodyPr/>
            <a:lstStyle/>
            <a:p>
              <a:endParaRPr lang="en-IN"/>
            </a:p>
          </p:txBody>
        </p:sp>
        <p:sp>
          <p:nvSpPr>
            <p:cNvPr id="152" name="Google Shape;152;p7"/>
            <p:cNvSpPr txBox="1"/>
            <p:nvPr/>
          </p:nvSpPr>
          <p:spPr>
            <a:xfrm>
              <a:off x="0" y="-57150"/>
              <a:ext cx="4274726" cy="217633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3" name="Google Shape;153;p7"/>
          <p:cNvGrpSpPr/>
          <p:nvPr/>
        </p:nvGrpSpPr>
        <p:grpSpPr>
          <a:xfrm>
            <a:off x="6012662" y="702302"/>
            <a:ext cx="5594256" cy="1266961"/>
            <a:chOff x="0" y="-38100"/>
            <a:chExt cx="1292364" cy="333683"/>
          </a:xfrm>
        </p:grpSpPr>
        <p:sp>
          <p:nvSpPr>
            <p:cNvPr id="154" name="Google Shape;154;p7"/>
            <p:cNvSpPr/>
            <p:nvPr/>
          </p:nvSpPr>
          <p:spPr>
            <a:xfrm>
              <a:off x="0" y="0"/>
              <a:ext cx="1292364" cy="295583"/>
            </a:xfrm>
            <a:custGeom>
              <a:avLst/>
              <a:gdLst/>
              <a:ahLst/>
              <a:cxnLst/>
              <a:rect l="l" t="t" r="r" b="b"/>
              <a:pathLst>
                <a:path w="1292364" h="295583" extrusionOk="0">
                  <a:moveTo>
                    <a:pt x="0" y="0"/>
                  </a:moveTo>
                  <a:lnTo>
                    <a:pt x="1292364" y="0"/>
                  </a:lnTo>
                  <a:lnTo>
                    <a:pt x="1292364" y="295583"/>
                  </a:lnTo>
                  <a:lnTo>
                    <a:pt x="0" y="295583"/>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55" name="Google Shape;155;p7"/>
            <p:cNvSpPr txBox="1"/>
            <p:nvPr/>
          </p:nvSpPr>
          <p:spPr>
            <a:xfrm>
              <a:off x="0" y="-38100"/>
              <a:ext cx="1292364" cy="33368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6" name="Google Shape;156;p7"/>
          <p:cNvSpPr txBox="1"/>
          <p:nvPr/>
        </p:nvSpPr>
        <p:spPr>
          <a:xfrm>
            <a:off x="5611242" y="923925"/>
            <a:ext cx="6345600" cy="769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a:latin typeface="Fredoka"/>
                <a:ea typeface="Fredoka"/>
                <a:cs typeface="Fredoka"/>
                <a:sym typeface="Fredoka"/>
              </a:rPr>
              <a:t>EXISTING SYSTEM</a:t>
            </a:r>
            <a:endParaRPr/>
          </a:p>
        </p:txBody>
      </p:sp>
      <p:sp>
        <p:nvSpPr>
          <p:cNvPr id="157" name="Google Shape;157;p7"/>
          <p:cNvSpPr/>
          <p:nvPr/>
        </p:nvSpPr>
        <p:spPr>
          <a:xfrm rot="9999176" flipH="1">
            <a:off x="-1316676" y="1716564"/>
            <a:ext cx="2537840" cy="2297899"/>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sp>
        <p:nvSpPr>
          <p:cNvPr id="158" name="Google Shape;158;p7"/>
          <p:cNvSpPr txBox="1"/>
          <p:nvPr/>
        </p:nvSpPr>
        <p:spPr>
          <a:xfrm>
            <a:off x="1343425" y="2137075"/>
            <a:ext cx="15915600" cy="856170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endParaRPr sz="2158">
              <a:solidFill>
                <a:schemeClr val="dk1"/>
              </a:solidFill>
              <a:latin typeface="Poppins"/>
              <a:ea typeface="Poppins"/>
              <a:cs typeface="Poppins"/>
              <a:sym typeface="Poppins"/>
            </a:endParaRPr>
          </a:p>
          <a:p>
            <a:pPr marL="457200" marR="0" lvl="0" indent="-397383" algn="l" rtl="0">
              <a:lnSpc>
                <a:spcPct val="140011"/>
              </a:lnSpc>
              <a:spcBef>
                <a:spcPts val="0"/>
              </a:spcBef>
              <a:spcAft>
                <a:spcPts val="0"/>
              </a:spcAft>
              <a:buClr>
                <a:schemeClr val="dk1"/>
              </a:buClr>
              <a:buSzPts val="2658"/>
              <a:buFont typeface="Poppins"/>
              <a:buChar char="●"/>
            </a:pPr>
            <a:r>
              <a:rPr lang="en-US" sz="2658">
                <a:solidFill>
                  <a:schemeClr val="dk1"/>
                </a:solidFill>
                <a:latin typeface="Poppins"/>
                <a:ea typeface="Poppins"/>
                <a:cs typeface="Poppins"/>
                <a:sym typeface="Poppins"/>
              </a:rPr>
              <a:t>Depend heavily on Random Forest and Decision Tree algorithms, need accuracy enhancement.</a:t>
            </a:r>
            <a:endParaRPr sz="2658">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r>
              <a:rPr lang="en-US" sz="2600" b="1">
                <a:solidFill>
                  <a:schemeClr val="dk1"/>
                </a:solidFill>
                <a:latin typeface="Poppins"/>
                <a:ea typeface="Poppins"/>
                <a:cs typeface="Poppins"/>
                <a:sym typeface="Poppins"/>
              </a:rPr>
              <a:t>Decision Trees:</a:t>
            </a:r>
            <a:endParaRPr sz="2600" b="1">
              <a:solidFill>
                <a:schemeClr val="dk1"/>
              </a:solidFill>
              <a:latin typeface="Poppins"/>
              <a:ea typeface="Poppins"/>
              <a:cs typeface="Poppins"/>
              <a:sym typeface="Poppins"/>
            </a:endParaRPr>
          </a:p>
          <a:p>
            <a:pPr marL="457200" lvl="0" indent="-393700" algn="l" rtl="0">
              <a:lnSpc>
                <a:spcPct val="115000"/>
              </a:lnSpc>
              <a:spcBef>
                <a:spcPts val="1200"/>
              </a:spcBef>
              <a:spcAft>
                <a:spcPts val="0"/>
              </a:spcAft>
              <a:buClr>
                <a:schemeClr val="dk1"/>
              </a:buClr>
              <a:buSzPts val="2600"/>
              <a:buChar char="●"/>
            </a:pPr>
            <a:r>
              <a:rPr lang="en-US" sz="2600" b="1">
                <a:solidFill>
                  <a:schemeClr val="dk1"/>
                </a:solidFill>
                <a:latin typeface="Poppins"/>
                <a:ea typeface="Poppins"/>
                <a:cs typeface="Poppins"/>
                <a:sym typeface="Poppins"/>
              </a:rPr>
              <a:t>Sensitive to Data Changes:</a:t>
            </a:r>
            <a:r>
              <a:rPr lang="en-US" sz="2600">
                <a:solidFill>
                  <a:schemeClr val="dk1"/>
                </a:solidFill>
                <a:latin typeface="Poppins"/>
                <a:ea typeface="Poppins"/>
                <a:cs typeface="Poppins"/>
                <a:sym typeface="Poppins"/>
              </a:rPr>
              <a:t> Small changes in training data can significantly alter tree structure and predictions, affecting robustness.</a:t>
            </a:r>
            <a:endParaRPr sz="2600">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r>
              <a:rPr lang="en-US" sz="2600" b="1">
                <a:solidFill>
                  <a:schemeClr val="dk1"/>
                </a:solidFill>
                <a:latin typeface="Poppins"/>
                <a:ea typeface="Poppins"/>
                <a:cs typeface="Poppins"/>
                <a:sym typeface="Poppins"/>
              </a:rPr>
              <a:t>Random Forest:</a:t>
            </a:r>
            <a:endParaRPr sz="2600" b="1">
              <a:solidFill>
                <a:schemeClr val="dk1"/>
              </a:solidFill>
              <a:latin typeface="Poppins"/>
              <a:ea typeface="Poppins"/>
              <a:cs typeface="Poppins"/>
              <a:sym typeface="Poppins"/>
            </a:endParaRPr>
          </a:p>
          <a:p>
            <a:pPr marL="457200" lvl="0" indent="-393700" algn="l" rtl="0">
              <a:lnSpc>
                <a:spcPct val="115000"/>
              </a:lnSpc>
              <a:spcBef>
                <a:spcPts val="1200"/>
              </a:spcBef>
              <a:spcAft>
                <a:spcPts val="0"/>
              </a:spcAft>
              <a:buClr>
                <a:schemeClr val="dk1"/>
              </a:buClr>
              <a:buSzPts val="2600"/>
              <a:buChar char="●"/>
            </a:pPr>
            <a:r>
              <a:rPr lang="en-US" sz="2600" b="1">
                <a:solidFill>
                  <a:schemeClr val="dk1"/>
                </a:solidFill>
                <a:latin typeface="Poppins"/>
                <a:ea typeface="Poppins"/>
                <a:cs typeface="Poppins"/>
                <a:sym typeface="Poppins"/>
              </a:rPr>
              <a:t>Imbalanced Data Handling:</a:t>
            </a:r>
            <a:r>
              <a:rPr lang="en-US" sz="2600">
                <a:solidFill>
                  <a:schemeClr val="dk1"/>
                </a:solidFill>
                <a:latin typeface="Poppins"/>
                <a:ea typeface="Poppins"/>
                <a:cs typeface="Poppins"/>
                <a:sym typeface="Poppins"/>
              </a:rPr>
              <a:t> May favor majority classes in imbalanced datasets, leading to biased predictions.</a:t>
            </a:r>
            <a:endParaRPr sz="2600">
              <a:solidFill>
                <a:schemeClr val="dk1"/>
              </a:solidFill>
              <a:latin typeface="Poppins"/>
              <a:ea typeface="Poppins"/>
              <a:cs typeface="Poppins"/>
              <a:sym typeface="Poppins"/>
            </a:endParaRPr>
          </a:p>
          <a:p>
            <a:pPr marL="457200" lvl="0" indent="-393700" algn="l" rtl="0">
              <a:lnSpc>
                <a:spcPct val="115000"/>
              </a:lnSpc>
              <a:spcBef>
                <a:spcPts val="0"/>
              </a:spcBef>
              <a:spcAft>
                <a:spcPts val="0"/>
              </a:spcAft>
              <a:buClr>
                <a:schemeClr val="dk1"/>
              </a:buClr>
              <a:buSzPts val="2600"/>
              <a:buChar char="●"/>
            </a:pPr>
            <a:r>
              <a:rPr lang="en-US" sz="2600" b="1">
                <a:solidFill>
                  <a:schemeClr val="dk1"/>
                </a:solidFill>
                <a:latin typeface="Poppins"/>
                <a:ea typeface="Poppins"/>
                <a:cs typeface="Poppins"/>
                <a:sym typeface="Poppins"/>
              </a:rPr>
              <a:t>Overfitting Risk:</a:t>
            </a:r>
            <a:r>
              <a:rPr lang="en-US" sz="2600">
                <a:solidFill>
                  <a:schemeClr val="dk1"/>
                </a:solidFill>
                <a:latin typeface="Poppins"/>
                <a:ea typeface="Poppins"/>
                <a:cs typeface="Poppins"/>
                <a:sym typeface="Poppins"/>
              </a:rPr>
              <a:t> Can still overfit on noisy or sparse data, affecting generalization despite ensemble learning.</a:t>
            </a:r>
            <a:endParaRPr sz="2600">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r>
              <a:rPr lang="en-US" sz="3300">
                <a:solidFill>
                  <a:schemeClr val="dk1"/>
                </a:solidFill>
                <a:latin typeface="Poppins ExtraBold"/>
                <a:ea typeface="Poppins ExtraBold"/>
                <a:cs typeface="Poppins ExtraBold"/>
                <a:sym typeface="Poppins ExtraBold"/>
              </a:rPr>
              <a:t>DISADVANTAGES :</a:t>
            </a:r>
            <a:endParaRPr sz="3300">
              <a:solidFill>
                <a:schemeClr val="dk1"/>
              </a:solidFill>
              <a:latin typeface="Poppins ExtraBold"/>
              <a:ea typeface="Poppins ExtraBold"/>
              <a:cs typeface="Poppins ExtraBold"/>
              <a:sym typeface="Poppins ExtraBold"/>
            </a:endParaRPr>
          </a:p>
          <a:p>
            <a:pPr marL="457200" lvl="0" indent="-393700" algn="l" rtl="0">
              <a:lnSpc>
                <a:spcPct val="115000"/>
              </a:lnSpc>
              <a:spcBef>
                <a:spcPts val="120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Encounter false positives and false negatives, impacting accurate classification.</a:t>
            </a:r>
            <a:endParaRPr sz="2600">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endParaRPr sz="3300">
              <a:solidFill>
                <a:schemeClr val="dk1"/>
              </a:solidFill>
              <a:latin typeface="Poppins ExtraBold"/>
              <a:ea typeface="Poppins ExtraBold"/>
              <a:cs typeface="Poppins ExtraBold"/>
              <a:sym typeface="Poppins ExtraBold"/>
            </a:endParaRPr>
          </a:p>
          <a:p>
            <a:pPr marL="0" marR="0" lvl="0" indent="0" algn="l" rtl="0">
              <a:lnSpc>
                <a:spcPct val="140011"/>
              </a:lnSpc>
              <a:spcBef>
                <a:spcPts val="1200"/>
              </a:spcBef>
              <a:spcAft>
                <a:spcPts val="0"/>
              </a:spcAft>
              <a:buNone/>
            </a:pPr>
            <a:endParaRPr sz="2658">
              <a:solidFill>
                <a:schemeClr val="dk1"/>
              </a:solidFill>
              <a:latin typeface="Poppins"/>
              <a:ea typeface="Poppins"/>
              <a:cs typeface="Poppins"/>
              <a:sym typeface="Poppins"/>
            </a:endParaRPr>
          </a:p>
        </p:txBody>
      </p:sp>
      <p:sp>
        <p:nvSpPr>
          <p:cNvPr id="159" name="Google Shape;159;p7"/>
          <p:cNvSpPr txBox="1"/>
          <p:nvPr/>
        </p:nvSpPr>
        <p:spPr>
          <a:xfrm>
            <a:off x="1747850" y="8624175"/>
            <a:ext cx="14072400" cy="215400"/>
          </a:xfrm>
          <a:prstGeom prst="rect">
            <a:avLst/>
          </a:prstGeom>
          <a:noFill/>
          <a:ln>
            <a:noFill/>
          </a:ln>
        </p:spPr>
        <p:txBody>
          <a:bodyPr spcFirstLastPara="1" wrap="square" lIns="0" tIns="0" rIns="0" bIns="0" anchor="t" anchorCtr="0">
            <a:spAutoFit/>
          </a:bodyPr>
          <a:lstStyle/>
          <a:p>
            <a:pPr marL="0" marR="0" lvl="0" indent="0" algn="just" rtl="0">
              <a:lnSpc>
                <a:spcPct val="140037"/>
              </a:lnSpc>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pSp>
        <p:nvGrpSpPr>
          <p:cNvPr id="164" name="Google Shape;164;p4"/>
          <p:cNvGrpSpPr/>
          <p:nvPr/>
        </p:nvGrpSpPr>
        <p:grpSpPr>
          <a:xfrm>
            <a:off x="-1109662" y="0"/>
            <a:ext cx="20507325" cy="10287000"/>
            <a:chOff x="0" y="0"/>
            <a:chExt cx="27343100" cy="13716000"/>
          </a:xfrm>
        </p:grpSpPr>
        <p:sp>
          <p:nvSpPr>
            <p:cNvPr id="165" name="Google Shape;165;p4"/>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166" name="Google Shape;166;p4"/>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167" name="Google Shape;167;p4"/>
          <p:cNvGrpSpPr/>
          <p:nvPr/>
        </p:nvGrpSpPr>
        <p:grpSpPr>
          <a:xfrm>
            <a:off x="1028700" y="1288950"/>
            <a:ext cx="16230707" cy="7969401"/>
            <a:chOff x="0" y="-57150"/>
            <a:chExt cx="4274726" cy="2098923"/>
          </a:xfrm>
        </p:grpSpPr>
        <p:sp>
          <p:nvSpPr>
            <p:cNvPr id="168" name="Google Shape;168;p4"/>
            <p:cNvSpPr/>
            <p:nvPr/>
          </p:nvSpPr>
          <p:spPr>
            <a:xfrm>
              <a:off x="0" y="0"/>
              <a:ext cx="4274726" cy="2041773"/>
            </a:xfrm>
            <a:custGeom>
              <a:avLst/>
              <a:gdLst/>
              <a:ahLst/>
              <a:cxnLst/>
              <a:rect l="l" t="t" r="r" b="b"/>
              <a:pathLst>
                <a:path w="4274726" h="2041773" extrusionOk="0">
                  <a:moveTo>
                    <a:pt x="0" y="0"/>
                  </a:moveTo>
                  <a:lnTo>
                    <a:pt x="4274726" y="0"/>
                  </a:lnTo>
                  <a:lnTo>
                    <a:pt x="4274726" y="2041773"/>
                  </a:lnTo>
                  <a:lnTo>
                    <a:pt x="0" y="2041773"/>
                  </a:lnTo>
                  <a:close/>
                </a:path>
              </a:pathLst>
            </a:custGeom>
            <a:solidFill>
              <a:srgbClr val="F1F2F2"/>
            </a:solidFill>
            <a:ln>
              <a:noFill/>
            </a:ln>
          </p:spPr>
          <p:txBody>
            <a:bodyPr/>
            <a:lstStyle/>
            <a:p>
              <a:endParaRPr lang="en-IN"/>
            </a:p>
          </p:txBody>
        </p:sp>
        <p:sp>
          <p:nvSpPr>
            <p:cNvPr id="169" name="Google Shape;169;p4"/>
            <p:cNvSpPr txBox="1"/>
            <p:nvPr/>
          </p:nvSpPr>
          <p:spPr>
            <a:xfrm>
              <a:off x="0" y="-57150"/>
              <a:ext cx="4274700" cy="2098800"/>
            </a:xfrm>
            <a:prstGeom prst="rect">
              <a:avLst/>
            </a:prstGeom>
            <a:noFill/>
            <a:ln>
              <a:noFill/>
            </a:ln>
          </p:spPr>
          <p:txBody>
            <a:bodyPr spcFirstLastPara="1" wrap="square" lIns="50800" tIns="50800" rIns="50800" bIns="50800" anchor="ctr" anchorCtr="0">
              <a:noAutofit/>
            </a:bodyPr>
            <a:lstStyle/>
            <a:p>
              <a:pPr marL="0" marR="0" lvl="0" indent="0" algn="l"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 name="Google Shape;170;p4"/>
          <p:cNvGrpSpPr/>
          <p:nvPr/>
        </p:nvGrpSpPr>
        <p:grpSpPr>
          <a:xfrm>
            <a:off x="5818698" y="470312"/>
            <a:ext cx="6651030" cy="1608367"/>
            <a:chOff x="0" y="-57150"/>
            <a:chExt cx="1751700" cy="423600"/>
          </a:xfrm>
        </p:grpSpPr>
        <p:sp>
          <p:nvSpPr>
            <p:cNvPr id="171" name="Google Shape;171;p4"/>
            <p:cNvSpPr/>
            <p:nvPr/>
          </p:nvSpPr>
          <p:spPr>
            <a:xfrm>
              <a:off x="0" y="0"/>
              <a:ext cx="1751599" cy="366307"/>
            </a:xfrm>
            <a:custGeom>
              <a:avLst/>
              <a:gdLst/>
              <a:ahLst/>
              <a:cxnLst/>
              <a:rect l="l" t="t" r="r" b="b"/>
              <a:pathLst>
                <a:path w="1751599" h="366307" extrusionOk="0">
                  <a:moveTo>
                    <a:pt x="0" y="0"/>
                  </a:moveTo>
                  <a:lnTo>
                    <a:pt x="1751599" y="0"/>
                  </a:lnTo>
                  <a:lnTo>
                    <a:pt x="1751599" y="366307"/>
                  </a:lnTo>
                  <a:lnTo>
                    <a:pt x="0" y="366307"/>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72" name="Google Shape;172;p4"/>
            <p:cNvSpPr txBox="1"/>
            <p:nvPr/>
          </p:nvSpPr>
          <p:spPr>
            <a:xfrm>
              <a:off x="0" y="-57150"/>
              <a:ext cx="1751700" cy="423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3" name="Google Shape;173;p4"/>
          <p:cNvSpPr txBox="1"/>
          <p:nvPr/>
        </p:nvSpPr>
        <p:spPr>
          <a:xfrm>
            <a:off x="1795200" y="2451975"/>
            <a:ext cx="14697600" cy="64647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1500" dirty="0">
                <a:latin typeface="Poppins"/>
                <a:ea typeface="Poppins"/>
                <a:cs typeface="Poppins"/>
                <a:sym typeface="Poppins"/>
              </a:rPr>
              <a:t>• </a:t>
            </a:r>
            <a:r>
              <a:rPr lang="en-US" sz="2800" dirty="0">
                <a:latin typeface="Poppins"/>
                <a:ea typeface="Poppins"/>
                <a:cs typeface="Poppins"/>
                <a:sym typeface="Poppins"/>
              </a:rPr>
              <a:t>In the proposed system, we introduce machine learning models such as Logistic Regression, Support Vector Machine, Gradient Boost, </a:t>
            </a:r>
            <a:r>
              <a:rPr lang="en-US" sz="2800" dirty="0" err="1">
                <a:latin typeface="Poppins"/>
                <a:ea typeface="Poppins"/>
                <a:cs typeface="Poppins"/>
                <a:sym typeface="Poppins"/>
              </a:rPr>
              <a:t>XGBoost</a:t>
            </a:r>
            <a:r>
              <a:rPr lang="en-US" sz="2800" dirty="0">
                <a:latin typeface="Poppins"/>
                <a:ea typeface="Poppins"/>
                <a:cs typeface="Poppins"/>
                <a:sym typeface="Poppins"/>
              </a:rPr>
              <a:t>, Naive Bayes alongside Random Forest and Decision Tree algorithms used in existing systems. </a:t>
            </a:r>
            <a:endParaRPr sz="2800" dirty="0">
              <a:latin typeface="Poppins"/>
              <a:ea typeface="Poppins"/>
              <a:cs typeface="Poppins"/>
              <a:sym typeface="Poppins"/>
            </a:endParaRPr>
          </a:p>
          <a:p>
            <a:pPr marL="0" marR="0" lvl="0" indent="0" algn="just" rtl="0">
              <a:lnSpc>
                <a:spcPct val="140000"/>
              </a:lnSpc>
              <a:spcBef>
                <a:spcPts val="0"/>
              </a:spcBef>
              <a:spcAft>
                <a:spcPts val="0"/>
              </a:spcAft>
              <a:buNone/>
            </a:pPr>
            <a:endParaRPr sz="2800" dirty="0">
              <a:latin typeface="Poppins"/>
              <a:ea typeface="Poppins"/>
              <a:cs typeface="Poppins"/>
              <a:sym typeface="Poppins"/>
            </a:endParaRPr>
          </a:p>
          <a:p>
            <a:pPr marL="0" marR="0" lvl="0" indent="0" algn="just" rtl="0">
              <a:lnSpc>
                <a:spcPct val="140000"/>
              </a:lnSpc>
              <a:spcBef>
                <a:spcPts val="0"/>
              </a:spcBef>
              <a:spcAft>
                <a:spcPts val="0"/>
              </a:spcAft>
              <a:buNone/>
            </a:pPr>
            <a:r>
              <a:rPr lang="en-US" sz="2800" dirty="0">
                <a:latin typeface="Poppins"/>
                <a:ea typeface="Poppins"/>
                <a:cs typeface="Poppins"/>
                <a:sym typeface="Poppins"/>
              </a:rPr>
              <a:t>• By Performing the training over the all Machine Learning models, we choose the best performed Model based on accuracy score of model to perform test data. Here the Machine Learning model is Gradient Boost which having the accuracy score over 97%. </a:t>
            </a:r>
            <a:endParaRPr sz="2800" dirty="0">
              <a:latin typeface="Poppins"/>
              <a:ea typeface="Poppins"/>
              <a:cs typeface="Poppins"/>
              <a:sym typeface="Poppins"/>
            </a:endParaRPr>
          </a:p>
          <a:p>
            <a:pPr marL="0" marR="0" lvl="0" indent="0" algn="just" rtl="0">
              <a:lnSpc>
                <a:spcPct val="140000"/>
              </a:lnSpc>
              <a:spcBef>
                <a:spcPts val="0"/>
              </a:spcBef>
              <a:spcAft>
                <a:spcPts val="0"/>
              </a:spcAft>
              <a:buNone/>
            </a:pPr>
            <a:r>
              <a:rPr lang="en-US" sz="2800" dirty="0">
                <a:latin typeface="Poppins"/>
                <a:ea typeface="Poppins"/>
                <a:cs typeface="Poppins"/>
                <a:sym typeface="Poppins"/>
              </a:rPr>
              <a:t>• These additions aim to diversify the model ensemble and improve accuracy. Moreover, we prioritize enhancing the system's latency performance. </a:t>
            </a:r>
            <a:endParaRPr sz="2800" dirty="0">
              <a:latin typeface="Poppins"/>
              <a:ea typeface="Poppins"/>
              <a:cs typeface="Poppins"/>
              <a:sym typeface="Poppins"/>
            </a:endParaRPr>
          </a:p>
          <a:p>
            <a:pPr marL="0" marR="0" lvl="0" indent="0" algn="just" rtl="0">
              <a:lnSpc>
                <a:spcPct val="140000"/>
              </a:lnSpc>
              <a:spcBef>
                <a:spcPts val="0"/>
              </a:spcBef>
              <a:spcAft>
                <a:spcPts val="0"/>
              </a:spcAft>
              <a:buNone/>
            </a:pPr>
            <a:r>
              <a:rPr lang="en-US" sz="2800" dirty="0">
                <a:latin typeface="Poppins"/>
                <a:ea typeface="Poppins"/>
                <a:cs typeface="Poppins"/>
                <a:sym typeface="Poppins"/>
              </a:rPr>
              <a:t>• Additionally, a user-friendly interface will be developed to facilitate ease of use.</a:t>
            </a:r>
            <a:endParaRPr sz="2800" dirty="0">
              <a:latin typeface="Poppins"/>
              <a:ea typeface="Poppins"/>
              <a:cs typeface="Poppins"/>
              <a:sym typeface="Poppins"/>
            </a:endParaRPr>
          </a:p>
        </p:txBody>
      </p:sp>
      <p:sp>
        <p:nvSpPr>
          <p:cNvPr id="174" name="Google Shape;174;p4"/>
          <p:cNvSpPr/>
          <p:nvPr/>
        </p:nvSpPr>
        <p:spPr>
          <a:xfrm>
            <a:off x="15824275" y="6533193"/>
            <a:ext cx="1949375" cy="1949375"/>
          </a:xfrm>
          <a:custGeom>
            <a:avLst/>
            <a:gdLst/>
            <a:ahLst/>
            <a:cxnLst/>
            <a:rect l="l" t="t" r="r" b="b"/>
            <a:pathLst>
              <a:path w="1949375" h="1949375" extrusionOk="0">
                <a:moveTo>
                  <a:pt x="0" y="0"/>
                </a:moveTo>
                <a:lnTo>
                  <a:pt x="1949375" y="0"/>
                </a:lnTo>
                <a:lnTo>
                  <a:pt x="1949375" y="1949375"/>
                </a:lnTo>
                <a:lnTo>
                  <a:pt x="0" y="1949375"/>
                </a:lnTo>
                <a:lnTo>
                  <a:pt x="0" y="0"/>
                </a:lnTo>
                <a:close/>
              </a:path>
            </a:pathLst>
          </a:custGeom>
          <a:blipFill rotWithShape="1">
            <a:blip r:embed="rId4">
              <a:alphaModFix/>
            </a:blip>
            <a:stretch>
              <a:fillRect/>
            </a:stretch>
          </a:blipFill>
          <a:ln>
            <a:noFill/>
          </a:ln>
        </p:spPr>
        <p:txBody>
          <a:bodyPr/>
          <a:lstStyle/>
          <a:p>
            <a:endParaRPr lang="en-IN"/>
          </a:p>
        </p:txBody>
      </p:sp>
      <p:sp>
        <p:nvSpPr>
          <p:cNvPr id="175" name="Google Shape;175;p4"/>
          <p:cNvSpPr/>
          <p:nvPr/>
        </p:nvSpPr>
        <p:spPr>
          <a:xfrm>
            <a:off x="-668902" y="1028700"/>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5">
              <a:alphaModFix/>
            </a:blip>
            <a:stretch>
              <a:fillRect/>
            </a:stretch>
          </a:blipFill>
          <a:ln>
            <a:noFill/>
          </a:ln>
        </p:spPr>
        <p:txBody>
          <a:bodyPr/>
          <a:lstStyle/>
          <a:p>
            <a:endParaRPr lang="en-IN"/>
          </a:p>
        </p:txBody>
      </p:sp>
      <p:sp>
        <p:nvSpPr>
          <p:cNvPr id="176" name="Google Shape;176;p4"/>
          <p:cNvSpPr txBox="1"/>
          <p:nvPr/>
        </p:nvSpPr>
        <p:spPr>
          <a:xfrm>
            <a:off x="4543721" y="923925"/>
            <a:ext cx="9200700" cy="769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a:latin typeface="Fredoka"/>
                <a:ea typeface="Fredoka"/>
                <a:cs typeface="Fredoka"/>
                <a:sym typeface="Fredoka"/>
              </a:rPr>
              <a:t>PROPOSED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grpSp>
        <p:nvGrpSpPr>
          <p:cNvPr id="181" name="Google Shape;181;p5"/>
          <p:cNvGrpSpPr/>
          <p:nvPr/>
        </p:nvGrpSpPr>
        <p:grpSpPr>
          <a:xfrm>
            <a:off x="-1109662" y="0"/>
            <a:ext cx="20507325" cy="10287000"/>
            <a:chOff x="0" y="0"/>
            <a:chExt cx="27343100" cy="13716000"/>
          </a:xfrm>
        </p:grpSpPr>
        <p:sp>
          <p:nvSpPr>
            <p:cNvPr id="182" name="Google Shape;182;p5"/>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183" name="Google Shape;183;p5"/>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184" name="Google Shape;184;p5"/>
          <p:cNvGrpSpPr/>
          <p:nvPr/>
        </p:nvGrpSpPr>
        <p:grpSpPr>
          <a:xfrm>
            <a:off x="1028700" y="1288952"/>
            <a:ext cx="16230600" cy="7969348"/>
            <a:chOff x="0" y="-57150"/>
            <a:chExt cx="4274726" cy="2098923"/>
          </a:xfrm>
        </p:grpSpPr>
        <p:sp>
          <p:nvSpPr>
            <p:cNvPr id="185" name="Google Shape;185;p5"/>
            <p:cNvSpPr/>
            <p:nvPr/>
          </p:nvSpPr>
          <p:spPr>
            <a:xfrm>
              <a:off x="0" y="0"/>
              <a:ext cx="4274726" cy="2041773"/>
            </a:xfrm>
            <a:custGeom>
              <a:avLst/>
              <a:gdLst/>
              <a:ahLst/>
              <a:cxnLst/>
              <a:rect l="l" t="t" r="r" b="b"/>
              <a:pathLst>
                <a:path w="4274726" h="2041773" extrusionOk="0">
                  <a:moveTo>
                    <a:pt x="0" y="0"/>
                  </a:moveTo>
                  <a:lnTo>
                    <a:pt x="4274726" y="0"/>
                  </a:lnTo>
                  <a:lnTo>
                    <a:pt x="4274726" y="2041773"/>
                  </a:lnTo>
                  <a:lnTo>
                    <a:pt x="0" y="2041773"/>
                  </a:lnTo>
                  <a:close/>
                </a:path>
              </a:pathLst>
            </a:custGeom>
            <a:solidFill>
              <a:srgbClr val="F1F2F2"/>
            </a:solidFill>
            <a:ln>
              <a:noFill/>
            </a:ln>
          </p:spPr>
          <p:txBody>
            <a:bodyPr/>
            <a:lstStyle/>
            <a:p>
              <a:endParaRPr lang="en-IN"/>
            </a:p>
          </p:txBody>
        </p:sp>
        <p:sp>
          <p:nvSpPr>
            <p:cNvPr id="186" name="Google Shape;186;p5"/>
            <p:cNvSpPr txBox="1"/>
            <p:nvPr/>
          </p:nvSpPr>
          <p:spPr>
            <a:xfrm>
              <a:off x="0" y="-57150"/>
              <a:ext cx="4274726" cy="209892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7" name="Google Shape;187;p5"/>
          <p:cNvGrpSpPr/>
          <p:nvPr/>
        </p:nvGrpSpPr>
        <p:grpSpPr>
          <a:xfrm>
            <a:off x="5218653" y="491325"/>
            <a:ext cx="6435115" cy="1616572"/>
            <a:chOff x="0" y="-57150"/>
            <a:chExt cx="2606576" cy="425761"/>
          </a:xfrm>
        </p:grpSpPr>
        <p:sp>
          <p:nvSpPr>
            <p:cNvPr id="188" name="Google Shape;188;p5"/>
            <p:cNvSpPr/>
            <p:nvPr/>
          </p:nvSpPr>
          <p:spPr>
            <a:xfrm>
              <a:off x="0" y="0"/>
              <a:ext cx="2606576" cy="368611"/>
            </a:xfrm>
            <a:custGeom>
              <a:avLst/>
              <a:gdLst/>
              <a:ahLst/>
              <a:cxnLst/>
              <a:rect l="l" t="t" r="r" b="b"/>
              <a:pathLst>
                <a:path w="2606576" h="368611" extrusionOk="0">
                  <a:moveTo>
                    <a:pt x="0" y="0"/>
                  </a:moveTo>
                  <a:lnTo>
                    <a:pt x="2606576" y="0"/>
                  </a:lnTo>
                  <a:lnTo>
                    <a:pt x="2606576" y="368611"/>
                  </a:lnTo>
                  <a:lnTo>
                    <a:pt x="0" y="368611"/>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89" name="Google Shape;189;p5"/>
            <p:cNvSpPr txBox="1"/>
            <p:nvPr/>
          </p:nvSpPr>
          <p:spPr>
            <a:xfrm>
              <a:off x="0" y="-57150"/>
              <a:ext cx="2606576" cy="42576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0" name="Google Shape;190;p5"/>
          <p:cNvSpPr/>
          <p:nvPr/>
        </p:nvSpPr>
        <p:spPr>
          <a:xfrm flipH="1">
            <a:off x="16164492" y="6443050"/>
            <a:ext cx="2189615" cy="1982597"/>
          </a:xfrm>
          <a:custGeom>
            <a:avLst/>
            <a:gdLst/>
            <a:ahLst/>
            <a:cxnLst/>
            <a:rect l="l" t="t" r="r" b="b"/>
            <a:pathLst>
              <a:path w="2189615" h="1982597" extrusionOk="0">
                <a:moveTo>
                  <a:pt x="2189616" y="0"/>
                </a:moveTo>
                <a:lnTo>
                  <a:pt x="0" y="0"/>
                </a:lnTo>
                <a:lnTo>
                  <a:pt x="0" y="1982597"/>
                </a:lnTo>
                <a:lnTo>
                  <a:pt x="2189616" y="1982597"/>
                </a:lnTo>
                <a:lnTo>
                  <a:pt x="2189616" y="0"/>
                </a:lnTo>
                <a:close/>
              </a:path>
            </a:pathLst>
          </a:custGeom>
          <a:blipFill rotWithShape="1">
            <a:blip r:embed="rId4">
              <a:alphaModFix/>
            </a:blip>
            <a:stretch>
              <a:fillRect/>
            </a:stretch>
          </a:blipFill>
          <a:ln>
            <a:noFill/>
          </a:ln>
        </p:spPr>
        <p:txBody>
          <a:bodyPr/>
          <a:lstStyle/>
          <a:p>
            <a:endParaRPr lang="en-IN"/>
          </a:p>
        </p:txBody>
      </p:sp>
      <p:sp>
        <p:nvSpPr>
          <p:cNvPr id="191" name="Google Shape;191;p5"/>
          <p:cNvSpPr/>
          <p:nvPr/>
        </p:nvSpPr>
        <p:spPr>
          <a:xfrm>
            <a:off x="-2300107" y="1028700"/>
            <a:ext cx="4927677" cy="1532060"/>
          </a:xfrm>
          <a:custGeom>
            <a:avLst/>
            <a:gdLst/>
            <a:ahLst/>
            <a:cxnLst/>
            <a:rect l="l" t="t" r="r" b="b"/>
            <a:pathLst>
              <a:path w="4927677" h="1532060" extrusionOk="0">
                <a:moveTo>
                  <a:pt x="0" y="0"/>
                </a:moveTo>
                <a:lnTo>
                  <a:pt x="4927677" y="0"/>
                </a:lnTo>
                <a:lnTo>
                  <a:pt x="4927677" y="1532060"/>
                </a:lnTo>
                <a:lnTo>
                  <a:pt x="0" y="1532060"/>
                </a:lnTo>
                <a:lnTo>
                  <a:pt x="0" y="0"/>
                </a:lnTo>
                <a:close/>
              </a:path>
            </a:pathLst>
          </a:custGeom>
          <a:blipFill rotWithShape="1">
            <a:blip r:embed="rId5">
              <a:alphaModFix/>
            </a:blip>
            <a:stretch>
              <a:fillRect/>
            </a:stretch>
          </a:blipFill>
          <a:ln>
            <a:noFill/>
          </a:ln>
        </p:spPr>
        <p:txBody>
          <a:bodyPr/>
          <a:lstStyle/>
          <a:p>
            <a:endParaRPr lang="en-IN"/>
          </a:p>
        </p:txBody>
      </p:sp>
      <p:sp>
        <p:nvSpPr>
          <p:cNvPr id="192" name="Google Shape;192;p5"/>
          <p:cNvSpPr txBox="1"/>
          <p:nvPr/>
        </p:nvSpPr>
        <p:spPr>
          <a:xfrm>
            <a:off x="2627570" y="923925"/>
            <a:ext cx="11116800" cy="769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a:latin typeface="Fredoka"/>
                <a:ea typeface="Fredoka"/>
                <a:cs typeface="Fredoka"/>
                <a:sym typeface="Fredoka"/>
              </a:rPr>
              <a:t>ADVANTAGES</a:t>
            </a:r>
            <a:endParaRPr/>
          </a:p>
        </p:txBody>
      </p:sp>
      <p:sp>
        <p:nvSpPr>
          <p:cNvPr id="193" name="Google Shape;193;p5"/>
          <p:cNvSpPr txBox="1"/>
          <p:nvPr/>
        </p:nvSpPr>
        <p:spPr>
          <a:xfrm>
            <a:off x="6181600" y="3185850"/>
            <a:ext cx="10824000" cy="3996000"/>
          </a:xfrm>
          <a:prstGeom prst="rect">
            <a:avLst/>
          </a:prstGeom>
          <a:noFill/>
          <a:ln>
            <a:noFill/>
          </a:ln>
        </p:spPr>
        <p:txBody>
          <a:bodyPr spcFirstLastPara="1" wrap="square" lIns="0" tIns="0" rIns="0" bIns="0" anchor="t" anchorCtr="0">
            <a:spAutoFit/>
          </a:bodyPr>
          <a:lstStyle/>
          <a:p>
            <a:pPr marL="0" marR="0" lvl="0" indent="0" algn="l" rtl="0">
              <a:lnSpc>
                <a:spcPct val="140036"/>
              </a:lnSpc>
              <a:spcBef>
                <a:spcPts val="0"/>
              </a:spcBef>
              <a:spcAft>
                <a:spcPts val="0"/>
              </a:spcAft>
              <a:buNone/>
            </a:pPr>
            <a:endParaRPr/>
          </a:p>
          <a:p>
            <a:pPr marL="647700" marR="0" lvl="1" indent="-323850" algn="l" rtl="0">
              <a:lnSpc>
                <a:spcPct val="140000"/>
              </a:lnSpc>
              <a:spcBef>
                <a:spcPts val="0"/>
              </a:spcBef>
              <a:spcAft>
                <a:spcPts val="0"/>
              </a:spcAft>
              <a:buClr>
                <a:srgbClr val="000000"/>
              </a:buClr>
              <a:buSzPts val="3000"/>
              <a:buFont typeface="Arial"/>
              <a:buChar char="•"/>
            </a:pPr>
            <a:r>
              <a:rPr lang="en-US" sz="3000" b="1" i="0" u="none" strike="noStrike" cap="none">
                <a:solidFill>
                  <a:srgbClr val="000000"/>
                </a:solidFill>
                <a:latin typeface="Nunito"/>
                <a:ea typeface="Nunito"/>
                <a:cs typeface="Nunito"/>
                <a:sym typeface="Nunito"/>
              </a:rPr>
              <a:t>   </a:t>
            </a:r>
            <a:r>
              <a:rPr lang="en-US" sz="2900">
                <a:latin typeface="Poppins"/>
                <a:ea typeface="Poppins"/>
                <a:cs typeface="Poppins"/>
                <a:sym typeface="Poppins"/>
              </a:rPr>
              <a:t>High</a:t>
            </a:r>
            <a:r>
              <a:rPr lang="en-US" sz="3000">
                <a:latin typeface="Poppins"/>
                <a:ea typeface="Poppins"/>
                <a:cs typeface="Poppins"/>
                <a:sym typeface="Poppins"/>
              </a:rPr>
              <a:t> </a:t>
            </a:r>
            <a:r>
              <a:rPr lang="en-US" sz="3000">
                <a:latin typeface="Nunito"/>
                <a:ea typeface="Nunito"/>
                <a:cs typeface="Nunito"/>
                <a:sym typeface="Nunito"/>
              </a:rPr>
              <a:t>Accuracy</a:t>
            </a:r>
            <a:endParaRPr/>
          </a:p>
          <a:p>
            <a:pPr marL="647700" marR="0" lvl="1" indent="-323850" algn="l" rtl="0">
              <a:lnSpc>
                <a:spcPct val="140000"/>
              </a:lnSpc>
              <a:spcBef>
                <a:spcPts val="0"/>
              </a:spcBef>
              <a:spcAft>
                <a:spcPts val="0"/>
              </a:spcAft>
              <a:buClr>
                <a:srgbClr val="000000"/>
              </a:buClr>
              <a:buSzPts val="3000"/>
              <a:buFont typeface="Arial"/>
              <a:buChar char="•"/>
            </a:pPr>
            <a:r>
              <a:rPr lang="en-US" sz="3000" b="0" i="0" u="none" strike="noStrike" cap="none">
                <a:solidFill>
                  <a:srgbClr val="000000"/>
                </a:solidFill>
                <a:latin typeface="Nunito"/>
                <a:ea typeface="Nunito"/>
                <a:cs typeface="Nunito"/>
                <a:sym typeface="Nunito"/>
              </a:rPr>
              <a:t>   </a:t>
            </a:r>
            <a:r>
              <a:rPr lang="en-US" sz="3000">
                <a:latin typeface="Nunito"/>
                <a:ea typeface="Nunito"/>
                <a:cs typeface="Nunito"/>
                <a:sym typeface="Nunito"/>
              </a:rPr>
              <a:t>Robust Model Selection</a:t>
            </a:r>
            <a:endParaRPr/>
          </a:p>
          <a:p>
            <a:pPr marL="647700" marR="0" lvl="1" indent="-323850" algn="l" rtl="0">
              <a:lnSpc>
                <a:spcPct val="140000"/>
              </a:lnSpc>
              <a:spcBef>
                <a:spcPts val="0"/>
              </a:spcBef>
              <a:spcAft>
                <a:spcPts val="0"/>
              </a:spcAft>
              <a:buClr>
                <a:srgbClr val="000000"/>
              </a:buClr>
              <a:buSzPts val="3000"/>
              <a:buFont typeface="Arial"/>
              <a:buChar char="•"/>
            </a:pPr>
            <a:r>
              <a:rPr lang="en-US" sz="3000" b="0" i="0" u="none" strike="noStrike" cap="none">
                <a:solidFill>
                  <a:srgbClr val="000000"/>
                </a:solidFill>
                <a:latin typeface="Nunito"/>
                <a:ea typeface="Nunito"/>
                <a:cs typeface="Nunito"/>
                <a:sym typeface="Nunito"/>
              </a:rPr>
              <a:t>   </a:t>
            </a:r>
            <a:r>
              <a:rPr lang="en-US" sz="3000">
                <a:latin typeface="Nunito"/>
                <a:ea typeface="Nunito"/>
                <a:cs typeface="Nunito"/>
                <a:sym typeface="Nunito"/>
              </a:rPr>
              <a:t>Improved Reliability</a:t>
            </a:r>
            <a:endParaRPr sz="2900"/>
          </a:p>
          <a:p>
            <a:pPr marL="647700" marR="0" lvl="1" indent="-323850" algn="l" rtl="0">
              <a:lnSpc>
                <a:spcPct val="140000"/>
              </a:lnSpc>
              <a:spcBef>
                <a:spcPts val="0"/>
              </a:spcBef>
              <a:spcAft>
                <a:spcPts val="0"/>
              </a:spcAft>
              <a:buClr>
                <a:srgbClr val="000000"/>
              </a:buClr>
              <a:buSzPts val="3000"/>
              <a:buFont typeface="Arial"/>
              <a:buChar char="•"/>
            </a:pPr>
            <a:r>
              <a:rPr lang="en-US" sz="3000" b="0" i="0" u="none" strike="noStrike" cap="none">
                <a:solidFill>
                  <a:srgbClr val="000000"/>
                </a:solidFill>
                <a:latin typeface="Nunito"/>
                <a:ea typeface="Nunito"/>
                <a:cs typeface="Nunito"/>
                <a:sym typeface="Nunito"/>
              </a:rPr>
              <a:t>   </a:t>
            </a:r>
            <a:r>
              <a:rPr lang="en-US" sz="3000">
                <a:latin typeface="Nunito"/>
                <a:ea typeface="Nunito"/>
                <a:cs typeface="Nunito"/>
                <a:sym typeface="Nunito"/>
              </a:rPr>
              <a:t>Optimized Performance</a:t>
            </a:r>
            <a:endParaRPr sz="3000">
              <a:latin typeface="Nunito"/>
              <a:ea typeface="Nunito"/>
              <a:cs typeface="Nunito"/>
              <a:sym typeface="Nunito"/>
            </a:endParaRPr>
          </a:p>
          <a:p>
            <a:pPr marL="647700" marR="0" lvl="1" indent="-323850" algn="l" rtl="0">
              <a:lnSpc>
                <a:spcPct val="140000"/>
              </a:lnSpc>
              <a:spcBef>
                <a:spcPts val="0"/>
              </a:spcBef>
              <a:spcAft>
                <a:spcPts val="0"/>
              </a:spcAft>
              <a:buClr>
                <a:srgbClr val="000000"/>
              </a:buClr>
              <a:buSzPts val="3000"/>
              <a:buFont typeface="Arial"/>
              <a:buChar char="•"/>
            </a:pPr>
            <a:r>
              <a:rPr lang="en-US" sz="3000" b="0" i="0" u="none" strike="noStrike" cap="none">
                <a:solidFill>
                  <a:srgbClr val="000000"/>
                </a:solidFill>
                <a:latin typeface="Nunito"/>
                <a:ea typeface="Nunito"/>
                <a:cs typeface="Nunito"/>
                <a:sym typeface="Nunito"/>
              </a:rPr>
              <a:t> </a:t>
            </a:r>
            <a:r>
              <a:rPr lang="en-US" sz="3000">
                <a:latin typeface="Nunito"/>
                <a:ea typeface="Nunito"/>
                <a:cs typeface="Nunito"/>
                <a:sym typeface="Nunito"/>
              </a:rPr>
              <a:t>  User-Friendly Interface</a:t>
            </a:r>
            <a:endParaRPr/>
          </a:p>
          <a:p>
            <a:pPr marL="0" marR="0" lvl="0" indent="0" algn="l" rtl="0">
              <a:lnSpc>
                <a:spcPct val="155633"/>
              </a:lnSpc>
              <a:spcBef>
                <a:spcPts val="0"/>
              </a:spcBef>
              <a:spcAft>
                <a:spcPts val="0"/>
              </a:spcAft>
              <a:buNone/>
            </a:pPr>
            <a:endParaRPr sz="3000" b="0" i="0" u="none" strike="noStrike" cap="none">
              <a:solidFill>
                <a:srgbClr val="000000"/>
              </a:solidFill>
              <a:latin typeface="Nunito"/>
              <a:ea typeface="Nunito"/>
              <a:cs typeface="Nunito"/>
              <a:sym typeface="Nunito"/>
            </a:endParaRPr>
          </a:p>
        </p:txBody>
      </p:sp>
      <p:sp>
        <p:nvSpPr>
          <p:cNvPr id="194" name="Google Shape;194;p5"/>
          <p:cNvSpPr/>
          <p:nvPr/>
        </p:nvSpPr>
        <p:spPr>
          <a:xfrm>
            <a:off x="14466890" y="8733587"/>
            <a:ext cx="3395204" cy="1049427"/>
          </a:xfrm>
          <a:custGeom>
            <a:avLst/>
            <a:gdLst/>
            <a:ahLst/>
            <a:cxnLst/>
            <a:rect l="l" t="t" r="r" b="b"/>
            <a:pathLst>
              <a:path w="3395204" h="1049427" extrusionOk="0">
                <a:moveTo>
                  <a:pt x="0" y="0"/>
                </a:moveTo>
                <a:lnTo>
                  <a:pt x="3395205" y="0"/>
                </a:lnTo>
                <a:lnTo>
                  <a:pt x="3395205" y="1049426"/>
                </a:lnTo>
                <a:lnTo>
                  <a:pt x="0" y="1049426"/>
                </a:lnTo>
                <a:lnTo>
                  <a:pt x="0" y="0"/>
                </a:lnTo>
                <a:close/>
              </a:path>
            </a:pathLst>
          </a:custGeom>
          <a:blipFill rotWithShape="1">
            <a:blip r:embed="rId6">
              <a:alphaModFix/>
            </a:blip>
            <a:stretch>
              <a:fillRect/>
            </a:stretch>
          </a:blipFill>
          <a:ln>
            <a:noFill/>
          </a:ln>
        </p:spPr>
        <p:txBody>
          <a:bodyPr/>
          <a:lstStyle/>
          <a:p>
            <a:endParaRPr lang="en-IN"/>
          </a:p>
        </p:txBody>
      </p:sp>
      <p:sp>
        <p:nvSpPr>
          <p:cNvPr id="195" name="Google Shape;195;p5"/>
          <p:cNvSpPr txBox="1"/>
          <p:nvPr/>
        </p:nvSpPr>
        <p:spPr>
          <a:xfrm>
            <a:off x="14892796" y="9716338"/>
            <a:ext cx="3395100" cy="215400"/>
          </a:xfrm>
          <a:prstGeom prst="rect">
            <a:avLst/>
          </a:prstGeom>
          <a:noFill/>
          <a:ln>
            <a:noFill/>
          </a:ln>
        </p:spPr>
        <p:txBody>
          <a:bodyPr spcFirstLastPara="1" wrap="square" lIns="0" tIns="0" rIns="0" bIns="0" anchor="t" anchorCtr="0">
            <a:spAutoFit/>
          </a:bodyPr>
          <a:lstStyle/>
          <a:p>
            <a:pPr marL="0" marR="0" lvl="0" indent="0" algn="l" rtl="0">
              <a:lnSpc>
                <a:spcPct val="140015"/>
              </a:lnSpc>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200" name="Google Shape;200;p9"/>
          <p:cNvGrpSpPr/>
          <p:nvPr/>
        </p:nvGrpSpPr>
        <p:grpSpPr>
          <a:xfrm>
            <a:off x="-1109662" y="-140900"/>
            <a:ext cx="20507325" cy="10287000"/>
            <a:chOff x="0" y="0"/>
            <a:chExt cx="27343100" cy="13716000"/>
          </a:xfrm>
        </p:grpSpPr>
        <p:sp>
          <p:nvSpPr>
            <p:cNvPr id="201" name="Google Shape;201;p9"/>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202" name="Google Shape;202;p9"/>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203" name="Google Shape;203;p9"/>
          <p:cNvGrpSpPr/>
          <p:nvPr/>
        </p:nvGrpSpPr>
        <p:grpSpPr>
          <a:xfrm>
            <a:off x="5891126" y="-377938"/>
            <a:ext cx="6505738" cy="1874902"/>
            <a:chOff x="0" y="-38100"/>
            <a:chExt cx="2070638" cy="493798"/>
          </a:xfrm>
        </p:grpSpPr>
        <p:sp>
          <p:nvSpPr>
            <p:cNvPr id="204" name="Google Shape;204;p9"/>
            <p:cNvSpPr/>
            <p:nvPr/>
          </p:nvSpPr>
          <p:spPr>
            <a:xfrm>
              <a:off x="0" y="0"/>
              <a:ext cx="2070638" cy="455698"/>
            </a:xfrm>
            <a:custGeom>
              <a:avLst/>
              <a:gdLst/>
              <a:ahLst/>
              <a:cxnLst/>
              <a:rect l="l" t="t" r="r" b="b"/>
              <a:pathLst>
                <a:path w="2070638" h="455698" extrusionOk="0">
                  <a:moveTo>
                    <a:pt x="0" y="0"/>
                  </a:moveTo>
                  <a:lnTo>
                    <a:pt x="2070638" y="0"/>
                  </a:lnTo>
                  <a:lnTo>
                    <a:pt x="2070638" y="455698"/>
                  </a:lnTo>
                  <a:lnTo>
                    <a:pt x="0" y="455698"/>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205" name="Google Shape;205;p9"/>
            <p:cNvSpPr txBox="1"/>
            <p:nvPr/>
          </p:nvSpPr>
          <p:spPr>
            <a:xfrm>
              <a:off x="0" y="-38100"/>
              <a:ext cx="2070638" cy="49379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6" name="Google Shape;206;p9"/>
          <p:cNvSpPr/>
          <p:nvPr/>
        </p:nvSpPr>
        <p:spPr>
          <a:xfrm>
            <a:off x="-1109662" y="-911620"/>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207" name="Google Shape;207;p9"/>
          <p:cNvSpPr/>
          <p:nvPr/>
        </p:nvSpPr>
        <p:spPr>
          <a:xfrm flipH="1">
            <a:off x="15561698" y="480251"/>
            <a:ext cx="3395204" cy="1049427"/>
          </a:xfrm>
          <a:custGeom>
            <a:avLst/>
            <a:gdLst/>
            <a:ahLst/>
            <a:cxnLst/>
            <a:rect l="l" t="t" r="r" b="b"/>
            <a:pathLst>
              <a:path w="3395204" h="1049427" extrusionOk="0">
                <a:moveTo>
                  <a:pt x="3395204" y="0"/>
                </a:moveTo>
                <a:lnTo>
                  <a:pt x="0" y="0"/>
                </a:lnTo>
                <a:lnTo>
                  <a:pt x="0" y="1049427"/>
                </a:lnTo>
                <a:lnTo>
                  <a:pt x="3395204" y="1049427"/>
                </a:lnTo>
                <a:lnTo>
                  <a:pt x="3395204" y="0"/>
                </a:lnTo>
                <a:close/>
              </a:path>
            </a:pathLst>
          </a:custGeom>
          <a:blipFill rotWithShape="1">
            <a:blip r:embed="rId5">
              <a:alphaModFix/>
            </a:blip>
            <a:stretch>
              <a:fillRect/>
            </a:stretch>
          </a:blipFill>
          <a:ln>
            <a:noFill/>
          </a:ln>
        </p:spPr>
        <p:txBody>
          <a:bodyPr/>
          <a:lstStyle/>
          <a:p>
            <a:endParaRPr lang="en-IN"/>
          </a:p>
        </p:txBody>
      </p:sp>
      <p:sp>
        <p:nvSpPr>
          <p:cNvPr id="208" name="Google Shape;208;p9"/>
          <p:cNvSpPr txBox="1"/>
          <p:nvPr/>
        </p:nvSpPr>
        <p:spPr>
          <a:xfrm>
            <a:off x="3871802" y="292249"/>
            <a:ext cx="10544400" cy="7707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None/>
            </a:pPr>
            <a:r>
              <a:rPr lang="en-US" sz="5007" b="1" dirty="0">
                <a:latin typeface="Fredoka"/>
                <a:ea typeface="Fredoka"/>
                <a:cs typeface="Fredoka"/>
                <a:sym typeface="Fredoka"/>
              </a:rPr>
              <a:t>BLOCK DIAGRAM</a:t>
            </a:r>
            <a:endParaRPr dirty="0"/>
          </a:p>
        </p:txBody>
      </p:sp>
      <p:grpSp>
        <p:nvGrpSpPr>
          <p:cNvPr id="209" name="Google Shape;209;p9"/>
          <p:cNvGrpSpPr/>
          <p:nvPr/>
        </p:nvGrpSpPr>
        <p:grpSpPr>
          <a:xfrm>
            <a:off x="7287054" y="2535813"/>
            <a:ext cx="11569322" cy="1893512"/>
            <a:chOff x="0" y="-149514"/>
            <a:chExt cx="15425762" cy="2524682"/>
          </a:xfrm>
        </p:grpSpPr>
        <p:grpSp>
          <p:nvGrpSpPr>
            <p:cNvPr id="210" name="Google Shape;210;p9"/>
            <p:cNvGrpSpPr/>
            <p:nvPr/>
          </p:nvGrpSpPr>
          <p:grpSpPr>
            <a:xfrm>
              <a:off x="0" y="-149514"/>
              <a:ext cx="15425762" cy="2381833"/>
              <a:chOff x="0" y="-38100"/>
              <a:chExt cx="3930870" cy="606951"/>
            </a:xfrm>
          </p:grpSpPr>
          <p:sp>
            <p:nvSpPr>
              <p:cNvPr id="211" name="Google Shape;211;p9"/>
              <p:cNvSpPr/>
              <p:nvPr/>
            </p:nvSpPr>
            <p:spPr>
              <a:xfrm>
                <a:off x="0" y="0"/>
                <a:ext cx="3930870" cy="568851"/>
              </a:xfrm>
              <a:custGeom>
                <a:avLst/>
                <a:gdLst/>
                <a:ahLst/>
                <a:cxnLst/>
                <a:rect l="l" t="t" r="r" b="b"/>
                <a:pathLst>
                  <a:path w="3930870" h="568851" extrusionOk="0">
                    <a:moveTo>
                      <a:pt x="0" y="0"/>
                    </a:moveTo>
                    <a:lnTo>
                      <a:pt x="3930870" y="0"/>
                    </a:lnTo>
                    <a:lnTo>
                      <a:pt x="3930870" y="568851"/>
                    </a:lnTo>
                    <a:lnTo>
                      <a:pt x="0" y="568851"/>
                    </a:lnTo>
                    <a:close/>
                  </a:path>
                </a:pathLst>
              </a:custGeom>
              <a:solidFill>
                <a:srgbClr val="F1F2F2"/>
              </a:solidFill>
              <a:ln>
                <a:noFill/>
              </a:ln>
            </p:spPr>
            <p:txBody>
              <a:bodyPr/>
              <a:lstStyle/>
              <a:p>
                <a:endParaRPr lang="en-IN"/>
              </a:p>
            </p:txBody>
          </p:sp>
          <p:sp>
            <p:nvSpPr>
              <p:cNvPr id="212" name="Google Shape;212;p9"/>
              <p:cNvSpPr txBox="1"/>
              <p:nvPr/>
            </p:nvSpPr>
            <p:spPr>
              <a:xfrm>
                <a:off x="0" y="-38100"/>
                <a:ext cx="3930870" cy="606951"/>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3" name="Google Shape;213;p9"/>
            <p:cNvSpPr txBox="1"/>
            <p:nvPr/>
          </p:nvSpPr>
          <p:spPr>
            <a:xfrm>
              <a:off x="5954028" y="441068"/>
              <a:ext cx="7478100" cy="1934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80" b="0" i="0" u="none" strike="noStrike" cap="none">
                  <a:solidFill>
                    <a:srgbClr val="000000"/>
                  </a:solidFill>
                  <a:latin typeface="Nunito"/>
                  <a:ea typeface="Nunito"/>
                  <a:cs typeface="Nunito"/>
                  <a:sym typeface="Nunito"/>
                </a:rPr>
                <a:t> Understand user needs and system expectations, considering limitations of existing systems.</a:t>
              </a:r>
              <a:endParaRPr/>
            </a:p>
          </p:txBody>
        </p:sp>
        <p:sp>
          <p:nvSpPr>
            <p:cNvPr id="214" name="Google Shape;214;p9"/>
            <p:cNvSpPr txBox="1"/>
            <p:nvPr/>
          </p:nvSpPr>
          <p:spPr>
            <a:xfrm>
              <a:off x="1340195" y="513968"/>
              <a:ext cx="3436800" cy="129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635" b="0" i="0" u="none" strike="noStrike" cap="none">
                  <a:solidFill>
                    <a:srgbClr val="000000"/>
                  </a:solidFill>
                  <a:latin typeface="Fredoka"/>
                  <a:ea typeface="Fredoka"/>
                  <a:cs typeface="Fredoka"/>
                  <a:sym typeface="Fredoka"/>
                </a:rPr>
                <a:t>REQUIREMENTS ANALYSIS</a:t>
              </a:r>
              <a:endParaRPr/>
            </a:p>
          </p:txBody>
        </p:sp>
        <p:cxnSp>
          <p:nvCxnSpPr>
            <p:cNvPr id="215" name="Google Shape;215;p9"/>
            <p:cNvCxnSpPr/>
            <p:nvPr/>
          </p:nvCxnSpPr>
          <p:spPr>
            <a:xfrm rot="10800000" flipH="1">
              <a:off x="5167687" y="203164"/>
              <a:ext cx="19102" cy="1904747"/>
            </a:xfrm>
            <a:prstGeom prst="straightConnector1">
              <a:avLst/>
            </a:prstGeom>
            <a:noFill/>
            <a:ln w="98425" cap="flat" cmpd="sng">
              <a:solidFill>
                <a:srgbClr val="DDDEDE"/>
              </a:solidFill>
              <a:prstDash val="solid"/>
              <a:round/>
              <a:headEnd type="none" w="sm" len="sm"/>
              <a:tailEnd type="none" w="sm" len="sm"/>
            </a:ln>
          </p:spPr>
        </p:cxnSp>
      </p:grpSp>
      <p:grpSp>
        <p:nvGrpSpPr>
          <p:cNvPr id="216" name="Google Shape;216;p9"/>
          <p:cNvGrpSpPr/>
          <p:nvPr/>
        </p:nvGrpSpPr>
        <p:grpSpPr>
          <a:xfrm>
            <a:off x="7287191" y="4693864"/>
            <a:ext cx="11569322" cy="2040761"/>
            <a:chOff x="0" y="-135733"/>
            <a:chExt cx="15425762" cy="2721014"/>
          </a:xfrm>
        </p:grpSpPr>
        <p:grpSp>
          <p:nvGrpSpPr>
            <p:cNvPr id="217" name="Google Shape;217;p9"/>
            <p:cNvGrpSpPr/>
            <p:nvPr/>
          </p:nvGrpSpPr>
          <p:grpSpPr>
            <a:xfrm>
              <a:off x="0" y="-135733"/>
              <a:ext cx="15425762" cy="2417364"/>
              <a:chOff x="0" y="-38100"/>
              <a:chExt cx="4329978" cy="678549"/>
            </a:xfrm>
          </p:grpSpPr>
          <p:sp>
            <p:nvSpPr>
              <p:cNvPr id="218" name="Google Shape;218;p9"/>
              <p:cNvSpPr/>
              <p:nvPr/>
            </p:nvSpPr>
            <p:spPr>
              <a:xfrm>
                <a:off x="0" y="0"/>
                <a:ext cx="4329978" cy="640449"/>
              </a:xfrm>
              <a:custGeom>
                <a:avLst/>
                <a:gdLst/>
                <a:ahLst/>
                <a:cxnLst/>
                <a:rect l="l" t="t" r="r" b="b"/>
                <a:pathLst>
                  <a:path w="4329978" h="640449" extrusionOk="0">
                    <a:moveTo>
                      <a:pt x="0" y="0"/>
                    </a:moveTo>
                    <a:lnTo>
                      <a:pt x="4329978" y="0"/>
                    </a:lnTo>
                    <a:lnTo>
                      <a:pt x="4329978" y="640449"/>
                    </a:lnTo>
                    <a:lnTo>
                      <a:pt x="0" y="640449"/>
                    </a:lnTo>
                    <a:close/>
                  </a:path>
                </a:pathLst>
              </a:custGeom>
              <a:solidFill>
                <a:srgbClr val="F1F2F2"/>
              </a:solidFill>
              <a:ln>
                <a:noFill/>
              </a:ln>
            </p:spPr>
            <p:txBody>
              <a:bodyPr/>
              <a:lstStyle/>
              <a:p>
                <a:endParaRPr lang="en-IN"/>
              </a:p>
            </p:txBody>
          </p:sp>
          <p:sp>
            <p:nvSpPr>
              <p:cNvPr id="219" name="Google Shape;219;p9"/>
              <p:cNvSpPr txBox="1"/>
              <p:nvPr/>
            </p:nvSpPr>
            <p:spPr>
              <a:xfrm>
                <a:off x="0" y="-38100"/>
                <a:ext cx="4329978" cy="678549"/>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0" name="Google Shape;220;p9"/>
            <p:cNvSpPr txBox="1"/>
            <p:nvPr/>
          </p:nvSpPr>
          <p:spPr>
            <a:xfrm>
              <a:off x="5843512" y="182581"/>
              <a:ext cx="7744800" cy="2402700"/>
            </a:xfrm>
            <a:prstGeom prst="rect">
              <a:avLst/>
            </a:prstGeom>
            <a:noFill/>
            <a:ln>
              <a:noFill/>
            </a:ln>
          </p:spPr>
          <p:txBody>
            <a:bodyPr spcFirstLastPara="1" wrap="square" lIns="0" tIns="0" rIns="0" bIns="0" anchor="t" anchorCtr="0">
              <a:spAutoFit/>
            </a:bodyPr>
            <a:lstStyle/>
            <a:p>
              <a:pPr marL="0" marR="0" lvl="0" indent="0" algn="l" rtl="0">
                <a:lnSpc>
                  <a:spcPct val="140026"/>
                </a:lnSpc>
                <a:spcBef>
                  <a:spcPts val="0"/>
                </a:spcBef>
                <a:spcAft>
                  <a:spcPts val="0"/>
                </a:spcAft>
                <a:buNone/>
              </a:pPr>
              <a:r>
                <a:rPr lang="en-US" sz="2251" b="0" i="0" u="none" strike="noStrike" cap="none">
                  <a:solidFill>
                    <a:srgbClr val="000000"/>
                  </a:solidFill>
                  <a:latin typeface="Nunito"/>
                  <a:ea typeface="Nunito"/>
                  <a:cs typeface="Nunito"/>
                  <a:sym typeface="Nunito"/>
                </a:rPr>
                <a:t>Gather and clean a diverse dataset of website URLs, ensuring representation of both legitimate and phishing sites.</a:t>
              </a:r>
              <a:endParaRPr/>
            </a:p>
            <a:p>
              <a:pPr marL="0" marR="0" lvl="0" indent="0" algn="l" rtl="0">
                <a:lnSpc>
                  <a:spcPct val="140026"/>
                </a:lnSpc>
                <a:spcBef>
                  <a:spcPts val="0"/>
                </a:spcBef>
                <a:spcAft>
                  <a:spcPts val="0"/>
                </a:spcAft>
                <a:buNone/>
              </a:pPr>
              <a:endParaRPr sz="2251" b="0" i="0" u="none" strike="noStrike" cap="none">
                <a:solidFill>
                  <a:srgbClr val="000000"/>
                </a:solidFill>
                <a:latin typeface="Nunito"/>
                <a:ea typeface="Nunito"/>
                <a:cs typeface="Nunito"/>
                <a:sym typeface="Nunito"/>
              </a:endParaRPr>
            </a:p>
          </p:txBody>
        </p:sp>
        <p:sp>
          <p:nvSpPr>
            <p:cNvPr id="221" name="Google Shape;221;p9"/>
            <p:cNvSpPr txBox="1"/>
            <p:nvPr/>
          </p:nvSpPr>
          <p:spPr>
            <a:xfrm>
              <a:off x="976310" y="315581"/>
              <a:ext cx="3800700" cy="1865700"/>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2392" b="0" i="0" u="none" strike="noStrike" cap="none">
                  <a:solidFill>
                    <a:srgbClr val="000000"/>
                  </a:solidFill>
                  <a:latin typeface="Fredoka"/>
                  <a:ea typeface="Fredoka"/>
                  <a:cs typeface="Fredoka"/>
                  <a:sym typeface="Fredoka"/>
                </a:rPr>
                <a:t>DATA COLLECTION AND PREPROCESSING</a:t>
              </a:r>
              <a:endParaRPr/>
            </a:p>
          </p:txBody>
        </p:sp>
        <p:cxnSp>
          <p:nvCxnSpPr>
            <p:cNvPr id="222" name="Google Shape;222;p9"/>
            <p:cNvCxnSpPr/>
            <p:nvPr/>
          </p:nvCxnSpPr>
          <p:spPr>
            <a:xfrm rot="10800000" flipH="1">
              <a:off x="5167687" y="184438"/>
              <a:ext cx="19102" cy="1729180"/>
            </a:xfrm>
            <a:prstGeom prst="straightConnector1">
              <a:avLst/>
            </a:prstGeom>
            <a:noFill/>
            <a:ln w="89350" cap="flat" cmpd="sng">
              <a:solidFill>
                <a:srgbClr val="DDDEDE"/>
              </a:solidFill>
              <a:prstDash val="solid"/>
              <a:round/>
              <a:headEnd type="none" w="sm" len="sm"/>
              <a:tailEnd type="none" w="sm" len="sm"/>
            </a:ln>
          </p:spPr>
        </p:cxnSp>
      </p:grpSp>
      <p:grpSp>
        <p:nvGrpSpPr>
          <p:cNvPr id="223" name="Google Shape;223;p9"/>
          <p:cNvGrpSpPr/>
          <p:nvPr/>
        </p:nvGrpSpPr>
        <p:grpSpPr>
          <a:xfrm>
            <a:off x="7286225" y="7135524"/>
            <a:ext cx="15266118" cy="2079226"/>
            <a:chOff x="0" y="-66498"/>
            <a:chExt cx="20129375" cy="2772301"/>
          </a:xfrm>
        </p:grpSpPr>
        <p:grpSp>
          <p:nvGrpSpPr>
            <p:cNvPr id="224" name="Google Shape;224;p9"/>
            <p:cNvGrpSpPr/>
            <p:nvPr/>
          </p:nvGrpSpPr>
          <p:grpSpPr>
            <a:xfrm>
              <a:off x="0" y="-66498"/>
              <a:ext cx="20129375" cy="2470865"/>
              <a:chOff x="0" y="-19014"/>
              <a:chExt cx="5755642" cy="706500"/>
            </a:xfrm>
          </p:grpSpPr>
          <p:sp>
            <p:nvSpPr>
              <p:cNvPr id="225" name="Google Shape;225;p9"/>
              <p:cNvSpPr/>
              <p:nvPr/>
            </p:nvSpPr>
            <p:spPr>
              <a:xfrm>
                <a:off x="0" y="0"/>
                <a:ext cx="4410726" cy="668469"/>
              </a:xfrm>
              <a:custGeom>
                <a:avLst/>
                <a:gdLst/>
                <a:ahLst/>
                <a:cxnLst/>
                <a:rect l="l" t="t" r="r" b="b"/>
                <a:pathLst>
                  <a:path w="4410726" h="668469" extrusionOk="0">
                    <a:moveTo>
                      <a:pt x="0" y="0"/>
                    </a:moveTo>
                    <a:lnTo>
                      <a:pt x="4410726" y="0"/>
                    </a:lnTo>
                    <a:lnTo>
                      <a:pt x="4410726" y="668469"/>
                    </a:lnTo>
                    <a:lnTo>
                      <a:pt x="0" y="668469"/>
                    </a:lnTo>
                    <a:close/>
                  </a:path>
                </a:pathLst>
              </a:custGeom>
              <a:solidFill>
                <a:srgbClr val="F1F2F2"/>
              </a:solidFill>
              <a:ln>
                <a:noFill/>
              </a:ln>
            </p:spPr>
            <p:txBody>
              <a:bodyPr/>
              <a:lstStyle/>
              <a:p>
                <a:endParaRPr lang="en-IN"/>
              </a:p>
            </p:txBody>
          </p:sp>
          <p:sp>
            <p:nvSpPr>
              <p:cNvPr id="226" name="Google Shape;226;p9"/>
              <p:cNvSpPr txBox="1"/>
              <p:nvPr/>
            </p:nvSpPr>
            <p:spPr>
              <a:xfrm>
                <a:off x="1345042" y="-19014"/>
                <a:ext cx="4410600" cy="706500"/>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7" name="Google Shape;227;p9"/>
            <p:cNvSpPr txBox="1"/>
            <p:nvPr/>
          </p:nvSpPr>
          <p:spPr>
            <a:xfrm>
              <a:off x="6048028" y="347203"/>
              <a:ext cx="7267200" cy="2358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10" b="0" i="0" u="none" strike="noStrike" cap="none">
                  <a:solidFill>
                    <a:srgbClr val="000000"/>
                  </a:solidFill>
                  <a:latin typeface="Nunito"/>
                  <a:ea typeface="Nunito"/>
                  <a:cs typeface="Nunito"/>
                  <a:sym typeface="Nunito"/>
                </a:rPr>
                <a:t>Extract relevant features such as domain age, URL length, and presence of HTTPS, selecting those most indicative of phishing.</a:t>
              </a:r>
              <a:endParaRPr/>
            </a:p>
            <a:p>
              <a:pPr marL="0" marR="0" lvl="0" indent="0" algn="l" rtl="0">
                <a:lnSpc>
                  <a:spcPct val="140000"/>
                </a:lnSpc>
                <a:spcBef>
                  <a:spcPts val="0"/>
                </a:spcBef>
                <a:spcAft>
                  <a:spcPts val="0"/>
                </a:spcAft>
                <a:buNone/>
              </a:pPr>
              <a:endParaRPr sz="2210" b="0" i="0" u="none" strike="noStrike" cap="none">
                <a:solidFill>
                  <a:srgbClr val="000000"/>
                </a:solidFill>
                <a:latin typeface="Nunito"/>
                <a:ea typeface="Nunito"/>
                <a:cs typeface="Nunito"/>
                <a:sym typeface="Nunito"/>
              </a:endParaRPr>
            </a:p>
          </p:txBody>
        </p:sp>
        <p:sp>
          <p:nvSpPr>
            <p:cNvPr id="228" name="Google Shape;228;p9"/>
            <p:cNvSpPr txBox="1"/>
            <p:nvPr/>
          </p:nvSpPr>
          <p:spPr>
            <a:xfrm>
              <a:off x="1071319" y="174603"/>
              <a:ext cx="3632700" cy="1675500"/>
            </a:xfrm>
            <a:prstGeom prst="rect">
              <a:avLst/>
            </a:prstGeom>
            <a:noFill/>
            <a:ln>
              <a:noFill/>
            </a:ln>
          </p:spPr>
          <p:txBody>
            <a:bodyPr spcFirstLastPara="1" wrap="square" lIns="0" tIns="0" rIns="0" bIns="0" anchor="t" anchorCtr="0">
              <a:spAutoFit/>
            </a:bodyPr>
            <a:lstStyle/>
            <a:p>
              <a:pPr marL="0" marR="0" lvl="0" indent="0" algn="l" rtl="0">
                <a:lnSpc>
                  <a:spcPct val="140037"/>
                </a:lnSpc>
                <a:spcBef>
                  <a:spcPts val="0"/>
                </a:spcBef>
                <a:spcAft>
                  <a:spcPts val="0"/>
                </a:spcAft>
                <a:buNone/>
              </a:pPr>
              <a:r>
                <a:rPr lang="en-US" sz="2148" b="0" i="0" u="none" strike="noStrike" cap="none">
                  <a:solidFill>
                    <a:srgbClr val="000000"/>
                  </a:solidFill>
                  <a:latin typeface="Fredoka"/>
                  <a:ea typeface="Fredoka"/>
                  <a:cs typeface="Fredoka"/>
                  <a:sym typeface="Fredoka"/>
                </a:rPr>
                <a:t>FEATURE EXTRACTION AND SELECTION</a:t>
              </a:r>
              <a:endParaRPr/>
            </a:p>
          </p:txBody>
        </p:sp>
        <p:cxnSp>
          <p:nvCxnSpPr>
            <p:cNvPr id="229" name="Google Shape;229;p9"/>
            <p:cNvCxnSpPr/>
            <p:nvPr/>
          </p:nvCxnSpPr>
          <p:spPr>
            <a:xfrm rot="10800000" flipH="1">
              <a:off x="5271016" y="118"/>
              <a:ext cx="19200" cy="1697400"/>
            </a:xfrm>
            <a:prstGeom prst="straightConnector1">
              <a:avLst/>
            </a:prstGeom>
            <a:noFill/>
            <a:ln w="87725" cap="flat" cmpd="sng">
              <a:solidFill>
                <a:srgbClr val="DDDEDE"/>
              </a:solidFill>
              <a:prstDash val="solid"/>
              <a:round/>
              <a:headEnd type="none" w="sm" len="sm"/>
              <a:tailEnd type="none" w="sm" len="sm"/>
            </a:ln>
          </p:spPr>
        </p:cxnSp>
      </p:grpSp>
      <p:sp>
        <p:nvSpPr>
          <p:cNvPr id="230" name="Google Shape;230;p9"/>
          <p:cNvSpPr/>
          <p:nvPr/>
        </p:nvSpPr>
        <p:spPr>
          <a:xfrm>
            <a:off x="-324125" y="1496975"/>
            <a:ext cx="8343550" cy="8705517"/>
          </a:xfrm>
          <a:custGeom>
            <a:avLst/>
            <a:gdLst/>
            <a:ahLst/>
            <a:cxnLst/>
            <a:rect l="l" t="t" r="r" b="b"/>
            <a:pathLst>
              <a:path w="6952958" h="9462518" extrusionOk="0">
                <a:moveTo>
                  <a:pt x="0" y="0"/>
                </a:moveTo>
                <a:lnTo>
                  <a:pt x="6952958" y="0"/>
                </a:lnTo>
                <a:lnTo>
                  <a:pt x="6952958" y="9462518"/>
                </a:lnTo>
                <a:lnTo>
                  <a:pt x="0" y="9462518"/>
                </a:lnTo>
                <a:lnTo>
                  <a:pt x="0" y="0"/>
                </a:lnTo>
                <a:close/>
              </a:path>
            </a:pathLst>
          </a:custGeom>
          <a:blipFill rotWithShape="1">
            <a:blip r:embed="rId6">
              <a:alphaModFix/>
            </a:blip>
            <a:stretch>
              <a:fillRect/>
            </a:stretch>
          </a:blipFill>
          <a:ln>
            <a:noFill/>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grpSp>
        <p:nvGrpSpPr>
          <p:cNvPr id="235" name="Google Shape;235;p10"/>
          <p:cNvGrpSpPr/>
          <p:nvPr/>
        </p:nvGrpSpPr>
        <p:grpSpPr>
          <a:xfrm>
            <a:off x="-1109662" y="0"/>
            <a:ext cx="20507325" cy="10287000"/>
            <a:chOff x="0" y="0"/>
            <a:chExt cx="27343100" cy="13716000"/>
          </a:xfrm>
        </p:grpSpPr>
        <p:sp>
          <p:nvSpPr>
            <p:cNvPr id="236" name="Google Shape;236;p10"/>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237" name="Google Shape;237;p10"/>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238" name="Google Shape;238;p10"/>
          <p:cNvGrpSpPr/>
          <p:nvPr/>
        </p:nvGrpSpPr>
        <p:grpSpPr>
          <a:xfrm>
            <a:off x="4044233" y="151948"/>
            <a:ext cx="9700045" cy="1938664"/>
            <a:chOff x="0" y="-57150"/>
            <a:chExt cx="2554744" cy="510594"/>
          </a:xfrm>
        </p:grpSpPr>
        <p:sp>
          <p:nvSpPr>
            <p:cNvPr id="239" name="Google Shape;239;p10"/>
            <p:cNvSpPr/>
            <p:nvPr/>
          </p:nvSpPr>
          <p:spPr>
            <a:xfrm>
              <a:off x="0" y="0"/>
              <a:ext cx="2554744" cy="453444"/>
            </a:xfrm>
            <a:custGeom>
              <a:avLst/>
              <a:gdLst/>
              <a:ahLst/>
              <a:cxnLst/>
              <a:rect l="l" t="t" r="r" b="b"/>
              <a:pathLst>
                <a:path w="2554744" h="453444" extrusionOk="0">
                  <a:moveTo>
                    <a:pt x="0" y="0"/>
                  </a:moveTo>
                  <a:lnTo>
                    <a:pt x="2554744" y="0"/>
                  </a:lnTo>
                  <a:lnTo>
                    <a:pt x="2554744" y="453444"/>
                  </a:lnTo>
                  <a:lnTo>
                    <a:pt x="0" y="453444"/>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240" name="Google Shape;240;p10"/>
            <p:cNvSpPr txBox="1"/>
            <p:nvPr/>
          </p:nvSpPr>
          <p:spPr>
            <a:xfrm>
              <a:off x="0" y="-57150"/>
              <a:ext cx="2554744" cy="51059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1" name="Google Shape;241;p10"/>
          <p:cNvSpPr/>
          <p:nvPr/>
        </p:nvSpPr>
        <p:spPr>
          <a:xfrm rot="-1536545" flipH="1">
            <a:off x="16487867" y="-61854"/>
            <a:ext cx="2537840" cy="2297899"/>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sp>
        <p:nvSpPr>
          <p:cNvPr id="242" name="Google Shape;242;p10"/>
          <p:cNvSpPr txBox="1"/>
          <p:nvPr/>
        </p:nvSpPr>
        <p:spPr>
          <a:xfrm>
            <a:off x="4543721" y="584891"/>
            <a:ext cx="9200700" cy="924600"/>
          </a:xfrm>
          <a:prstGeom prst="rect">
            <a:avLst/>
          </a:prstGeom>
          <a:noFill/>
          <a:ln>
            <a:noFill/>
          </a:ln>
        </p:spPr>
        <p:txBody>
          <a:bodyPr spcFirstLastPara="1" wrap="square" lIns="0" tIns="0" rIns="0" bIns="0" anchor="t" anchorCtr="0">
            <a:spAutoFit/>
          </a:bodyPr>
          <a:lstStyle/>
          <a:p>
            <a:pPr marL="0" marR="0" lvl="0" indent="0" algn="ctr" rtl="0">
              <a:lnSpc>
                <a:spcPct val="140003"/>
              </a:lnSpc>
              <a:spcBef>
                <a:spcPts val="0"/>
              </a:spcBef>
              <a:spcAft>
                <a:spcPts val="0"/>
              </a:spcAft>
              <a:buNone/>
            </a:pPr>
            <a:r>
              <a:rPr lang="en-US" sz="6007" b="1">
                <a:latin typeface="Fredoka"/>
                <a:ea typeface="Fredoka"/>
                <a:cs typeface="Fredoka"/>
                <a:sym typeface="Fredoka"/>
              </a:rPr>
              <a:t>BLOCK DIAGRAM</a:t>
            </a:r>
            <a:r>
              <a:rPr lang="en-US" sz="6007" b="1" i="0" u="none" strike="noStrike" cap="none">
                <a:solidFill>
                  <a:srgbClr val="000000"/>
                </a:solidFill>
                <a:latin typeface="Fredoka"/>
                <a:ea typeface="Fredoka"/>
                <a:cs typeface="Fredoka"/>
                <a:sym typeface="Fredoka"/>
              </a:rPr>
              <a:t> </a:t>
            </a:r>
            <a:endParaRPr/>
          </a:p>
        </p:txBody>
      </p:sp>
      <p:sp>
        <p:nvSpPr>
          <p:cNvPr id="243" name="Google Shape;243;p10"/>
          <p:cNvSpPr/>
          <p:nvPr/>
        </p:nvSpPr>
        <p:spPr>
          <a:xfrm rot="9999176" flipH="1">
            <a:off x="-1316676" y="1716564"/>
            <a:ext cx="2537840" cy="2297899"/>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grpSp>
        <p:nvGrpSpPr>
          <p:cNvPr id="244" name="Google Shape;244;p10"/>
          <p:cNvGrpSpPr/>
          <p:nvPr/>
        </p:nvGrpSpPr>
        <p:grpSpPr>
          <a:xfrm>
            <a:off x="1452123" y="2052021"/>
            <a:ext cx="15383753" cy="2648695"/>
            <a:chOff x="0" y="-57150"/>
            <a:chExt cx="4051688" cy="697599"/>
          </a:xfrm>
        </p:grpSpPr>
        <p:sp>
          <p:nvSpPr>
            <p:cNvPr id="245" name="Google Shape;245;p10"/>
            <p:cNvSpPr/>
            <p:nvPr/>
          </p:nvSpPr>
          <p:spPr>
            <a:xfrm>
              <a:off x="0" y="0"/>
              <a:ext cx="4051688" cy="640449"/>
            </a:xfrm>
            <a:custGeom>
              <a:avLst/>
              <a:gdLst/>
              <a:ahLst/>
              <a:cxnLst/>
              <a:rect l="l" t="t" r="r" b="b"/>
              <a:pathLst>
                <a:path w="4051688" h="640449" extrusionOk="0">
                  <a:moveTo>
                    <a:pt x="0" y="0"/>
                  </a:moveTo>
                  <a:lnTo>
                    <a:pt x="4051688" y="0"/>
                  </a:lnTo>
                  <a:lnTo>
                    <a:pt x="4051688" y="640449"/>
                  </a:lnTo>
                  <a:lnTo>
                    <a:pt x="0" y="640449"/>
                  </a:lnTo>
                  <a:close/>
                </a:path>
              </a:pathLst>
            </a:custGeom>
            <a:solidFill>
              <a:srgbClr val="F1F2F2"/>
            </a:solidFill>
            <a:ln>
              <a:noFill/>
            </a:ln>
          </p:spPr>
          <p:txBody>
            <a:bodyPr/>
            <a:lstStyle/>
            <a:p>
              <a:endParaRPr lang="en-IN"/>
            </a:p>
          </p:txBody>
        </p:sp>
        <p:sp>
          <p:nvSpPr>
            <p:cNvPr id="246" name="Google Shape;246;p10"/>
            <p:cNvSpPr txBox="1"/>
            <p:nvPr/>
          </p:nvSpPr>
          <p:spPr>
            <a:xfrm>
              <a:off x="0" y="-57150"/>
              <a:ext cx="4051688" cy="69759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7" name="Google Shape;247;p10"/>
          <p:cNvSpPr txBox="1"/>
          <p:nvPr/>
        </p:nvSpPr>
        <p:spPr>
          <a:xfrm>
            <a:off x="7092408" y="2634916"/>
            <a:ext cx="9479419" cy="16617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dirty="0">
                <a:solidFill>
                  <a:srgbClr val="000000"/>
                </a:solidFill>
                <a:latin typeface="Nunito"/>
                <a:ea typeface="Nunito"/>
                <a:cs typeface="Nunito"/>
                <a:sym typeface="Nunito"/>
              </a:rPr>
              <a:t>Choose algorithms like Logistic Regression and XG Boost, train models on the dataset, and optimize parameters through techniques like cross-validation.</a:t>
            </a:r>
            <a:endParaRPr dirty="0"/>
          </a:p>
        </p:txBody>
      </p:sp>
      <p:sp>
        <p:nvSpPr>
          <p:cNvPr id="248" name="Google Shape;248;p10"/>
          <p:cNvSpPr txBox="1"/>
          <p:nvPr/>
        </p:nvSpPr>
        <p:spPr>
          <a:xfrm>
            <a:off x="1983452" y="2900664"/>
            <a:ext cx="4232454" cy="11709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400" b="0" i="0" u="none" strike="noStrike" cap="none" dirty="0">
                <a:solidFill>
                  <a:srgbClr val="000000"/>
                </a:solidFill>
                <a:latin typeface="Fredoka"/>
                <a:ea typeface="Fredoka"/>
                <a:cs typeface="Fredoka"/>
                <a:sym typeface="Fredoka"/>
              </a:rPr>
              <a:t>MODEL SELECTION AND TRAINING</a:t>
            </a:r>
            <a:endParaRPr dirty="0"/>
          </a:p>
        </p:txBody>
      </p:sp>
      <p:cxnSp>
        <p:nvCxnSpPr>
          <p:cNvPr id="249" name="Google Shape;249;p10"/>
          <p:cNvCxnSpPr/>
          <p:nvPr/>
        </p:nvCxnSpPr>
        <p:spPr>
          <a:xfrm rot="10800000" flipH="1">
            <a:off x="6605737" y="2611031"/>
            <a:ext cx="19050" cy="1842916"/>
          </a:xfrm>
          <a:prstGeom prst="straightConnector1">
            <a:avLst/>
          </a:prstGeom>
          <a:noFill/>
          <a:ln w="95250" cap="flat" cmpd="sng">
            <a:solidFill>
              <a:srgbClr val="DDDEDE"/>
            </a:solidFill>
            <a:prstDash val="solid"/>
            <a:round/>
            <a:headEnd type="none" w="sm" len="sm"/>
            <a:tailEnd type="none" w="sm" len="sm"/>
          </a:ln>
        </p:spPr>
      </p:cxnSp>
      <p:grpSp>
        <p:nvGrpSpPr>
          <p:cNvPr id="250" name="Google Shape;250;p10"/>
          <p:cNvGrpSpPr/>
          <p:nvPr/>
        </p:nvGrpSpPr>
        <p:grpSpPr>
          <a:xfrm>
            <a:off x="1452123" y="4681175"/>
            <a:ext cx="15542761" cy="2648695"/>
            <a:chOff x="0" y="-57150"/>
            <a:chExt cx="4093567" cy="697599"/>
          </a:xfrm>
        </p:grpSpPr>
        <p:sp>
          <p:nvSpPr>
            <p:cNvPr id="251" name="Google Shape;251;p10"/>
            <p:cNvSpPr/>
            <p:nvPr/>
          </p:nvSpPr>
          <p:spPr>
            <a:xfrm>
              <a:off x="0" y="0"/>
              <a:ext cx="4093567" cy="640449"/>
            </a:xfrm>
            <a:custGeom>
              <a:avLst/>
              <a:gdLst/>
              <a:ahLst/>
              <a:cxnLst/>
              <a:rect l="l" t="t" r="r" b="b"/>
              <a:pathLst>
                <a:path w="4093567" h="640449" extrusionOk="0">
                  <a:moveTo>
                    <a:pt x="0" y="0"/>
                  </a:moveTo>
                  <a:lnTo>
                    <a:pt x="4093567" y="0"/>
                  </a:lnTo>
                  <a:lnTo>
                    <a:pt x="4093567" y="640449"/>
                  </a:lnTo>
                  <a:lnTo>
                    <a:pt x="0" y="640449"/>
                  </a:lnTo>
                  <a:close/>
                </a:path>
              </a:pathLst>
            </a:custGeom>
            <a:solidFill>
              <a:srgbClr val="F1F2F2"/>
            </a:solidFill>
            <a:ln>
              <a:noFill/>
            </a:ln>
          </p:spPr>
          <p:txBody>
            <a:bodyPr/>
            <a:lstStyle/>
            <a:p>
              <a:endParaRPr lang="en-IN"/>
            </a:p>
          </p:txBody>
        </p:sp>
        <p:sp>
          <p:nvSpPr>
            <p:cNvPr id="252" name="Google Shape;252;p10"/>
            <p:cNvSpPr txBox="1"/>
            <p:nvPr/>
          </p:nvSpPr>
          <p:spPr>
            <a:xfrm>
              <a:off x="0" y="-57150"/>
              <a:ext cx="4093567" cy="69759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3" name="Google Shape;253;p10"/>
          <p:cNvSpPr txBox="1"/>
          <p:nvPr/>
        </p:nvSpPr>
        <p:spPr>
          <a:xfrm>
            <a:off x="6952549" y="4979516"/>
            <a:ext cx="9979575" cy="22237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a:solidFill>
                  <a:srgbClr val="000000"/>
                </a:solidFill>
                <a:latin typeface="Nunito"/>
                <a:ea typeface="Nunito"/>
                <a:cs typeface="Nunito"/>
                <a:sym typeface="Nunito"/>
              </a:rPr>
              <a:t>Assess model performance using metrics like accuracy, precision, recall, and F1-score, ensuring a comprehensive understanding of detection capabilities.</a:t>
            </a:r>
            <a:endParaRPr/>
          </a:p>
          <a:p>
            <a:pPr marL="0" marR="0" lvl="0" indent="0" algn="l" rtl="0">
              <a:lnSpc>
                <a:spcPct val="140000"/>
              </a:lnSpc>
              <a:spcBef>
                <a:spcPts val="0"/>
              </a:spcBef>
              <a:spcAft>
                <a:spcPts val="0"/>
              </a:spcAft>
              <a:buNone/>
            </a:pPr>
            <a:endParaRPr sz="3200" b="0" i="0" u="none" strike="noStrike" cap="none">
              <a:solidFill>
                <a:srgbClr val="000000"/>
              </a:solidFill>
              <a:latin typeface="Nunito"/>
              <a:ea typeface="Nunito"/>
              <a:cs typeface="Nunito"/>
              <a:sym typeface="Nunito"/>
            </a:endParaRPr>
          </a:p>
        </p:txBody>
      </p:sp>
      <p:sp>
        <p:nvSpPr>
          <p:cNvPr id="254" name="Google Shape;254;p10"/>
          <p:cNvSpPr txBox="1"/>
          <p:nvPr/>
        </p:nvSpPr>
        <p:spPr>
          <a:xfrm>
            <a:off x="1802473" y="5482194"/>
            <a:ext cx="4413433" cy="11709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400" b="0" i="0" u="none" strike="noStrike" cap="none">
                <a:solidFill>
                  <a:srgbClr val="000000"/>
                </a:solidFill>
                <a:latin typeface="Fredoka"/>
                <a:ea typeface="Fredoka"/>
                <a:cs typeface="Fredoka"/>
                <a:sym typeface="Fredoka"/>
              </a:rPr>
              <a:t>EVALUATION METRICS</a:t>
            </a:r>
            <a:endParaRPr/>
          </a:p>
        </p:txBody>
      </p:sp>
      <p:cxnSp>
        <p:nvCxnSpPr>
          <p:cNvPr id="255" name="Google Shape;255;p10"/>
          <p:cNvCxnSpPr/>
          <p:nvPr/>
        </p:nvCxnSpPr>
        <p:spPr>
          <a:xfrm rot="10800000" flipH="1">
            <a:off x="6605737" y="5094736"/>
            <a:ext cx="19050" cy="1842916"/>
          </a:xfrm>
          <a:prstGeom prst="straightConnector1">
            <a:avLst/>
          </a:prstGeom>
          <a:noFill/>
          <a:ln w="95250" cap="flat" cmpd="sng">
            <a:solidFill>
              <a:srgbClr val="DDDEDE"/>
            </a:solidFill>
            <a:prstDash val="solid"/>
            <a:round/>
            <a:headEnd type="none" w="sm" len="sm"/>
            <a:tailEnd type="none" w="sm" len="sm"/>
          </a:ln>
        </p:spPr>
      </p:cxnSp>
      <p:grpSp>
        <p:nvGrpSpPr>
          <p:cNvPr id="256" name="Google Shape;256;p10"/>
          <p:cNvGrpSpPr/>
          <p:nvPr/>
        </p:nvGrpSpPr>
        <p:grpSpPr>
          <a:xfrm>
            <a:off x="1452123" y="7389104"/>
            <a:ext cx="15383753" cy="2755087"/>
            <a:chOff x="0" y="-57150"/>
            <a:chExt cx="4051688" cy="725619"/>
          </a:xfrm>
        </p:grpSpPr>
        <p:sp>
          <p:nvSpPr>
            <p:cNvPr id="257" name="Google Shape;257;p10"/>
            <p:cNvSpPr/>
            <p:nvPr/>
          </p:nvSpPr>
          <p:spPr>
            <a:xfrm>
              <a:off x="0" y="0"/>
              <a:ext cx="4051688" cy="668469"/>
            </a:xfrm>
            <a:custGeom>
              <a:avLst/>
              <a:gdLst/>
              <a:ahLst/>
              <a:cxnLst/>
              <a:rect l="l" t="t" r="r" b="b"/>
              <a:pathLst>
                <a:path w="4051688" h="668469" extrusionOk="0">
                  <a:moveTo>
                    <a:pt x="0" y="0"/>
                  </a:moveTo>
                  <a:lnTo>
                    <a:pt x="4051688" y="0"/>
                  </a:lnTo>
                  <a:lnTo>
                    <a:pt x="4051688" y="668469"/>
                  </a:lnTo>
                  <a:lnTo>
                    <a:pt x="0" y="668469"/>
                  </a:lnTo>
                  <a:close/>
                </a:path>
              </a:pathLst>
            </a:custGeom>
            <a:solidFill>
              <a:srgbClr val="F1F2F2"/>
            </a:solidFill>
            <a:ln>
              <a:noFill/>
            </a:ln>
          </p:spPr>
          <p:txBody>
            <a:bodyPr/>
            <a:lstStyle/>
            <a:p>
              <a:endParaRPr lang="en-IN"/>
            </a:p>
          </p:txBody>
        </p:sp>
        <p:sp>
          <p:nvSpPr>
            <p:cNvPr id="258" name="Google Shape;258;p10"/>
            <p:cNvSpPr txBox="1"/>
            <p:nvPr/>
          </p:nvSpPr>
          <p:spPr>
            <a:xfrm>
              <a:off x="0" y="-57150"/>
              <a:ext cx="4051688" cy="72561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9" name="Google Shape;259;p10"/>
          <p:cNvSpPr txBox="1"/>
          <p:nvPr/>
        </p:nvSpPr>
        <p:spPr>
          <a:xfrm>
            <a:off x="7389944" y="7920421"/>
            <a:ext cx="9104784" cy="16617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a:solidFill>
                  <a:srgbClr val="000000"/>
                </a:solidFill>
                <a:latin typeface="Nunito"/>
                <a:ea typeface="Nunito"/>
                <a:cs typeface="Nunito"/>
                <a:sym typeface="Nunito"/>
              </a:rPr>
              <a:t>Design an intuitive interface for user interaction, allowing seamless input of URLs and clear display of detection results.</a:t>
            </a:r>
            <a:endParaRPr/>
          </a:p>
        </p:txBody>
      </p:sp>
      <p:sp>
        <p:nvSpPr>
          <p:cNvPr id="260" name="Google Shape;260;p10"/>
          <p:cNvSpPr txBox="1"/>
          <p:nvPr/>
        </p:nvSpPr>
        <p:spPr>
          <a:xfrm>
            <a:off x="1802473" y="8139496"/>
            <a:ext cx="4156254" cy="11709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400" b="0" i="0" u="none" strike="noStrike" cap="none">
                <a:solidFill>
                  <a:srgbClr val="000000"/>
                </a:solidFill>
                <a:latin typeface="Fredoka"/>
                <a:ea typeface="Fredoka"/>
                <a:cs typeface="Fredoka"/>
                <a:sym typeface="Fredoka"/>
              </a:rPr>
              <a:t>USER INTERFACE DEVELOPMENT</a:t>
            </a:r>
            <a:endParaRPr/>
          </a:p>
        </p:txBody>
      </p:sp>
      <p:cxnSp>
        <p:nvCxnSpPr>
          <p:cNvPr id="261" name="Google Shape;261;p10"/>
          <p:cNvCxnSpPr/>
          <p:nvPr/>
        </p:nvCxnSpPr>
        <p:spPr>
          <a:xfrm rot="10800000" flipH="1">
            <a:off x="6605737" y="7802665"/>
            <a:ext cx="19050" cy="1842916"/>
          </a:xfrm>
          <a:prstGeom prst="straightConnector1">
            <a:avLst/>
          </a:prstGeom>
          <a:noFill/>
          <a:ln w="95250" cap="flat" cmpd="sng">
            <a:solidFill>
              <a:srgbClr val="DDDEDE"/>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grpSp>
        <p:nvGrpSpPr>
          <p:cNvPr id="266" name="Google Shape;266;p13"/>
          <p:cNvGrpSpPr/>
          <p:nvPr/>
        </p:nvGrpSpPr>
        <p:grpSpPr>
          <a:xfrm>
            <a:off x="-1119188" y="0"/>
            <a:ext cx="20507325" cy="10287000"/>
            <a:chOff x="0" y="0"/>
            <a:chExt cx="27343100" cy="13716000"/>
          </a:xfrm>
        </p:grpSpPr>
        <p:sp>
          <p:nvSpPr>
            <p:cNvPr id="267" name="Google Shape;267;p13"/>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268" name="Google Shape;268;p13"/>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269" name="Google Shape;269;p13"/>
          <p:cNvGrpSpPr/>
          <p:nvPr/>
        </p:nvGrpSpPr>
        <p:grpSpPr>
          <a:xfrm>
            <a:off x="4771756" y="336159"/>
            <a:ext cx="8725438" cy="2319824"/>
            <a:chOff x="0" y="-57150"/>
            <a:chExt cx="2298058" cy="610982"/>
          </a:xfrm>
        </p:grpSpPr>
        <p:sp>
          <p:nvSpPr>
            <p:cNvPr id="270" name="Google Shape;270;p13"/>
            <p:cNvSpPr/>
            <p:nvPr/>
          </p:nvSpPr>
          <p:spPr>
            <a:xfrm>
              <a:off x="0" y="0"/>
              <a:ext cx="2298058" cy="553832"/>
            </a:xfrm>
            <a:custGeom>
              <a:avLst/>
              <a:gdLst/>
              <a:ahLst/>
              <a:cxnLst/>
              <a:rect l="l" t="t" r="r" b="b"/>
              <a:pathLst>
                <a:path w="2298058" h="553832" extrusionOk="0">
                  <a:moveTo>
                    <a:pt x="0" y="0"/>
                  </a:moveTo>
                  <a:lnTo>
                    <a:pt x="2298058" y="0"/>
                  </a:lnTo>
                  <a:lnTo>
                    <a:pt x="2298058" y="553832"/>
                  </a:lnTo>
                  <a:lnTo>
                    <a:pt x="0" y="553832"/>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271" name="Google Shape;271;p13"/>
            <p:cNvSpPr txBox="1"/>
            <p:nvPr/>
          </p:nvSpPr>
          <p:spPr>
            <a:xfrm>
              <a:off x="0" y="-57150"/>
              <a:ext cx="2298058" cy="61098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2" name="Google Shape;272;p13"/>
          <p:cNvSpPr/>
          <p:nvPr/>
        </p:nvSpPr>
        <p:spPr>
          <a:xfrm>
            <a:off x="-815744" y="-688896"/>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273" name="Google Shape;273;p13"/>
          <p:cNvSpPr/>
          <p:nvPr/>
        </p:nvSpPr>
        <p:spPr>
          <a:xfrm flipH="1">
            <a:off x="15561698" y="480251"/>
            <a:ext cx="3395204" cy="1049427"/>
          </a:xfrm>
          <a:custGeom>
            <a:avLst/>
            <a:gdLst/>
            <a:ahLst/>
            <a:cxnLst/>
            <a:rect l="l" t="t" r="r" b="b"/>
            <a:pathLst>
              <a:path w="3395204" h="1049427" extrusionOk="0">
                <a:moveTo>
                  <a:pt x="3395204" y="0"/>
                </a:moveTo>
                <a:lnTo>
                  <a:pt x="0" y="0"/>
                </a:lnTo>
                <a:lnTo>
                  <a:pt x="0" y="1049427"/>
                </a:lnTo>
                <a:lnTo>
                  <a:pt x="3395204" y="1049427"/>
                </a:lnTo>
                <a:lnTo>
                  <a:pt x="3395204" y="0"/>
                </a:lnTo>
                <a:close/>
              </a:path>
            </a:pathLst>
          </a:custGeom>
          <a:blipFill rotWithShape="1">
            <a:blip r:embed="rId5">
              <a:alphaModFix/>
            </a:blip>
            <a:stretch>
              <a:fillRect/>
            </a:stretch>
          </a:blipFill>
          <a:ln>
            <a:noFill/>
          </a:ln>
        </p:spPr>
        <p:txBody>
          <a:bodyPr/>
          <a:lstStyle/>
          <a:p>
            <a:endParaRPr lang="en-IN"/>
          </a:p>
        </p:txBody>
      </p:sp>
      <p:sp>
        <p:nvSpPr>
          <p:cNvPr id="274" name="Google Shape;274;p13"/>
          <p:cNvSpPr txBox="1"/>
          <p:nvPr/>
        </p:nvSpPr>
        <p:spPr>
          <a:xfrm>
            <a:off x="3314857" y="677467"/>
            <a:ext cx="10764598" cy="174942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000000"/>
                </a:solidFill>
                <a:latin typeface="Fredoka"/>
                <a:ea typeface="Fredoka"/>
                <a:cs typeface="Fredoka"/>
                <a:sym typeface="Fredoka"/>
              </a:rPr>
              <a:t>HARDWARE </a:t>
            </a:r>
            <a:endParaRPr/>
          </a:p>
          <a:p>
            <a:pPr marL="0" marR="0" lvl="0" indent="0" algn="ctr" rtl="0">
              <a:lnSpc>
                <a:spcPct val="140000"/>
              </a:lnSpc>
              <a:spcBef>
                <a:spcPts val="0"/>
              </a:spcBef>
              <a:spcAft>
                <a:spcPts val="0"/>
              </a:spcAft>
              <a:buNone/>
            </a:pPr>
            <a:r>
              <a:rPr lang="en-US" sz="5000" b="1" i="0" u="none" strike="noStrike" cap="none">
                <a:solidFill>
                  <a:srgbClr val="000000"/>
                </a:solidFill>
                <a:latin typeface="Fredoka"/>
                <a:ea typeface="Fredoka"/>
                <a:cs typeface="Fredoka"/>
                <a:sym typeface="Fredoka"/>
              </a:rPr>
              <a:t>REQUIREMENTS</a:t>
            </a:r>
            <a:endParaRPr/>
          </a:p>
        </p:txBody>
      </p:sp>
      <p:sp>
        <p:nvSpPr>
          <p:cNvPr id="275" name="Google Shape;275;p13"/>
          <p:cNvSpPr txBox="1"/>
          <p:nvPr/>
        </p:nvSpPr>
        <p:spPr>
          <a:xfrm>
            <a:off x="1510980" y="3853814"/>
            <a:ext cx="8395699" cy="1289686"/>
          </a:xfrm>
          <a:prstGeom prst="rect">
            <a:avLst/>
          </a:prstGeom>
          <a:noFill/>
          <a:ln>
            <a:noFill/>
          </a:ln>
        </p:spPr>
        <p:txBody>
          <a:bodyPr spcFirstLastPara="1" wrap="square" lIns="0" tIns="0" rIns="0" bIns="0" anchor="t" anchorCtr="0">
            <a:spAutoFit/>
          </a:bodyPr>
          <a:lstStyle/>
          <a:p>
            <a:pPr marL="820409" marR="0" lvl="1" indent="-410205" algn="just" rtl="0">
              <a:lnSpc>
                <a:spcPct val="140010"/>
              </a:lnSpc>
              <a:spcBef>
                <a:spcPts val="0"/>
              </a:spcBef>
              <a:spcAft>
                <a:spcPts val="0"/>
              </a:spcAft>
              <a:buClr>
                <a:srgbClr val="000000"/>
              </a:buClr>
              <a:buSzPts val="3799"/>
              <a:buFont typeface="Arial"/>
              <a:buChar char="•"/>
            </a:pPr>
            <a:r>
              <a:rPr lang="en-US" sz="3799" b="1" i="0" u="none" strike="noStrike" cap="none">
                <a:solidFill>
                  <a:srgbClr val="000000"/>
                </a:solidFill>
                <a:latin typeface="Poppins"/>
                <a:ea typeface="Poppins"/>
                <a:cs typeface="Poppins"/>
                <a:sym typeface="Poppins"/>
              </a:rPr>
              <a:t>CPU</a:t>
            </a:r>
            <a:endParaRPr/>
          </a:p>
          <a:p>
            <a:pPr marL="0" marR="0" lvl="0" indent="0" algn="just" rtl="0">
              <a:lnSpc>
                <a:spcPct val="140011"/>
              </a:lnSpc>
              <a:spcBef>
                <a:spcPts val="0"/>
              </a:spcBef>
              <a:spcAft>
                <a:spcPts val="0"/>
              </a:spcAft>
              <a:buNone/>
            </a:pPr>
            <a:r>
              <a:rPr lang="en-US" sz="3399" b="1" i="0" u="none" strike="noStrike" cap="none">
                <a:solidFill>
                  <a:srgbClr val="000000"/>
                </a:solidFill>
                <a:latin typeface="Poppins"/>
                <a:ea typeface="Poppins"/>
                <a:cs typeface="Poppins"/>
                <a:sym typeface="Poppins"/>
              </a:rPr>
              <a:t>       </a:t>
            </a:r>
            <a:r>
              <a:rPr lang="en-US" sz="3399" b="0" i="0" u="none" strike="noStrike" cap="none">
                <a:solidFill>
                  <a:srgbClr val="000000"/>
                </a:solidFill>
                <a:latin typeface="Poppins"/>
                <a:ea typeface="Poppins"/>
                <a:cs typeface="Poppins"/>
                <a:sym typeface="Poppins"/>
              </a:rPr>
              <a:t>Processor: Intel Core i5 or Ryzen 5</a:t>
            </a:r>
            <a:endParaRPr/>
          </a:p>
        </p:txBody>
      </p:sp>
      <p:sp>
        <p:nvSpPr>
          <p:cNvPr id="276" name="Google Shape;276;p13"/>
          <p:cNvSpPr txBox="1"/>
          <p:nvPr/>
        </p:nvSpPr>
        <p:spPr>
          <a:xfrm>
            <a:off x="1309231" y="5386034"/>
            <a:ext cx="11040324" cy="1289685"/>
          </a:xfrm>
          <a:prstGeom prst="rect">
            <a:avLst/>
          </a:prstGeom>
          <a:noFill/>
          <a:ln>
            <a:noFill/>
          </a:ln>
        </p:spPr>
        <p:txBody>
          <a:bodyPr spcFirstLastPara="1" wrap="square" lIns="0" tIns="0" rIns="0" bIns="0" anchor="t" anchorCtr="0">
            <a:spAutoFit/>
          </a:bodyPr>
          <a:lstStyle/>
          <a:p>
            <a:pPr marL="863599" marR="0" lvl="1" indent="-431800" algn="l" rtl="0">
              <a:lnSpc>
                <a:spcPct val="140010"/>
              </a:lnSpc>
              <a:spcBef>
                <a:spcPts val="0"/>
              </a:spcBef>
              <a:spcAft>
                <a:spcPts val="0"/>
              </a:spcAft>
              <a:buClr>
                <a:srgbClr val="000000"/>
              </a:buClr>
              <a:buSzPts val="3999"/>
              <a:buFont typeface="Arial"/>
              <a:buChar char="•"/>
            </a:pPr>
            <a:r>
              <a:rPr lang="en-US" sz="3999" b="1" i="0" u="none" strike="noStrike" cap="none">
                <a:solidFill>
                  <a:srgbClr val="000000"/>
                </a:solidFill>
                <a:latin typeface="Poppins"/>
                <a:ea typeface="Poppins"/>
                <a:cs typeface="Poppins"/>
                <a:sym typeface="Poppins"/>
              </a:rPr>
              <a:t>GPU</a:t>
            </a:r>
            <a:endParaRPr/>
          </a:p>
          <a:p>
            <a:pPr marL="0" marR="0" lvl="0" indent="0" algn="l" rtl="0">
              <a:lnSpc>
                <a:spcPct val="140000"/>
              </a:lnSpc>
              <a:spcBef>
                <a:spcPts val="0"/>
              </a:spcBef>
              <a:spcAft>
                <a:spcPts val="0"/>
              </a:spcAft>
              <a:buNone/>
            </a:pPr>
            <a:r>
              <a:rPr lang="en-US" sz="3200" b="0" i="0" u="none" strike="noStrike" cap="none">
                <a:solidFill>
                  <a:srgbClr val="000000"/>
                </a:solidFill>
                <a:latin typeface="Poppins"/>
                <a:ea typeface="Poppins"/>
                <a:cs typeface="Poppins"/>
                <a:sym typeface="Poppins"/>
              </a:rPr>
              <a:t>        Graphics: NVIDIA Graphics , Radeon Graphics </a:t>
            </a:r>
            <a:endParaRPr/>
          </a:p>
        </p:txBody>
      </p:sp>
      <p:sp>
        <p:nvSpPr>
          <p:cNvPr id="277" name="Google Shape;277;p13"/>
          <p:cNvSpPr txBox="1"/>
          <p:nvPr/>
        </p:nvSpPr>
        <p:spPr>
          <a:xfrm>
            <a:off x="1309231" y="6942419"/>
            <a:ext cx="10181651" cy="2413635"/>
          </a:xfrm>
          <a:prstGeom prst="rect">
            <a:avLst/>
          </a:prstGeom>
          <a:noFill/>
          <a:ln>
            <a:noFill/>
          </a:ln>
        </p:spPr>
        <p:txBody>
          <a:bodyPr spcFirstLastPara="1" wrap="square" lIns="0" tIns="0" rIns="0" bIns="0" anchor="t" anchorCtr="0">
            <a:spAutoFit/>
          </a:bodyPr>
          <a:lstStyle/>
          <a:p>
            <a:pPr marL="863599" marR="0" lvl="1" indent="-431800" algn="l" rtl="0">
              <a:lnSpc>
                <a:spcPct val="140010"/>
              </a:lnSpc>
              <a:spcBef>
                <a:spcPts val="0"/>
              </a:spcBef>
              <a:spcAft>
                <a:spcPts val="0"/>
              </a:spcAft>
              <a:buClr>
                <a:srgbClr val="000000"/>
              </a:buClr>
              <a:buSzPts val="3999"/>
              <a:buFont typeface="Arial"/>
              <a:buChar char="•"/>
            </a:pPr>
            <a:r>
              <a:rPr lang="en-US" sz="3999" b="1" i="0" u="none" strike="noStrike" cap="none">
                <a:solidFill>
                  <a:srgbClr val="000000"/>
                </a:solidFill>
                <a:latin typeface="Poppins"/>
                <a:ea typeface="Poppins"/>
                <a:cs typeface="Poppins"/>
                <a:sym typeface="Poppins"/>
              </a:rPr>
              <a:t>Memory</a:t>
            </a:r>
            <a:endParaRPr/>
          </a:p>
          <a:p>
            <a:pPr marL="0" marR="0" lvl="0" indent="0" algn="l" rtl="0">
              <a:lnSpc>
                <a:spcPct val="140000"/>
              </a:lnSpc>
              <a:spcBef>
                <a:spcPts val="0"/>
              </a:spcBef>
              <a:spcAft>
                <a:spcPts val="0"/>
              </a:spcAft>
              <a:buNone/>
            </a:pPr>
            <a:r>
              <a:rPr lang="en-US" sz="3200" b="0" i="0" u="none" strike="noStrike" cap="none">
                <a:solidFill>
                  <a:srgbClr val="000000"/>
                </a:solidFill>
                <a:latin typeface="Poppins"/>
                <a:ea typeface="Poppins"/>
                <a:cs typeface="Poppins"/>
                <a:sym typeface="Poppins"/>
              </a:rPr>
              <a:t>         Installed RAM: 8 GB OR 16 GB</a:t>
            </a:r>
            <a:endParaRPr/>
          </a:p>
          <a:p>
            <a:pPr marL="0" marR="0" lvl="0" indent="0" algn="l" rtl="0">
              <a:lnSpc>
                <a:spcPct val="140000"/>
              </a:lnSpc>
              <a:spcBef>
                <a:spcPts val="0"/>
              </a:spcBef>
              <a:spcAft>
                <a:spcPts val="0"/>
              </a:spcAft>
              <a:buNone/>
            </a:pPr>
            <a:r>
              <a:rPr lang="en-US" sz="3200" b="0" i="0" u="none" strike="noStrike" cap="none">
                <a:solidFill>
                  <a:srgbClr val="000000"/>
                </a:solidFill>
                <a:latin typeface="Poppins"/>
                <a:ea typeface="Poppins"/>
                <a:cs typeface="Poppins"/>
                <a:sym typeface="Poppins"/>
              </a:rPr>
              <a:t>         Installed ROM 516 GB or 1 TB</a:t>
            </a:r>
            <a:endParaRPr/>
          </a:p>
          <a:p>
            <a:pPr marL="0" marR="0" lvl="0" indent="0" algn="l" rtl="0">
              <a:lnSpc>
                <a:spcPct val="140000"/>
              </a:lnSpc>
              <a:spcBef>
                <a:spcPts val="0"/>
              </a:spcBef>
              <a:spcAft>
                <a:spcPts val="0"/>
              </a:spcAft>
              <a:buNone/>
            </a:pPr>
            <a:endParaRPr sz="3200" b="0" i="0" u="none" strike="noStrike" cap="none">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grpSp>
        <p:nvGrpSpPr>
          <p:cNvPr id="282" name="Google Shape;282;p14"/>
          <p:cNvGrpSpPr/>
          <p:nvPr/>
        </p:nvGrpSpPr>
        <p:grpSpPr>
          <a:xfrm>
            <a:off x="-1119188" y="0"/>
            <a:ext cx="20507325" cy="10287000"/>
            <a:chOff x="0" y="0"/>
            <a:chExt cx="27343100" cy="13716000"/>
          </a:xfrm>
        </p:grpSpPr>
        <p:sp>
          <p:nvSpPr>
            <p:cNvPr id="283" name="Google Shape;283;p14"/>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284" name="Google Shape;284;p14"/>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285" name="Google Shape;285;p14"/>
          <p:cNvGrpSpPr/>
          <p:nvPr/>
        </p:nvGrpSpPr>
        <p:grpSpPr>
          <a:xfrm>
            <a:off x="4358773" y="336159"/>
            <a:ext cx="8688698" cy="2319824"/>
            <a:chOff x="0" y="-57150"/>
            <a:chExt cx="2288381" cy="610982"/>
          </a:xfrm>
        </p:grpSpPr>
        <p:sp>
          <p:nvSpPr>
            <p:cNvPr id="286" name="Google Shape;286;p14"/>
            <p:cNvSpPr/>
            <p:nvPr/>
          </p:nvSpPr>
          <p:spPr>
            <a:xfrm>
              <a:off x="0" y="0"/>
              <a:ext cx="2288381" cy="553832"/>
            </a:xfrm>
            <a:custGeom>
              <a:avLst/>
              <a:gdLst/>
              <a:ahLst/>
              <a:cxnLst/>
              <a:rect l="l" t="t" r="r" b="b"/>
              <a:pathLst>
                <a:path w="2288381" h="553832" extrusionOk="0">
                  <a:moveTo>
                    <a:pt x="0" y="0"/>
                  </a:moveTo>
                  <a:lnTo>
                    <a:pt x="2288381" y="0"/>
                  </a:lnTo>
                  <a:lnTo>
                    <a:pt x="2288381" y="553832"/>
                  </a:lnTo>
                  <a:lnTo>
                    <a:pt x="0" y="553832"/>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287" name="Google Shape;287;p14"/>
            <p:cNvSpPr txBox="1"/>
            <p:nvPr/>
          </p:nvSpPr>
          <p:spPr>
            <a:xfrm>
              <a:off x="0" y="-57150"/>
              <a:ext cx="2288381" cy="61098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8" name="Google Shape;288;p14"/>
          <p:cNvSpPr/>
          <p:nvPr/>
        </p:nvSpPr>
        <p:spPr>
          <a:xfrm>
            <a:off x="-815744" y="-688896"/>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289" name="Google Shape;289;p14"/>
          <p:cNvSpPr/>
          <p:nvPr/>
        </p:nvSpPr>
        <p:spPr>
          <a:xfrm flipH="1">
            <a:off x="15561698" y="480251"/>
            <a:ext cx="3395204" cy="1049427"/>
          </a:xfrm>
          <a:custGeom>
            <a:avLst/>
            <a:gdLst/>
            <a:ahLst/>
            <a:cxnLst/>
            <a:rect l="l" t="t" r="r" b="b"/>
            <a:pathLst>
              <a:path w="3395204" h="1049427" extrusionOk="0">
                <a:moveTo>
                  <a:pt x="3395204" y="0"/>
                </a:moveTo>
                <a:lnTo>
                  <a:pt x="0" y="0"/>
                </a:lnTo>
                <a:lnTo>
                  <a:pt x="0" y="1049427"/>
                </a:lnTo>
                <a:lnTo>
                  <a:pt x="3395204" y="1049427"/>
                </a:lnTo>
                <a:lnTo>
                  <a:pt x="3395204" y="0"/>
                </a:lnTo>
                <a:close/>
              </a:path>
            </a:pathLst>
          </a:custGeom>
          <a:blipFill rotWithShape="1">
            <a:blip r:embed="rId5">
              <a:alphaModFix/>
            </a:blip>
            <a:stretch>
              <a:fillRect/>
            </a:stretch>
          </a:blipFill>
          <a:ln>
            <a:noFill/>
          </a:ln>
        </p:spPr>
        <p:txBody>
          <a:bodyPr/>
          <a:lstStyle/>
          <a:p>
            <a:endParaRPr lang="en-IN"/>
          </a:p>
        </p:txBody>
      </p:sp>
      <p:sp>
        <p:nvSpPr>
          <p:cNvPr id="290" name="Google Shape;290;p14"/>
          <p:cNvSpPr txBox="1"/>
          <p:nvPr/>
        </p:nvSpPr>
        <p:spPr>
          <a:xfrm>
            <a:off x="3314857" y="677467"/>
            <a:ext cx="10764598" cy="174942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000000"/>
                </a:solidFill>
                <a:latin typeface="Fredoka"/>
                <a:ea typeface="Fredoka"/>
                <a:cs typeface="Fredoka"/>
                <a:sym typeface="Fredoka"/>
              </a:rPr>
              <a:t>SOFTWARE </a:t>
            </a:r>
            <a:endParaRPr/>
          </a:p>
          <a:p>
            <a:pPr marL="0" marR="0" lvl="0" indent="0" algn="ctr" rtl="0">
              <a:lnSpc>
                <a:spcPct val="140000"/>
              </a:lnSpc>
              <a:spcBef>
                <a:spcPts val="0"/>
              </a:spcBef>
              <a:spcAft>
                <a:spcPts val="0"/>
              </a:spcAft>
              <a:buNone/>
            </a:pPr>
            <a:r>
              <a:rPr lang="en-US" sz="5000" b="1" i="0" u="none" strike="noStrike" cap="none">
                <a:solidFill>
                  <a:srgbClr val="000000"/>
                </a:solidFill>
                <a:latin typeface="Fredoka"/>
                <a:ea typeface="Fredoka"/>
                <a:cs typeface="Fredoka"/>
                <a:sym typeface="Fredoka"/>
              </a:rPr>
              <a:t>REQUIREMENTS</a:t>
            </a:r>
            <a:endParaRPr/>
          </a:p>
        </p:txBody>
      </p:sp>
      <p:sp>
        <p:nvSpPr>
          <p:cNvPr id="291" name="Google Shape;291;p14"/>
          <p:cNvSpPr txBox="1"/>
          <p:nvPr/>
        </p:nvSpPr>
        <p:spPr>
          <a:xfrm>
            <a:off x="1510980" y="3853814"/>
            <a:ext cx="14384286" cy="1289686"/>
          </a:xfrm>
          <a:prstGeom prst="rect">
            <a:avLst/>
          </a:prstGeom>
          <a:noFill/>
          <a:ln>
            <a:noFill/>
          </a:ln>
        </p:spPr>
        <p:txBody>
          <a:bodyPr spcFirstLastPara="1" wrap="square" lIns="0" tIns="0" rIns="0" bIns="0" anchor="t" anchorCtr="0">
            <a:spAutoFit/>
          </a:bodyPr>
          <a:lstStyle/>
          <a:p>
            <a:pPr marL="820409" marR="0" lvl="1" indent="-410205" algn="just" rtl="0">
              <a:lnSpc>
                <a:spcPct val="140010"/>
              </a:lnSpc>
              <a:spcBef>
                <a:spcPts val="0"/>
              </a:spcBef>
              <a:spcAft>
                <a:spcPts val="0"/>
              </a:spcAft>
              <a:buClr>
                <a:srgbClr val="000000"/>
              </a:buClr>
              <a:buSzPts val="3799"/>
              <a:buFont typeface="Arial"/>
              <a:buChar char="•"/>
            </a:pPr>
            <a:r>
              <a:rPr lang="en-US" sz="3799" b="1" i="0" u="none" strike="noStrike" cap="none" dirty="0">
                <a:solidFill>
                  <a:srgbClr val="000000"/>
                </a:solidFill>
                <a:latin typeface="Poppins"/>
                <a:ea typeface="Poppins"/>
                <a:cs typeface="Poppins"/>
                <a:sym typeface="Poppins"/>
              </a:rPr>
              <a:t>Operating System</a:t>
            </a:r>
            <a:endParaRPr dirty="0"/>
          </a:p>
          <a:p>
            <a:pPr marL="0" marR="0" lvl="0" indent="0" algn="just" rtl="0">
              <a:lnSpc>
                <a:spcPct val="140011"/>
              </a:lnSpc>
              <a:spcBef>
                <a:spcPts val="0"/>
              </a:spcBef>
              <a:spcAft>
                <a:spcPts val="0"/>
              </a:spcAft>
              <a:buNone/>
            </a:pPr>
            <a:r>
              <a:rPr lang="en-US" sz="3399" b="1" i="0" u="none" strike="noStrike" cap="none" dirty="0">
                <a:solidFill>
                  <a:srgbClr val="000000"/>
                </a:solidFill>
                <a:latin typeface="Poppins"/>
                <a:ea typeface="Poppins"/>
                <a:cs typeface="Poppins"/>
                <a:sym typeface="Poppins"/>
              </a:rPr>
              <a:t>       </a:t>
            </a:r>
            <a:r>
              <a:rPr lang="en-US" sz="3399" b="0" i="0" u="none" strike="noStrike" cap="none" dirty="0">
                <a:solidFill>
                  <a:srgbClr val="000000"/>
                </a:solidFill>
                <a:latin typeface="Poppins"/>
                <a:ea typeface="Poppins"/>
                <a:cs typeface="Poppins"/>
                <a:sym typeface="Poppins"/>
              </a:rPr>
              <a:t>Windows (64bit operating system</a:t>
            </a:r>
            <a:r>
              <a:rPr lang="en-US" sz="3399" b="1" i="0" u="none" strike="noStrike" cap="none" dirty="0">
                <a:solidFill>
                  <a:srgbClr val="000000"/>
                </a:solidFill>
                <a:latin typeface="Poppins"/>
                <a:ea typeface="Poppins"/>
                <a:cs typeface="Poppins"/>
                <a:sym typeface="Poppins"/>
              </a:rPr>
              <a:t>)</a:t>
            </a:r>
            <a:endParaRPr dirty="0"/>
          </a:p>
        </p:txBody>
      </p:sp>
      <p:sp>
        <p:nvSpPr>
          <p:cNvPr id="292" name="Google Shape;292;p14"/>
          <p:cNvSpPr txBox="1"/>
          <p:nvPr/>
        </p:nvSpPr>
        <p:spPr>
          <a:xfrm>
            <a:off x="1309231" y="5547959"/>
            <a:ext cx="12499975" cy="2413635"/>
          </a:xfrm>
          <a:prstGeom prst="rect">
            <a:avLst/>
          </a:prstGeom>
          <a:noFill/>
          <a:ln>
            <a:noFill/>
          </a:ln>
        </p:spPr>
        <p:txBody>
          <a:bodyPr spcFirstLastPara="1" wrap="square" lIns="0" tIns="0" rIns="0" bIns="0" anchor="t" anchorCtr="0">
            <a:spAutoFit/>
          </a:bodyPr>
          <a:lstStyle/>
          <a:p>
            <a:pPr marL="863599" marR="0" lvl="1" indent="-431800" algn="l" rtl="0">
              <a:lnSpc>
                <a:spcPct val="140010"/>
              </a:lnSpc>
              <a:spcBef>
                <a:spcPts val="0"/>
              </a:spcBef>
              <a:spcAft>
                <a:spcPts val="0"/>
              </a:spcAft>
              <a:buClr>
                <a:srgbClr val="000000"/>
              </a:buClr>
              <a:buSzPts val="3999"/>
              <a:buFont typeface="Arial"/>
              <a:buChar char="•"/>
            </a:pPr>
            <a:r>
              <a:rPr lang="en-US" sz="3999" b="1" i="0" u="none" strike="noStrike" cap="none">
                <a:solidFill>
                  <a:srgbClr val="000000"/>
                </a:solidFill>
                <a:latin typeface="Poppins"/>
                <a:ea typeface="Poppins"/>
                <a:cs typeface="Poppins"/>
                <a:sym typeface="Poppins"/>
              </a:rPr>
              <a:t>Libraries and Frameworks</a:t>
            </a:r>
            <a:endParaRPr/>
          </a:p>
          <a:p>
            <a:pPr marL="0" marR="0" lvl="0" indent="0" algn="l" rtl="0">
              <a:lnSpc>
                <a:spcPct val="140000"/>
              </a:lnSpc>
              <a:spcBef>
                <a:spcPts val="0"/>
              </a:spcBef>
              <a:spcAft>
                <a:spcPts val="0"/>
              </a:spcAft>
              <a:buNone/>
            </a:pPr>
            <a:r>
              <a:rPr lang="en-US" sz="3200" b="0" i="0" u="none" strike="noStrike" cap="none">
                <a:solidFill>
                  <a:srgbClr val="000000"/>
                </a:solidFill>
                <a:latin typeface="Poppins"/>
                <a:ea typeface="Poppins"/>
                <a:cs typeface="Poppins"/>
                <a:sym typeface="Poppins"/>
              </a:rPr>
              <a:t>      - Python : sklearn, XG Boost classsifier, flask [Backend]</a:t>
            </a:r>
            <a:endParaRPr/>
          </a:p>
          <a:p>
            <a:pPr marL="0" marR="0" lvl="0" indent="0" algn="l" rtl="0">
              <a:lnSpc>
                <a:spcPct val="140000"/>
              </a:lnSpc>
              <a:spcBef>
                <a:spcPts val="0"/>
              </a:spcBef>
              <a:spcAft>
                <a:spcPts val="0"/>
              </a:spcAft>
              <a:buNone/>
            </a:pPr>
            <a:r>
              <a:rPr lang="en-US" sz="3200" b="0" i="0" u="none" strike="noStrike" cap="none">
                <a:solidFill>
                  <a:srgbClr val="000000"/>
                </a:solidFill>
                <a:latin typeface="Poppins"/>
                <a:ea typeface="Poppins"/>
                <a:cs typeface="Poppins"/>
                <a:sym typeface="Poppins"/>
              </a:rPr>
              <a:t>         ReactJS, Node Js [Frontend]</a:t>
            </a:r>
            <a:endParaRPr/>
          </a:p>
          <a:p>
            <a:pPr marL="0" marR="0" lvl="0" indent="0" algn="l" rtl="0">
              <a:lnSpc>
                <a:spcPct val="140000"/>
              </a:lnSpc>
              <a:spcBef>
                <a:spcPts val="0"/>
              </a:spcBef>
              <a:spcAft>
                <a:spcPts val="0"/>
              </a:spcAft>
              <a:buNone/>
            </a:pPr>
            <a:r>
              <a:rPr lang="en-US" sz="3200" b="0" i="0" u="none" strike="noStrike" cap="none">
                <a:solidFill>
                  <a:srgbClr val="000000"/>
                </a:solidFill>
                <a:latin typeface="Poppins"/>
                <a:ea typeface="Poppins"/>
                <a:cs typeface="Poppins"/>
                <a:sym typeface="Poppins"/>
              </a:rPr>
              <a:t>      - Editor : VS Code, Google Colab</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81;p5">
            <a:extLst>
              <a:ext uri="{FF2B5EF4-FFF2-40B4-BE49-F238E27FC236}">
                <a16:creationId xmlns:a16="http://schemas.microsoft.com/office/drawing/2014/main" id="{4C7C14DF-6A6B-D86A-875A-89B280CC4EE6}"/>
              </a:ext>
            </a:extLst>
          </p:cNvPr>
          <p:cNvGrpSpPr/>
          <p:nvPr/>
        </p:nvGrpSpPr>
        <p:grpSpPr>
          <a:xfrm>
            <a:off x="-1109662" y="0"/>
            <a:ext cx="20507325" cy="10287000"/>
            <a:chOff x="0" y="0"/>
            <a:chExt cx="27343100" cy="13716000"/>
          </a:xfrm>
        </p:grpSpPr>
        <p:sp>
          <p:nvSpPr>
            <p:cNvPr id="3" name="Google Shape;182;p5">
              <a:extLst>
                <a:ext uri="{FF2B5EF4-FFF2-40B4-BE49-F238E27FC236}">
                  <a16:creationId xmlns:a16="http://schemas.microsoft.com/office/drawing/2014/main" id="{A81EB2E3-D061-2DC5-00FB-09280CD5FF25}"/>
                </a:ext>
              </a:extLst>
            </p:cNvPr>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sp>
          <p:nvSpPr>
            <p:cNvPr id="4" name="Google Shape;183;p5">
              <a:extLst>
                <a:ext uri="{FF2B5EF4-FFF2-40B4-BE49-F238E27FC236}">
                  <a16:creationId xmlns:a16="http://schemas.microsoft.com/office/drawing/2014/main" id="{3C2E97B3-CB78-9625-7E8A-F069C6181C52}"/>
                </a:ext>
              </a:extLst>
            </p:cNvPr>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grpSp>
      <p:grpSp>
        <p:nvGrpSpPr>
          <p:cNvPr id="5" name="Google Shape;184;p5">
            <a:extLst>
              <a:ext uri="{FF2B5EF4-FFF2-40B4-BE49-F238E27FC236}">
                <a16:creationId xmlns:a16="http://schemas.microsoft.com/office/drawing/2014/main" id="{B20F9625-ACD4-4E3A-C2FF-41D9DF2C8A80}"/>
              </a:ext>
            </a:extLst>
          </p:cNvPr>
          <p:cNvGrpSpPr/>
          <p:nvPr/>
        </p:nvGrpSpPr>
        <p:grpSpPr>
          <a:xfrm>
            <a:off x="1028700" y="1288952"/>
            <a:ext cx="16230600" cy="7969348"/>
            <a:chOff x="0" y="-57150"/>
            <a:chExt cx="4274726" cy="2098923"/>
          </a:xfrm>
        </p:grpSpPr>
        <p:sp>
          <p:nvSpPr>
            <p:cNvPr id="6" name="Google Shape;185;p5">
              <a:extLst>
                <a:ext uri="{FF2B5EF4-FFF2-40B4-BE49-F238E27FC236}">
                  <a16:creationId xmlns:a16="http://schemas.microsoft.com/office/drawing/2014/main" id="{2F5020F1-7ED4-AB56-DA85-FDA75765C07A}"/>
                </a:ext>
              </a:extLst>
            </p:cNvPr>
            <p:cNvSpPr/>
            <p:nvPr/>
          </p:nvSpPr>
          <p:spPr>
            <a:xfrm>
              <a:off x="0" y="0"/>
              <a:ext cx="4274726" cy="2041773"/>
            </a:xfrm>
            <a:custGeom>
              <a:avLst/>
              <a:gdLst/>
              <a:ahLst/>
              <a:cxnLst/>
              <a:rect l="l" t="t" r="r" b="b"/>
              <a:pathLst>
                <a:path w="4274726" h="2041773" extrusionOk="0">
                  <a:moveTo>
                    <a:pt x="0" y="0"/>
                  </a:moveTo>
                  <a:lnTo>
                    <a:pt x="4274726" y="0"/>
                  </a:lnTo>
                  <a:lnTo>
                    <a:pt x="4274726" y="2041773"/>
                  </a:lnTo>
                  <a:lnTo>
                    <a:pt x="0" y="2041773"/>
                  </a:lnTo>
                  <a:close/>
                </a:path>
              </a:pathLst>
            </a:custGeom>
            <a:solidFill>
              <a:srgbClr val="F1F2F2"/>
            </a:solidFill>
            <a:ln>
              <a:noFill/>
            </a:ln>
          </p:spPr>
          <p:txBody>
            <a:bodyPr/>
            <a:lstStyle/>
            <a:p>
              <a:endParaRPr lang="en-IN"/>
            </a:p>
          </p:txBody>
        </p:sp>
        <p:sp>
          <p:nvSpPr>
            <p:cNvPr id="7" name="Google Shape;186;p5">
              <a:extLst>
                <a:ext uri="{FF2B5EF4-FFF2-40B4-BE49-F238E27FC236}">
                  <a16:creationId xmlns:a16="http://schemas.microsoft.com/office/drawing/2014/main" id="{4D7841E7-A5CF-4908-9CFC-3846659630E6}"/>
                </a:ext>
              </a:extLst>
            </p:cNvPr>
            <p:cNvSpPr txBox="1"/>
            <p:nvPr/>
          </p:nvSpPr>
          <p:spPr>
            <a:xfrm>
              <a:off x="0" y="-57150"/>
              <a:ext cx="4274726" cy="209892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8" name="Google Shape;187;p5">
            <a:extLst>
              <a:ext uri="{FF2B5EF4-FFF2-40B4-BE49-F238E27FC236}">
                <a16:creationId xmlns:a16="http://schemas.microsoft.com/office/drawing/2014/main" id="{DF764270-7533-2191-67FC-AEC9F0396B74}"/>
              </a:ext>
            </a:extLst>
          </p:cNvPr>
          <p:cNvGrpSpPr/>
          <p:nvPr/>
        </p:nvGrpSpPr>
        <p:grpSpPr>
          <a:xfrm>
            <a:off x="5218653" y="491325"/>
            <a:ext cx="6435115" cy="1616572"/>
            <a:chOff x="0" y="-57150"/>
            <a:chExt cx="2606576" cy="425761"/>
          </a:xfrm>
        </p:grpSpPr>
        <p:sp>
          <p:nvSpPr>
            <p:cNvPr id="9" name="Google Shape;188;p5">
              <a:extLst>
                <a:ext uri="{FF2B5EF4-FFF2-40B4-BE49-F238E27FC236}">
                  <a16:creationId xmlns:a16="http://schemas.microsoft.com/office/drawing/2014/main" id="{2270DC46-B1F6-CFD6-E87D-0A08565D00E0}"/>
                </a:ext>
              </a:extLst>
            </p:cNvPr>
            <p:cNvSpPr/>
            <p:nvPr/>
          </p:nvSpPr>
          <p:spPr>
            <a:xfrm>
              <a:off x="0" y="0"/>
              <a:ext cx="2606576" cy="368611"/>
            </a:xfrm>
            <a:custGeom>
              <a:avLst/>
              <a:gdLst/>
              <a:ahLst/>
              <a:cxnLst/>
              <a:rect l="l" t="t" r="r" b="b"/>
              <a:pathLst>
                <a:path w="2606576" h="368611" extrusionOk="0">
                  <a:moveTo>
                    <a:pt x="0" y="0"/>
                  </a:moveTo>
                  <a:lnTo>
                    <a:pt x="2606576" y="0"/>
                  </a:lnTo>
                  <a:lnTo>
                    <a:pt x="2606576" y="368611"/>
                  </a:lnTo>
                  <a:lnTo>
                    <a:pt x="0" y="368611"/>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0" name="Google Shape;189;p5">
              <a:extLst>
                <a:ext uri="{FF2B5EF4-FFF2-40B4-BE49-F238E27FC236}">
                  <a16:creationId xmlns:a16="http://schemas.microsoft.com/office/drawing/2014/main" id="{1D1F8A10-067F-DE24-79E7-47891DDC1AE3}"/>
                </a:ext>
              </a:extLst>
            </p:cNvPr>
            <p:cNvSpPr txBox="1"/>
            <p:nvPr/>
          </p:nvSpPr>
          <p:spPr>
            <a:xfrm>
              <a:off x="0" y="-57150"/>
              <a:ext cx="2606576" cy="42576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 name="Google Shape;190;p5">
            <a:extLst>
              <a:ext uri="{FF2B5EF4-FFF2-40B4-BE49-F238E27FC236}">
                <a16:creationId xmlns:a16="http://schemas.microsoft.com/office/drawing/2014/main" id="{B96DE347-BD56-583B-A1D4-88A64E28C2FA}"/>
              </a:ext>
            </a:extLst>
          </p:cNvPr>
          <p:cNvSpPr/>
          <p:nvPr/>
        </p:nvSpPr>
        <p:spPr>
          <a:xfrm flipH="1">
            <a:off x="16164492" y="6443050"/>
            <a:ext cx="2189615" cy="1982597"/>
          </a:xfrm>
          <a:custGeom>
            <a:avLst/>
            <a:gdLst/>
            <a:ahLst/>
            <a:cxnLst/>
            <a:rect l="l" t="t" r="r" b="b"/>
            <a:pathLst>
              <a:path w="2189615" h="1982597" extrusionOk="0">
                <a:moveTo>
                  <a:pt x="2189616" y="0"/>
                </a:moveTo>
                <a:lnTo>
                  <a:pt x="0" y="0"/>
                </a:lnTo>
                <a:lnTo>
                  <a:pt x="0" y="1982597"/>
                </a:lnTo>
                <a:lnTo>
                  <a:pt x="2189616" y="1982597"/>
                </a:lnTo>
                <a:lnTo>
                  <a:pt x="2189616" y="0"/>
                </a:lnTo>
                <a:close/>
              </a:path>
            </a:pathLst>
          </a:custGeom>
          <a:blipFill rotWithShape="1">
            <a:blip r:embed="rId3">
              <a:alphaModFix/>
            </a:blip>
            <a:stretch>
              <a:fillRect/>
            </a:stretch>
          </a:blipFill>
          <a:ln>
            <a:noFill/>
          </a:ln>
        </p:spPr>
        <p:txBody>
          <a:bodyPr/>
          <a:lstStyle/>
          <a:p>
            <a:endParaRPr lang="en-IN"/>
          </a:p>
        </p:txBody>
      </p:sp>
      <p:sp>
        <p:nvSpPr>
          <p:cNvPr id="12" name="Google Shape;191;p5">
            <a:extLst>
              <a:ext uri="{FF2B5EF4-FFF2-40B4-BE49-F238E27FC236}">
                <a16:creationId xmlns:a16="http://schemas.microsoft.com/office/drawing/2014/main" id="{E8DC66D5-880E-C65D-2BF7-FEF144CFB758}"/>
              </a:ext>
            </a:extLst>
          </p:cNvPr>
          <p:cNvSpPr/>
          <p:nvPr/>
        </p:nvSpPr>
        <p:spPr>
          <a:xfrm>
            <a:off x="-2300107" y="1028700"/>
            <a:ext cx="4927677" cy="1532060"/>
          </a:xfrm>
          <a:custGeom>
            <a:avLst/>
            <a:gdLst/>
            <a:ahLst/>
            <a:cxnLst/>
            <a:rect l="l" t="t" r="r" b="b"/>
            <a:pathLst>
              <a:path w="4927677" h="1532060" extrusionOk="0">
                <a:moveTo>
                  <a:pt x="0" y="0"/>
                </a:moveTo>
                <a:lnTo>
                  <a:pt x="4927677" y="0"/>
                </a:lnTo>
                <a:lnTo>
                  <a:pt x="4927677" y="1532060"/>
                </a:lnTo>
                <a:lnTo>
                  <a:pt x="0" y="1532060"/>
                </a:lnTo>
                <a:lnTo>
                  <a:pt x="0" y="0"/>
                </a:lnTo>
                <a:close/>
              </a:path>
            </a:pathLst>
          </a:custGeom>
          <a:blipFill rotWithShape="1">
            <a:blip r:embed="rId4">
              <a:alphaModFix/>
            </a:blip>
            <a:stretch>
              <a:fillRect/>
            </a:stretch>
          </a:blipFill>
          <a:ln>
            <a:noFill/>
          </a:ln>
        </p:spPr>
        <p:txBody>
          <a:bodyPr/>
          <a:lstStyle/>
          <a:p>
            <a:endParaRPr lang="en-IN"/>
          </a:p>
        </p:txBody>
      </p:sp>
      <p:sp>
        <p:nvSpPr>
          <p:cNvPr id="13" name="Google Shape;192;p5">
            <a:extLst>
              <a:ext uri="{FF2B5EF4-FFF2-40B4-BE49-F238E27FC236}">
                <a16:creationId xmlns:a16="http://schemas.microsoft.com/office/drawing/2014/main" id="{1C6037BC-5FFD-8AAB-6423-72FB37023BDA}"/>
              </a:ext>
            </a:extLst>
          </p:cNvPr>
          <p:cNvSpPr txBox="1"/>
          <p:nvPr/>
        </p:nvSpPr>
        <p:spPr>
          <a:xfrm>
            <a:off x="2627570" y="923925"/>
            <a:ext cx="111168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dirty="0">
                <a:latin typeface="Fredoka"/>
                <a:ea typeface="Fredoka"/>
                <a:cs typeface="Fredoka"/>
                <a:sym typeface="Fredoka"/>
              </a:rPr>
              <a:t>ALGORITHMS</a:t>
            </a:r>
            <a:endParaRPr dirty="0"/>
          </a:p>
        </p:txBody>
      </p:sp>
      <p:sp>
        <p:nvSpPr>
          <p:cNvPr id="15" name="Google Shape;194;p5">
            <a:extLst>
              <a:ext uri="{FF2B5EF4-FFF2-40B4-BE49-F238E27FC236}">
                <a16:creationId xmlns:a16="http://schemas.microsoft.com/office/drawing/2014/main" id="{BBAFA2E9-0C55-B082-57BB-3771DBBA7FD7}"/>
              </a:ext>
            </a:extLst>
          </p:cNvPr>
          <p:cNvSpPr/>
          <p:nvPr/>
        </p:nvSpPr>
        <p:spPr>
          <a:xfrm>
            <a:off x="14466890" y="8733587"/>
            <a:ext cx="3395204" cy="1049427"/>
          </a:xfrm>
          <a:custGeom>
            <a:avLst/>
            <a:gdLst/>
            <a:ahLst/>
            <a:cxnLst/>
            <a:rect l="l" t="t" r="r" b="b"/>
            <a:pathLst>
              <a:path w="3395204" h="1049427" extrusionOk="0">
                <a:moveTo>
                  <a:pt x="0" y="0"/>
                </a:moveTo>
                <a:lnTo>
                  <a:pt x="3395205" y="0"/>
                </a:lnTo>
                <a:lnTo>
                  <a:pt x="3395205" y="1049426"/>
                </a:lnTo>
                <a:lnTo>
                  <a:pt x="0" y="1049426"/>
                </a:lnTo>
                <a:lnTo>
                  <a:pt x="0" y="0"/>
                </a:lnTo>
                <a:close/>
              </a:path>
            </a:pathLst>
          </a:custGeom>
          <a:blipFill rotWithShape="1">
            <a:blip r:embed="rId5">
              <a:alphaModFix/>
            </a:blip>
            <a:stretch>
              <a:fillRect/>
            </a:stretch>
          </a:blipFill>
          <a:ln>
            <a:noFill/>
          </a:ln>
        </p:spPr>
        <p:txBody>
          <a:bodyPr/>
          <a:lstStyle/>
          <a:p>
            <a:endParaRPr lang="en-IN"/>
          </a:p>
        </p:txBody>
      </p:sp>
      <p:sp>
        <p:nvSpPr>
          <p:cNvPr id="16" name="Google Shape;195;p5">
            <a:extLst>
              <a:ext uri="{FF2B5EF4-FFF2-40B4-BE49-F238E27FC236}">
                <a16:creationId xmlns:a16="http://schemas.microsoft.com/office/drawing/2014/main" id="{B9776158-BFAB-C57F-72B8-C26E263F237D}"/>
              </a:ext>
            </a:extLst>
          </p:cNvPr>
          <p:cNvSpPr txBox="1"/>
          <p:nvPr/>
        </p:nvSpPr>
        <p:spPr>
          <a:xfrm>
            <a:off x="14892796" y="9716338"/>
            <a:ext cx="3395100" cy="215400"/>
          </a:xfrm>
          <a:prstGeom prst="rect">
            <a:avLst/>
          </a:prstGeom>
          <a:noFill/>
          <a:ln>
            <a:noFill/>
          </a:ln>
        </p:spPr>
        <p:txBody>
          <a:bodyPr spcFirstLastPara="1" wrap="square" lIns="0" tIns="0" rIns="0" bIns="0" anchor="t" anchorCtr="0">
            <a:spAutoFit/>
          </a:bodyPr>
          <a:lstStyle/>
          <a:p>
            <a:pPr marL="0" marR="0" lvl="0" indent="0" algn="l" rtl="0">
              <a:lnSpc>
                <a:spcPct val="140015"/>
              </a:lnSpc>
              <a:spcBef>
                <a:spcPts val="0"/>
              </a:spcBef>
              <a:spcAft>
                <a:spcPts val="0"/>
              </a:spcAft>
              <a:buNone/>
            </a:pPr>
            <a:endParaRPr/>
          </a:p>
        </p:txBody>
      </p:sp>
      <p:sp>
        <p:nvSpPr>
          <p:cNvPr id="17" name="TextBox 16">
            <a:extLst>
              <a:ext uri="{FF2B5EF4-FFF2-40B4-BE49-F238E27FC236}">
                <a16:creationId xmlns:a16="http://schemas.microsoft.com/office/drawing/2014/main" id="{BDD59519-10FC-FB29-E7FC-13AB15623BBB}"/>
              </a:ext>
            </a:extLst>
          </p:cNvPr>
          <p:cNvSpPr txBox="1"/>
          <p:nvPr/>
        </p:nvSpPr>
        <p:spPr>
          <a:xfrm>
            <a:off x="1356852" y="2560760"/>
            <a:ext cx="15902448" cy="7325082"/>
          </a:xfrm>
          <a:prstGeom prst="rect">
            <a:avLst/>
          </a:prstGeom>
          <a:noFill/>
        </p:spPr>
        <p:txBody>
          <a:bodyPr wrap="square" rtlCol="0">
            <a:spAutoFit/>
          </a:bodyPr>
          <a:lstStyle/>
          <a:p>
            <a:pPr>
              <a:buNone/>
            </a:pPr>
            <a:r>
              <a:rPr lang="en-US" sz="3200" b="1" dirty="0">
                <a:latin typeface="Poppins Medium" panose="00000600000000000000" pitchFamily="2" charset="0"/>
                <a:cs typeface="Poppins Medium" panose="00000600000000000000" pitchFamily="2" charset="0"/>
              </a:rPr>
              <a:t>Gradient Boosting Classifier (GBC)</a:t>
            </a:r>
          </a:p>
          <a:p>
            <a:pPr>
              <a:buFont typeface="Arial" panose="020B0604020202020204" pitchFamily="34" charset="0"/>
              <a:buChar char="•"/>
            </a:pPr>
            <a:r>
              <a:rPr lang="en-US" sz="3200" b="1" dirty="0">
                <a:latin typeface="Poppins" panose="00000500000000000000" pitchFamily="2" charset="0"/>
                <a:cs typeface="Poppins" panose="00000500000000000000" pitchFamily="2" charset="0"/>
              </a:rPr>
              <a:t>Type</a:t>
            </a:r>
            <a:r>
              <a:rPr lang="en-US" sz="3200" dirty="0">
                <a:latin typeface="Poppins" panose="00000500000000000000" pitchFamily="2" charset="0"/>
                <a:cs typeface="Poppins" panose="00000500000000000000" pitchFamily="2" charset="0"/>
              </a:rPr>
              <a:t>: Supervised Learning, Ensemble Method</a:t>
            </a:r>
          </a:p>
          <a:p>
            <a:pPr>
              <a:buFont typeface="Arial" panose="020B0604020202020204" pitchFamily="34" charset="0"/>
              <a:buChar char="•"/>
            </a:pPr>
            <a:r>
              <a:rPr lang="en-US" sz="3200" b="1" dirty="0">
                <a:latin typeface="Poppins" panose="00000500000000000000" pitchFamily="2" charset="0"/>
                <a:cs typeface="Poppins" panose="00000500000000000000" pitchFamily="2" charset="0"/>
              </a:rPr>
              <a:t>Category</a:t>
            </a:r>
            <a:r>
              <a:rPr lang="en-US" sz="3200" dirty="0">
                <a:latin typeface="Poppins" panose="00000500000000000000" pitchFamily="2" charset="0"/>
                <a:cs typeface="Poppins" panose="00000500000000000000" pitchFamily="2" charset="0"/>
              </a:rPr>
              <a:t>: Classification</a:t>
            </a:r>
          </a:p>
          <a:p>
            <a:pPr>
              <a:buFont typeface="Arial" panose="020B0604020202020204" pitchFamily="34" charset="0"/>
              <a:buChar char="•"/>
            </a:pPr>
            <a:r>
              <a:rPr lang="en-US" sz="3200" b="1" dirty="0">
                <a:latin typeface="Poppins" panose="00000500000000000000" pitchFamily="2" charset="0"/>
                <a:cs typeface="Poppins" panose="00000500000000000000" pitchFamily="2" charset="0"/>
              </a:rPr>
              <a:t>Use in Project</a:t>
            </a:r>
            <a:r>
              <a:rPr lang="en-US" sz="3200" dirty="0">
                <a:latin typeface="Poppins" panose="00000500000000000000" pitchFamily="2" charset="0"/>
                <a:cs typeface="Poppins" panose="00000500000000000000" pitchFamily="2" charset="0"/>
              </a:rPr>
              <a:t>:</a:t>
            </a:r>
            <a:br>
              <a:rPr lang="en-US" sz="3200" dirty="0">
                <a:latin typeface="Poppins" panose="00000500000000000000" pitchFamily="2" charset="0"/>
                <a:cs typeface="Poppins" panose="00000500000000000000" pitchFamily="2" charset="0"/>
              </a:rPr>
            </a:br>
            <a:r>
              <a:rPr lang="en-US" sz="3200" dirty="0">
                <a:latin typeface="Poppins" panose="00000500000000000000" pitchFamily="2" charset="0"/>
                <a:cs typeface="Poppins" panose="00000500000000000000" pitchFamily="2" charset="0"/>
              </a:rPr>
              <a:t>Used to </a:t>
            </a:r>
            <a:r>
              <a:rPr lang="en-US" sz="3200" b="1" dirty="0">
                <a:latin typeface="Poppins" panose="00000500000000000000" pitchFamily="2" charset="0"/>
                <a:cs typeface="Poppins" panose="00000500000000000000" pitchFamily="2" charset="0"/>
              </a:rPr>
              <a:t>predict whether a URL is phishing or legitimate</a:t>
            </a:r>
            <a:r>
              <a:rPr lang="en-US" sz="3200" dirty="0">
                <a:latin typeface="Poppins" panose="00000500000000000000" pitchFamily="2" charset="0"/>
                <a:cs typeface="Poppins" panose="00000500000000000000" pitchFamily="2" charset="0"/>
              </a:rPr>
              <a:t> based on extracted features.</a:t>
            </a:r>
          </a:p>
          <a:p>
            <a:endParaRPr lang="en-US" sz="3200" dirty="0">
              <a:latin typeface="Poppins Medium" panose="00000600000000000000" pitchFamily="2" charset="0"/>
              <a:cs typeface="Poppins Medium" panose="00000600000000000000" pitchFamily="2" charset="0"/>
            </a:endParaRPr>
          </a:p>
          <a:p>
            <a:pPr>
              <a:buNone/>
            </a:pPr>
            <a:r>
              <a:rPr lang="en-US" sz="3200" b="1" dirty="0">
                <a:latin typeface="Poppins Medium" panose="00000600000000000000" pitchFamily="2" charset="0"/>
                <a:cs typeface="Poppins Medium" panose="00000600000000000000" pitchFamily="2" charset="0"/>
              </a:rPr>
              <a:t>Why Gradient Boosting?</a:t>
            </a:r>
          </a:p>
          <a:p>
            <a:pPr>
              <a:buFont typeface="Arial" panose="020B0604020202020204" pitchFamily="34" charset="0"/>
              <a:buChar char="•"/>
            </a:pPr>
            <a:r>
              <a:rPr lang="en-US" sz="3200" dirty="0">
                <a:latin typeface="Poppins" panose="00000500000000000000" pitchFamily="2" charset="0"/>
                <a:cs typeface="Poppins" panose="00000500000000000000" pitchFamily="2" charset="0"/>
              </a:rPr>
              <a:t>Combines </a:t>
            </a:r>
            <a:r>
              <a:rPr lang="en-US" sz="3200" b="1" dirty="0">
                <a:latin typeface="Poppins" panose="00000500000000000000" pitchFamily="2" charset="0"/>
                <a:cs typeface="Poppins" panose="00000500000000000000" pitchFamily="2" charset="0"/>
              </a:rPr>
              <a:t>multiple weak learners (decision trees)</a:t>
            </a:r>
            <a:r>
              <a:rPr lang="en-US" sz="3200" dirty="0">
                <a:latin typeface="Poppins" panose="00000500000000000000" pitchFamily="2" charset="0"/>
                <a:cs typeface="Poppins" panose="00000500000000000000" pitchFamily="2" charset="0"/>
              </a:rPr>
              <a:t> to form a strong predictive model.</a:t>
            </a:r>
          </a:p>
          <a:p>
            <a:pPr>
              <a:buFont typeface="Arial" panose="020B0604020202020204" pitchFamily="34" charset="0"/>
              <a:buChar char="•"/>
            </a:pPr>
            <a:r>
              <a:rPr lang="en-US" sz="3200" dirty="0">
                <a:latin typeface="Poppins" panose="00000500000000000000" pitchFamily="2" charset="0"/>
                <a:cs typeface="Poppins" panose="00000500000000000000" pitchFamily="2" charset="0"/>
              </a:rPr>
              <a:t>Focuses on </a:t>
            </a:r>
            <a:r>
              <a:rPr lang="en-US" sz="3200" b="1" dirty="0">
                <a:latin typeface="Poppins" panose="00000500000000000000" pitchFamily="2" charset="0"/>
                <a:cs typeface="Poppins" panose="00000500000000000000" pitchFamily="2" charset="0"/>
              </a:rPr>
              <a:t>correcting errors</a:t>
            </a:r>
            <a:r>
              <a:rPr lang="en-US" sz="3200" dirty="0">
                <a:latin typeface="Poppins" panose="00000500000000000000" pitchFamily="2" charset="0"/>
                <a:cs typeface="Poppins" panose="00000500000000000000" pitchFamily="2" charset="0"/>
              </a:rPr>
              <a:t> made by previous trees in the sequence.</a:t>
            </a:r>
          </a:p>
          <a:p>
            <a:pPr>
              <a:buFont typeface="Arial" panose="020B0604020202020204" pitchFamily="34" charset="0"/>
              <a:buChar char="•"/>
            </a:pPr>
            <a:r>
              <a:rPr lang="en-US" sz="3200" dirty="0">
                <a:latin typeface="Poppins" panose="00000500000000000000" pitchFamily="2" charset="0"/>
                <a:cs typeface="Poppins" panose="00000500000000000000" pitchFamily="2" charset="0"/>
              </a:rPr>
              <a:t> </a:t>
            </a:r>
            <a:r>
              <a:rPr lang="en-US" sz="3200" dirty="0" err="1">
                <a:latin typeface="Poppins" panose="00000500000000000000" pitchFamily="2" charset="0"/>
                <a:cs typeface="Poppins" panose="00000500000000000000" pitchFamily="2" charset="0"/>
              </a:rPr>
              <a:t>max_depth</a:t>
            </a:r>
            <a:r>
              <a:rPr lang="en-US" sz="3200" dirty="0">
                <a:latin typeface="Poppins" panose="00000500000000000000" pitchFamily="2" charset="0"/>
                <a:cs typeface="Poppins" panose="00000500000000000000" pitchFamily="2" charset="0"/>
              </a:rPr>
              <a:t> = 4 – Limits tree depth to avoid overfitting.</a:t>
            </a:r>
          </a:p>
          <a:p>
            <a:pPr>
              <a:buFont typeface="Arial" panose="020B0604020202020204" pitchFamily="34" charset="0"/>
              <a:buChar char="•"/>
            </a:pPr>
            <a:r>
              <a:rPr lang="en-US" sz="3200" dirty="0">
                <a:latin typeface="Poppins" panose="00000500000000000000" pitchFamily="2" charset="0"/>
                <a:cs typeface="Poppins" panose="00000500000000000000" pitchFamily="2" charset="0"/>
              </a:rPr>
              <a:t>Offers </a:t>
            </a:r>
            <a:r>
              <a:rPr lang="en-US" sz="3200" b="1" dirty="0">
                <a:latin typeface="Poppins" panose="00000500000000000000" pitchFamily="2" charset="0"/>
                <a:cs typeface="Poppins" panose="00000500000000000000" pitchFamily="2" charset="0"/>
              </a:rPr>
              <a:t>high accuracy</a:t>
            </a:r>
            <a:r>
              <a:rPr lang="en-US" sz="3200" dirty="0">
                <a:latin typeface="Poppins" panose="00000500000000000000" pitchFamily="2" charset="0"/>
                <a:cs typeface="Poppins" panose="00000500000000000000" pitchFamily="2" charset="0"/>
              </a:rPr>
              <a:t> and </a:t>
            </a:r>
            <a:r>
              <a:rPr lang="en-US" sz="3200" b="1" dirty="0">
                <a:latin typeface="Poppins" panose="00000500000000000000" pitchFamily="2" charset="0"/>
                <a:cs typeface="Poppins" panose="00000500000000000000" pitchFamily="2" charset="0"/>
              </a:rPr>
              <a:t>robustness</a:t>
            </a:r>
            <a:r>
              <a:rPr lang="en-US" sz="3200" dirty="0">
                <a:latin typeface="Poppins" panose="00000500000000000000" pitchFamily="2" charset="0"/>
                <a:cs typeface="Poppins" panose="00000500000000000000" pitchFamily="2" charset="0"/>
              </a:rPr>
              <a:t> for binary classification tasks.</a:t>
            </a:r>
          </a:p>
          <a:p>
            <a:endParaRPr lang="en-US" sz="3200" dirty="0">
              <a:latin typeface="Poppins Medium" panose="00000600000000000000" pitchFamily="2" charset="0"/>
              <a:cs typeface="Poppins Medium" panose="00000600000000000000" pitchFamily="2" charset="0"/>
            </a:endParaRPr>
          </a:p>
          <a:p>
            <a:endParaRPr lang="en-IN" dirty="0"/>
          </a:p>
        </p:txBody>
      </p:sp>
    </p:spTree>
    <p:extLst>
      <p:ext uri="{BB962C8B-B14F-4D97-AF65-F5344CB8AC3E}">
        <p14:creationId xmlns:p14="http://schemas.microsoft.com/office/powerpoint/2010/main" val="2777632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grpSp>
        <p:nvGrpSpPr>
          <p:cNvPr id="297" name="Google Shape;297;p6"/>
          <p:cNvGrpSpPr/>
          <p:nvPr/>
        </p:nvGrpSpPr>
        <p:grpSpPr>
          <a:xfrm>
            <a:off x="-1109662" y="0"/>
            <a:ext cx="20507325" cy="10287000"/>
            <a:chOff x="0" y="0"/>
            <a:chExt cx="27343100" cy="13716000"/>
          </a:xfrm>
        </p:grpSpPr>
        <p:sp>
          <p:nvSpPr>
            <p:cNvPr id="298" name="Google Shape;298;p6"/>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299" name="Google Shape;299;p6"/>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300" name="Google Shape;300;p6"/>
          <p:cNvGrpSpPr/>
          <p:nvPr/>
        </p:nvGrpSpPr>
        <p:grpSpPr>
          <a:xfrm>
            <a:off x="1028700" y="1288952"/>
            <a:ext cx="16230600" cy="8263266"/>
            <a:chOff x="0" y="-57150"/>
            <a:chExt cx="4274726" cy="2176334"/>
          </a:xfrm>
        </p:grpSpPr>
        <p:sp>
          <p:nvSpPr>
            <p:cNvPr id="301" name="Google Shape;301;p6"/>
            <p:cNvSpPr/>
            <p:nvPr/>
          </p:nvSpPr>
          <p:spPr>
            <a:xfrm>
              <a:off x="0" y="0"/>
              <a:ext cx="4274726" cy="2119184"/>
            </a:xfrm>
            <a:custGeom>
              <a:avLst/>
              <a:gdLst/>
              <a:ahLst/>
              <a:cxnLst/>
              <a:rect l="l" t="t" r="r" b="b"/>
              <a:pathLst>
                <a:path w="4274726" h="2119184" extrusionOk="0">
                  <a:moveTo>
                    <a:pt x="0" y="0"/>
                  </a:moveTo>
                  <a:lnTo>
                    <a:pt x="4274726" y="0"/>
                  </a:lnTo>
                  <a:lnTo>
                    <a:pt x="4274726" y="2119184"/>
                  </a:lnTo>
                  <a:lnTo>
                    <a:pt x="0" y="2119184"/>
                  </a:lnTo>
                  <a:close/>
                </a:path>
              </a:pathLst>
            </a:custGeom>
            <a:solidFill>
              <a:srgbClr val="F1F2F2"/>
            </a:solidFill>
            <a:ln>
              <a:noFill/>
            </a:ln>
          </p:spPr>
          <p:txBody>
            <a:bodyPr/>
            <a:lstStyle/>
            <a:p>
              <a:endParaRPr lang="en-IN"/>
            </a:p>
          </p:txBody>
        </p:sp>
        <p:sp>
          <p:nvSpPr>
            <p:cNvPr id="302" name="Google Shape;302;p6"/>
            <p:cNvSpPr txBox="1"/>
            <p:nvPr/>
          </p:nvSpPr>
          <p:spPr>
            <a:xfrm>
              <a:off x="0" y="-57150"/>
              <a:ext cx="4274726" cy="217633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3" name="Google Shape;303;p6"/>
          <p:cNvGrpSpPr/>
          <p:nvPr/>
        </p:nvGrpSpPr>
        <p:grpSpPr>
          <a:xfrm>
            <a:off x="4842874" y="509699"/>
            <a:ext cx="6952160" cy="1579833"/>
            <a:chOff x="0" y="-57150"/>
            <a:chExt cx="2577547" cy="416085"/>
          </a:xfrm>
        </p:grpSpPr>
        <p:sp>
          <p:nvSpPr>
            <p:cNvPr id="304" name="Google Shape;304;p6"/>
            <p:cNvSpPr/>
            <p:nvPr/>
          </p:nvSpPr>
          <p:spPr>
            <a:xfrm>
              <a:off x="0" y="0"/>
              <a:ext cx="2577547" cy="358935"/>
            </a:xfrm>
            <a:custGeom>
              <a:avLst/>
              <a:gdLst/>
              <a:ahLst/>
              <a:cxnLst/>
              <a:rect l="l" t="t" r="r" b="b"/>
              <a:pathLst>
                <a:path w="2577547" h="358935" extrusionOk="0">
                  <a:moveTo>
                    <a:pt x="0" y="0"/>
                  </a:moveTo>
                  <a:lnTo>
                    <a:pt x="2577547" y="0"/>
                  </a:lnTo>
                  <a:lnTo>
                    <a:pt x="2577547" y="358935"/>
                  </a:lnTo>
                  <a:lnTo>
                    <a:pt x="0" y="358935"/>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305" name="Google Shape;305;p6"/>
            <p:cNvSpPr txBox="1"/>
            <p:nvPr/>
          </p:nvSpPr>
          <p:spPr>
            <a:xfrm>
              <a:off x="0" y="-57150"/>
              <a:ext cx="2577547" cy="41608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06" name="Google Shape;306;p6"/>
          <p:cNvSpPr/>
          <p:nvPr/>
        </p:nvSpPr>
        <p:spPr>
          <a:xfrm flipH="1">
            <a:off x="16164492" y="6443050"/>
            <a:ext cx="2189615" cy="1982597"/>
          </a:xfrm>
          <a:custGeom>
            <a:avLst/>
            <a:gdLst/>
            <a:ahLst/>
            <a:cxnLst/>
            <a:rect l="l" t="t" r="r" b="b"/>
            <a:pathLst>
              <a:path w="2189615" h="1982597" extrusionOk="0">
                <a:moveTo>
                  <a:pt x="2189616" y="0"/>
                </a:moveTo>
                <a:lnTo>
                  <a:pt x="0" y="0"/>
                </a:lnTo>
                <a:lnTo>
                  <a:pt x="0" y="1982597"/>
                </a:lnTo>
                <a:lnTo>
                  <a:pt x="2189616" y="1982597"/>
                </a:lnTo>
                <a:lnTo>
                  <a:pt x="2189616" y="0"/>
                </a:lnTo>
                <a:close/>
              </a:path>
            </a:pathLst>
          </a:custGeom>
          <a:blipFill rotWithShape="1">
            <a:blip r:embed="rId4">
              <a:alphaModFix/>
            </a:blip>
            <a:stretch>
              <a:fillRect/>
            </a:stretch>
          </a:blipFill>
          <a:ln>
            <a:noFill/>
          </a:ln>
        </p:spPr>
        <p:txBody>
          <a:bodyPr/>
          <a:lstStyle/>
          <a:p>
            <a:endParaRPr lang="en-IN"/>
          </a:p>
        </p:txBody>
      </p:sp>
      <p:sp>
        <p:nvSpPr>
          <p:cNvPr id="307" name="Google Shape;307;p6"/>
          <p:cNvSpPr/>
          <p:nvPr/>
        </p:nvSpPr>
        <p:spPr>
          <a:xfrm>
            <a:off x="-2300107" y="1028700"/>
            <a:ext cx="4927677" cy="1532060"/>
          </a:xfrm>
          <a:custGeom>
            <a:avLst/>
            <a:gdLst/>
            <a:ahLst/>
            <a:cxnLst/>
            <a:rect l="l" t="t" r="r" b="b"/>
            <a:pathLst>
              <a:path w="4927677" h="1532060" extrusionOk="0">
                <a:moveTo>
                  <a:pt x="0" y="0"/>
                </a:moveTo>
                <a:lnTo>
                  <a:pt x="4927677" y="0"/>
                </a:lnTo>
                <a:lnTo>
                  <a:pt x="4927677" y="1532060"/>
                </a:lnTo>
                <a:lnTo>
                  <a:pt x="0" y="1532060"/>
                </a:lnTo>
                <a:lnTo>
                  <a:pt x="0" y="0"/>
                </a:lnTo>
                <a:close/>
              </a:path>
            </a:pathLst>
          </a:custGeom>
          <a:blipFill rotWithShape="1">
            <a:blip r:embed="rId5">
              <a:alphaModFix/>
            </a:blip>
            <a:stretch>
              <a:fillRect/>
            </a:stretch>
          </a:blipFill>
          <a:ln>
            <a:noFill/>
          </a:ln>
        </p:spPr>
        <p:txBody>
          <a:bodyPr/>
          <a:lstStyle/>
          <a:p>
            <a:endParaRPr lang="en-IN"/>
          </a:p>
        </p:txBody>
      </p:sp>
      <p:sp>
        <p:nvSpPr>
          <p:cNvPr id="308" name="Google Shape;308;p6"/>
          <p:cNvSpPr txBox="1"/>
          <p:nvPr/>
        </p:nvSpPr>
        <p:spPr>
          <a:xfrm>
            <a:off x="2627570" y="840063"/>
            <a:ext cx="11116800" cy="769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dirty="0">
                <a:latin typeface="Fredoka"/>
                <a:ea typeface="Fredoka"/>
                <a:cs typeface="Fredoka"/>
                <a:sym typeface="Fredoka"/>
              </a:rPr>
              <a:t>APPLICATIONS</a:t>
            </a:r>
            <a:endParaRPr dirty="0"/>
          </a:p>
        </p:txBody>
      </p:sp>
      <p:sp>
        <p:nvSpPr>
          <p:cNvPr id="309" name="Google Shape;309;p6"/>
          <p:cNvSpPr txBox="1"/>
          <p:nvPr/>
        </p:nvSpPr>
        <p:spPr>
          <a:xfrm>
            <a:off x="5688375" y="3532350"/>
            <a:ext cx="9277200" cy="4383900"/>
          </a:xfrm>
          <a:prstGeom prst="rect">
            <a:avLst/>
          </a:prstGeom>
          <a:noFill/>
          <a:ln>
            <a:noFill/>
          </a:ln>
        </p:spPr>
        <p:txBody>
          <a:bodyPr spcFirstLastPara="1" wrap="square" lIns="0" tIns="0" rIns="0" bIns="0" anchor="t" anchorCtr="0">
            <a:spAutoFit/>
          </a:bodyPr>
          <a:lstStyle/>
          <a:p>
            <a:pPr marL="457200" lvl="0" indent="-419100" algn="l" rtl="0">
              <a:lnSpc>
                <a:spcPct val="155633"/>
              </a:lnSpc>
              <a:spcBef>
                <a:spcPts val="0"/>
              </a:spcBef>
              <a:spcAft>
                <a:spcPts val="0"/>
              </a:spcAft>
              <a:buClr>
                <a:schemeClr val="dk1"/>
              </a:buClr>
              <a:buSzPts val="3000"/>
              <a:buFont typeface="Poppins Medium"/>
              <a:buChar char="●"/>
            </a:pPr>
            <a:r>
              <a:rPr lang="en-US" sz="3000" dirty="0">
                <a:solidFill>
                  <a:schemeClr val="dk1"/>
                </a:solidFill>
                <a:latin typeface="Poppins Medium"/>
                <a:ea typeface="Poppins Medium"/>
                <a:cs typeface="Poppins Medium"/>
                <a:sym typeface="Poppins Medium"/>
              </a:rPr>
              <a:t>Web Security &amp; Safe Browsing</a:t>
            </a:r>
            <a:endParaRPr sz="3000" dirty="0">
              <a:solidFill>
                <a:schemeClr val="dk1"/>
              </a:solidFill>
              <a:latin typeface="Poppins Medium"/>
              <a:ea typeface="Poppins Medium"/>
              <a:cs typeface="Poppins Medium"/>
              <a:sym typeface="Poppins Medium"/>
            </a:endParaRPr>
          </a:p>
          <a:p>
            <a:pPr marL="457200" lvl="0" indent="-419100" algn="l" rtl="0">
              <a:lnSpc>
                <a:spcPct val="155633"/>
              </a:lnSpc>
              <a:spcBef>
                <a:spcPts val="0"/>
              </a:spcBef>
              <a:spcAft>
                <a:spcPts val="0"/>
              </a:spcAft>
              <a:buClr>
                <a:schemeClr val="dk1"/>
              </a:buClr>
              <a:buSzPts val="3000"/>
              <a:buFont typeface="Poppins Medium"/>
              <a:buChar char="●"/>
            </a:pPr>
            <a:r>
              <a:rPr lang="en-US" sz="3000" dirty="0">
                <a:solidFill>
                  <a:schemeClr val="dk1"/>
                </a:solidFill>
                <a:latin typeface="Poppins Medium"/>
                <a:ea typeface="Poppins Medium"/>
                <a:cs typeface="Poppins Medium"/>
                <a:sym typeface="Poppins Medium"/>
              </a:rPr>
              <a:t>Email Security &amp; Anti-Phishing Filters</a:t>
            </a:r>
            <a:endParaRPr sz="3000" dirty="0">
              <a:solidFill>
                <a:schemeClr val="dk1"/>
              </a:solidFill>
              <a:latin typeface="Poppins Medium"/>
              <a:ea typeface="Poppins Medium"/>
              <a:cs typeface="Poppins Medium"/>
              <a:sym typeface="Poppins Medium"/>
            </a:endParaRPr>
          </a:p>
          <a:p>
            <a:pPr marL="457200" lvl="0" indent="-419100" algn="l" rtl="0">
              <a:lnSpc>
                <a:spcPct val="155633"/>
              </a:lnSpc>
              <a:spcBef>
                <a:spcPts val="0"/>
              </a:spcBef>
              <a:spcAft>
                <a:spcPts val="0"/>
              </a:spcAft>
              <a:buClr>
                <a:schemeClr val="dk1"/>
              </a:buClr>
              <a:buSzPts val="3000"/>
              <a:buFont typeface="Poppins Medium"/>
              <a:buChar char="●"/>
            </a:pPr>
            <a:r>
              <a:rPr lang="en-US" sz="3000" dirty="0">
                <a:solidFill>
                  <a:schemeClr val="dk1"/>
                </a:solidFill>
                <a:latin typeface="Poppins Medium"/>
                <a:ea typeface="Poppins Medium"/>
                <a:cs typeface="Poppins Medium"/>
                <a:sym typeface="Poppins Medium"/>
              </a:rPr>
              <a:t>Financial Fraud Prevention</a:t>
            </a:r>
            <a:endParaRPr sz="3000" dirty="0">
              <a:solidFill>
                <a:schemeClr val="dk1"/>
              </a:solidFill>
              <a:latin typeface="Poppins Medium"/>
              <a:ea typeface="Poppins Medium"/>
              <a:cs typeface="Poppins Medium"/>
              <a:sym typeface="Poppins Medium"/>
            </a:endParaRPr>
          </a:p>
          <a:p>
            <a:pPr marL="457200" lvl="0" indent="-419100" algn="l" rtl="0">
              <a:lnSpc>
                <a:spcPct val="155633"/>
              </a:lnSpc>
              <a:spcBef>
                <a:spcPts val="0"/>
              </a:spcBef>
              <a:spcAft>
                <a:spcPts val="0"/>
              </a:spcAft>
              <a:buClr>
                <a:schemeClr val="dk1"/>
              </a:buClr>
              <a:buSzPts val="3000"/>
              <a:buFont typeface="Poppins Medium"/>
              <a:buChar char="●"/>
            </a:pPr>
            <a:r>
              <a:rPr lang="en-US" sz="3000" dirty="0">
                <a:solidFill>
                  <a:schemeClr val="dk1"/>
                </a:solidFill>
                <a:latin typeface="Poppins Medium"/>
                <a:ea typeface="Poppins Medium"/>
                <a:cs typeface="Poppins Medium"/>
                <a:sym typeface="Poppins Medium"/>
              </a:rPr>
              <a:t>Enterprise Cybersecurity Solutions</a:t>
            </a:r>
            <a:endParaRPr sz="3000" dirty="0">
              <a:solidFill>
                <a:schemeClr val="dk1"/>
              </a:solidFill>
              <a:latin typeface="Poppins Medium"/>
              <a:ea typeface="Poppins Medium"/>
              <a:cs typeface="Poppins Medium"/>
              <a:sym typeface="Poppins Medium"/>
            </a:endParaRPr>
          </a:p>
          <a:p>
            <a:pPr marL="457200" lvl="0" indent="-419100" algn="l" rtl="0">
              <a:lnSpc>
                <a:spcPct val="155633"/>
              </a:lnSpc>
              <a:spcBef>
                <a:spcPts val="0"/>
              </a:spcBef>
              <a:spcAft>
                <a:spcPts val="0"/>
              </a:spcAft>
              <a:buClr>
                <a:schemeClr val="dk1"/>
              </a:buClr>
              <a:buSzPts val="3000"/>
              <a:buFont typeface="Poppins Medium"/>
              <a:buChar char="●"/>
            </a:pPr>
            <a:r>
              <a:rPr lang="en-US" sz="3000" dirty="0">
                <a:solidFill>
                  <a:schemeClr val="dk1"/>
                </a:solidFill>
                <a:latin typeface="Poppins Medium"/>
                <a:ea typeface="Poppins Medium"/>
                <a:cs typeface="Poppins Medium"/>
                <a:sym typeface="Poppins Medium"/>
              </a:rPr>
              <a:t>Browser Extensions &amp; Security Tools</a:t>
            </a:r>
            <a:endParaRPr sz="3000" dirty="0">
              <a:solidFill>
                <a:schemeClr val="dk1"/>
              </a:solidFill>
              <a:latin typeface="Poppins Medium"/>
              <a:ea typeface="Poppins Medium"/>
              <a:cs typeface="Poppins Medium"/>
              <a:sym typeface="Poppins Medium"/>
            </a:endParaRPr>
          </a:p>
          <a:p>
            <a:pPr marL="0" marR="0" lvl="0" indent="0" algn="l" rtl="0">
              <a:lnSpc>
                <a:spcPct val="155633"/>
              </a:lnSpc>
              <a:spcBef>
                <a:spcPts val="0"/>
              </a:spcBef>
              <a:spcAft>
                <a:spcPts val="0"/>
              </a:spcAft>
              <a:buNone/>
            </a:pPr>
            <a:endParaRPr sz="5135" dirty="0">
              <a:latin typeface="Poppins Medium"/>
              <a:ea typeface="Poppins Medium"/>
              <a:cs typeface="Poppins Medium"/>
              <a:sym typeface="Poppi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grpSp>
        <p:nvGrpSpPr>
          <p:cNvPr id="314" name="Google Shape;314;p12"/>
          <p:cNvGrpSpPr/>
          <p:nvPr/>
        </p:nvGrpSpPr>
        <p:grpSpPr>
          <a:xfrm>
            <a:off x="-1119188" y="0"/>
            <a:ext cx="20507325" cy="10287000"/>
            <a:chOff x="0" y="0"/>
            <a:chExt cx="27343100" cy="13716000"/>
          </a:xfrm>
        </p:grpSpPr>
        <p:sp>
          <p:nvSpPr>
            <p:cNvPr id="315" name="Google Shape;315;p12"/>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316" name="Google Shape;316;p12"/>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grpSp>
        <p:nvGrpSpPr>
          <p:cNvPr id="317" name="Google Shape;317;p12"/>
          <p:cNvGrpSpPr/>
          <p:nvPr/>
        </p:nvGrpSpPr>
        <p:grpSpPr>
          <a:xfrm>
            <a:off x="4358773" y="336159"/>
            <a:ext cx="8688698" cy="2319824"/>
            <a:chOff x="0" y="-57150"/>
            <a:chExt cx="2288381" cy="610982"/>
          </a:xfrm>
        </p:grpSpPr>
        <p:sp>
          <p:nvSpPr>
            <p:cNvPr id="318" name="Google Shape;318;p12"/>
            <p:cNvSpPr/>
            <p:nvPr/>
          </p:nvSpPr>
          <p:spPr>
            <a:xfrm>
              <a:off x="0" y="0"/>
              <a:ext cx="2288381" cy="553832"/>
            </a:xfrm>
            <a:custGeom>
              <a:avLst/>
              <a:gdLst/>
              <a:ahLst/>
              <a:cxnLst/>
              <a:rect l="l" t="t" r="r" b="b"/>
              <a:pathLst>
                <a:path w="2288381" h="553832" extrusionOk="0">
                  <a:moveTo>
                    <a:pt x="0" y="0"/>
                  </a:moveTo>
                  <a:lnTo>
                    <a:pt x="2288381" y="0"/>
                  </a:lnTo>
                  <a:lnTo>
                    <a:pt x="2288381" y="553832"/>
                  </a:lnTo>
                  <a:lnTo>
                    <a:pt x="0" y="553832"/>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319" name="Google Shape;319;p12"/>
            <p:cNvSpPr txBox="1"/>
            <p:nvPr/>
          </p:nvSpPr>
          <p:spPr>
            <a:xfrm>
              <a:off x="0" y="-57150"/>
              <a:ext cx="2288381" cy="61098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20" name="Google Shape;320;p12"/>
          <p:cNvSpPr/>
          <p:nvPr/>
        </p:nvSpPr>
        <p:spPr>
          <a:xfrm>
            <a:off x="-815744" y="-688896"/>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321" name="Google Shape;321;p12"/>
          <p:cNvSpPr/>
          <p:nvPr/>
        </p:nvSpPr>
        <p:spPr>
          <a:xfrm flipH="1">
            <a:off x="15561698" y="480251"/>
            <a:ext cx="3395204" cy="1049427"/>
          </a:xfrm>
          <a:custGeom>
            <a:avLst/>
            <a:gdLst/>
            <a:ahLst/>
            <a:cxnLst/>
            <a:rect l="l" t="t" r="r" b="b"/>
            <a:pathLst>
              <a:path w="3395204" h="1049427" extrusionOk="0">
                <a:moveTo>
                  <a:pt x="3395204" y="0"/>
                </a:moveTo>
                <a:lnTo>
                  <a:pt x="0" y="0"/>
                </a:lnTo>
                <a:lnTo>
                  <a:pt x="0" y="1049427"/>
                </a:lnTo>
                <a:lnTo>
                  <a:pt x="3395204" y="1049427"/>
                </a:lnTo>
                <a:lnTo>
                  <a:pt x="3395204" y="0"/>
                </a:lnTo>
                <a:close/>
              </a:path>
            </a:pathLst>
          </a:custGeom>
          <a:blipFill rotWithShape="1">
            <a:blip r:embed="rId5">
              <a:alphaModFix/>
            </a:blip>
            <a:stretch>
              <a:fillRect/>
            </a:stretch>
          </a:blipFill>
          <a:ln>
            <a:noFill/>
          </a:ln>
        </p:spPr>
        <p:txBody>
          <a:bodyPr/>
          <a:lstStyle/>
          <a:p>
            <a:endParaRPr lang="en-IN"/>
          </a:p>
        </p:txBody>
      </p:sp>
      <p:graphicFrame>
        <p:nvGraphicFramePr>
          <p:cNvPr id="322" name="Google Shape;322;p12"/>
          <p:cNvGraphicFramePr/>
          <p:nvPr/>
        </p:nvGraphicFramePr>
        <p:xfrm>
          <a:off x="335676" y="3468390"/>
          <a:ext cx="17597600" cy="5044303"/>
        </p:xfrm>
        <a:graphic>
          <a:graphicData uri="http://schemas.openxmlformats.org/drawingml/2006/table">
            <a:tbl>
              <a:tblPr>
                <a:noFill/>
                <a:tableStyleId>{0868FE13-BAC4-4048-AD5E-5C70845600BE}</a:tableStyleId>
              </a:tblPr>
              <a:tblGrid>
                <a:gridCol w="1665100">
                  <a:extLst>
                    <a:ext uri="{9D8B030D-6E8A-4147-A177-3AD203B41FA5}">
                      <a16:colId xmlns:a16="http://schemas.microsoft.com/office/drawing/2014/main" val="20000"/>
                    </a:ext>
                  </a:extLst>
                </a:gridCol>
                <a:gridCol w="1569250">
                  <a:extLst>
                    <a:ext uri="{9D8B030D-6E8A-4147-A177-3AD203B41FA5}">
                      <a16:colId xmlns:a16="http://schemas.microsoft.com/office/drawing/2014/main" val="20001"/>
                    </a:ext>
                  </a:extLst>
                </a:gridCol>
                <a:gridCol w="1499800">
                  <a:extLst>
                    <a:ext uri="{9D8B030D-6E8A-4147-A177-3AD203B41FA5}">
                      <a16:colId xmlns:a16="http://schemas.microsoft.com/office/drawing/2014/main" val="20002"/>
                    </a:ext>
                  </a:extLst>
                </a:gridCol>
                <a:gridCol w="1828325">
                  <a:extLst>
                    <a:ext uri="{9D8B030D-6E8A-4147-A177-3AD203B41FA5}">
                      <a16:colId xmlns:a16="http://schemas.microsoft.com/office/drawing/2014/main" val="20003"/>
                    </a:ext>
                  </a:extLst>
                </a:gridCol>
                <a:gridCol w="1590400">
                  <a:extLst>
                    <a:ext uri="{9D8B030D-6E8A-4147-A177-3AD203B41FA5}">
                      <a16:colId xmlns:a16="http://schemas.microsoft.com/office/drawing/2014/main" val="20004"/>
                    </a:ext>
                  </a:extLst>
                </a:gridCol>
                <a:gridCol w="1663075">
                  <a:extLst>
                    <a:ext uri="{9D8B030D-6E8A-4147-A177-3AD203B41FA5}">
                      <a16:colId xmlns:a16="http://schemas.microsoft.com/office/drawing/2014/main" val="20005"/>
                    </a:ext>
                  </a:extLst>
                </a:gridCol>
                <a:gridCol w="1839175">
                  <a:extLst>
                    <a:ext uri="{9D8B030D-6E8A-4147-A177-3AD203B41FA5}">
                      <a16:colId xmlns:a16="http://schemas.microsoft.com/office/drawing/2014/main" val="20006"/>
                    </a:ext>
                  </a:extLst>
                </a:gridCol>
                <a:gridCol w="2096925">
                  <a:extLst>
                    <a:ext uri="{9D8B030D-6E8A-4147-A177-3AD203B41FA5}">
                      <a16:colId xmlns:a16="http://schemas.microsoft.com/office/drawing/2014/main" val="20007"/>
                    </a:ext>
                  </a:extLst>
                </a:gridCol>
                <a:gridCol w="2096925">
                  <a:extLst>
                    <a:ext uri="{9D8B030D-6E8A-4147-A177-3AD203B41FA5}">
                      <a16:colId xmlns:a16="http://schemas.microsoft.com/office/drawing/2014/main" val="20008"/>
                    </a:ext>
                  </a:extLst>
                </a:gridCol>
                <a:gridCol w="1748625">
                  <a:extLst>
                    <a:ext uri="{9D8B030D-6E8A-4147-A177-3AD203B41FA5}">
                      <a16:colId xmlns:a16="http://schemas.microsoft.com/office/drawing/2014/main" val="20009"/>
                    </a:ext>
                  </a:extLst>
                </a:gridCol>
              </a:tblGrid>
              <a:tr h="1238875">
                <a:tc>
                  <a:txBody>
                    <a:bodyPr/>
                    <a:lstStyle/>
                    <a:p>
                      <a:pPr marL="0" marR="0" lvl="0" indent="0" algn="ctr" rtl="0">
                        <a:lnSpc>
                          <a:spcPct val="140016"/>
                        </a:lnSpc>
                        <a:spcBef>
                          <a:spcPts val="0"/>
                        </a:spcBef>
                        <a:spcAft>
                          <a:spcPts val="0"/>
                        </a:spcAft>
                        <a:buNone/>
                      </a:pPr>
                      <a:r>
                        <a:rPr lang="en-US" sz="2399" b="1" u="none" strike="noStrike" cap="none">
                          <a:solidFill>
                            <a:srgbClr val="000000"/>
                          </a:solidFill>
                          <a:latin typeface="Poppins"/>
                          <a:ea typeface="Poppins"/>
                          <a:cs typeface="Poppins"/>
                          <a:sym typeface="Poppins"/>
                        </a:rPr>
                        <a:t>Week1</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Week2</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Week3</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Week4</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Week5</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Week6 &amp; Week7</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Week8</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Week9 &amp; Week10</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Week11 </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21"/>
                        </a:lnSpc>
                        <a:spcBef>
                          <a:spcPts val="0"/>
                        </a:spcBef>
                        <a:spcAft>
                          <a:spcPts val="0"/>
                        </a:spcAft>
                        <a:buNone/>
                      </a:pPr>
                      <a:r>
                        <a:rPr lang="en-US" sz="1899" b="1" u="none" strike="noStrike" cap="none">
                          <a:solidFill>
                            <a:srgbClr val="000000"/>
                          </a:solidFill>
                          <a:latin typeface="Poppins"/>
                          <a:ea typeface="Poppins"/>
                          <a:cs typeface="Poppins"/>
                          <a:sym typeface="Poppins"/>
                        </a:rPr>
                        <a:t>Week1</a:t>
                      </a:r>
                      <a:r>
                        <a:rPr lang="en-US" sz="1899" b="1">
                          <a:latin typeface="Poppins"/>
                          <a:ea typeface="Poppins"/>
                          <a:cs typeface="Poppins"/>
                          <a:sym typeface="Poppins"/>
                        </a:rPr>
                        <a:t>2</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409325">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Explored on various problems in present days</a:t>
                      </a:r>
                      <a:endParaRPr sz="1100" u="none" strike="noStrike" cap="none"/>
                    </a:p>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and project selection.</a:t>
                      </a:r>
                      <a:endParaRPr/>
                    </a:p>
                    <a:p>
                      <a:pPr marL="0" marR="0" lvl="0" indent="0" algn="ctr" rtl="0">
                        <a:lnSpc>
                          <a:spcPct val="140000"/>
                        </a:lnSpc>
                        <a:spcBef>
                          <a:spcPts val="0"/>
                        </a:spcBef>
                        <a:spcAft>
                          <a:spcPts val="0"/>
                        </a:spcAft>
                        <a:buNone/>
                      </a:pPr>
                      <a:endParaRPr sz="1800" u="none" strike="noStrike" cap="none">
                        <a:solidFill>
                          <a:srgbClr val="000000"/>
                        </a:solidFill>
                        <a:latin typeface="Poppins"/>
                        <a:ea typeface="Poppins"/>
                        <a:cs typeface="Poppins"/>
                        <a:sym typeface="Poppins"/>
                      </a:endParaRPr>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Gone through various research papers.</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Study of previous models and their</a:t>
                      </a:r>
                      <a:endParaRPr sz="1100" u="none" strike="noStrike" cap="none"/>
                    </a:p>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disadvantages.</a:t>
                      </a:r>
                      <a:endParaRPr/>
                    </a:p>
                    <a:p>
                      <a:pPr marL="0" marR="0" lvl="0" indent="0" algn="ctr" rtl="0">
                        <a:lnSpc>
                          <a:spcPct val="140000"/>
                        </a:lnSpc>
                        <a:spcBef>
                          <a:spcPts val="0"/>
                        </a:spcBef>
                        <a:spcAft>
                          <a:spcPts val="0"/>
                        </a:spcAft>
                        <a:buNone/>
                      </a:pPr>
                      <a:endParaRPr sz="1800" u="none" strike="noStrike" cap="none">
                        <a:solidFill>
                          <a:srgbClr val="000000"/>
                        </a:solidFill>
                        <a:latin typeface="Poppins"/>
                        <a:ea typeface="Poppins"/>
                        <a:cs typeface="Poppins"/>
                        <a:sym typeface="Poppins"/>
                      </a:endParaRPr>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Worked on various formats of machine learning models.</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Dataset collection</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Developi</a:t>
                      </a:r>
                      <a:r>
                        <a:rPr lang="en-US" sz="1800">
                          <a:latin typeface="Poppins"/>
                          <a:ea typeface="Poppins"/>
                          <a:cs typeface="Poppins"/>
                          <a:sym typeface="Poppins"/>
                        </a:rPr>
                        <a:t>n-</a:t>
                      </a:r>
                      <a:r>
                        <a:rPr lang="en-US" sz="1800" u="none" strike="noStrike" cap="none">
                          <a:solidFill>
                            <a:srgbClr val="000000"/>
                          </a:solidFill>
                          <a:latin typeface="Poppins"/>
                          <a:ea typeface="Poppins"/>
                          <a:cs typeface="Poppins"/>
                          <a:sym typeface="Poppins"/>
                        </a:rPr>
                        <a:t>g code</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Developing code and debugging errors</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Enhancement of code</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Real world deployment</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1800" u="none" strike="noStrike" cap="none">
                          <a:solidFill>
                            <a:srgbClr val="000000"/>
                          </a:solidFill>
                          <a:latin typeface="Poppins"/>
                          <a:ea typeface="Poppins"/>
                          <a:cs typeface="Poppins"/>
                          <a:sym typeface="Poppins"/>
                        </a:rPr>
                        <a:t>Documentation</a:t>
                      </a:r>
                      <a:endParaRPr sz="1100" u="none" strike="noStrike" cap="none"/>
                    </a:p>
                    <a:p>
                      <a:pPr marL="0" marR="0" lvl="0" indent="0" algn="ctr" rtl="0">
                        <a:lnSpc>
                          <a:spcPct val="229090"/>
                        </a:lnSpc>
                        <a:spcBef>
                          <a:spcPts val="0"/>
                        </a:spcBef>
                        <a:spcAft>
                          <a:spcPts val="0"/>
                        </a:spcAft>
                        <a:buNone/>
                      </a:pP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23" name="Google Shape;323;p12"/>
          <p:cNvSpPr txBox="1"/>
          <p:nvPr/>
        </p:nvSpPr>
        <p:spPr>
          <a:xfrm>
            <a:off x="4358773" y="793672"/>
            <a:ext cx="8262338" cy="15360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400" b="1" i="0" u="none" strike="noStrike" cap="none" dirty="0">
                <a:solidFill>
                  <a:srgbClr val="000000"/>
                </a:solidFill>
                <a:latin typeface="Fredoka"/>
                <a:ea typeface="Fredoka"/>
                <a:cs typeface="Fredoka"/>
                <a:sym typeface="Fredoka"/>
              </a:rPr>
              <a:t>PLANNING OF PROJECT    AND TEAM WORK</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B9A4-55DE-F3E7-B3B0-220A9E5FD10F}"/>
              </a:ext>
            </a:extLst>
          </p:cNvPr>
          <p:cNvSpPr>
            <a:spLocks noGrp="1"/>
          </p:cNvSpPr>
          <p:nvPr>
            <p:ph type="title"/>
          </p:nvPr>
        </p:nvSpPr>
        <p:spPr>
          <a:xfrm>
            <a:off x="4346293" y="0"/>
            <a:ext cx="8229600" cy="694481"/>
          </a:xfrm>
        </p:spPr>
        <p:txBody>
          <a:bodyPr>
            <a:normAutofit fontScale="90000"/>
          </a:bodyPr>
          <a:lstStyle/>
          <a:p>
            <a:r>
              <a:rPr lang="en-IN" dirty="0"/>
              <a:t> </a:t>
            </a:r>
            <a:br>
              <a:rPr lang="en-IN" dirty="0"/>
            </a:br>
            <a:r>
              <a:rPr lang="en-IN" dirty="0">
                <a:latin typeface="Fredoka" panose="020B0604020202020204" charset="-79"/>
                <a:cs typeface="Fredoka" panose="020B0604020202020204" charset="-79"/>
              </a:rPr>
              <a:t>PHISHING URL’S DATASET</a:t>
            </a:r>
          </a:p>
        </p:txBody>
      </p:sp>
      <p:pic>
        <p:nvPicPr>
          <p:cNvPr id="4" name="Picture 3">
            <a:extLst>
              <a:ext uri="{FF2B5EF4-FFF2-40B4-BE49-F238E27FC236}">
                <a16:creationId xmlns:a16="http://schemas.microsoft.com/office/drawing/2014/main" id="{FB59D280-59D9-9EA8-5C29-018136BEEE53}"/>
              </a:ext>
            </a:extLst>
          </p:cNvPr>
          <p:cNvPicPr>
            <a:picLocks noChangeAspect="1"/>
          </p:cNvPicPr>
          <p:nvPr/>
        </p:nvPicPr>
        <p:blipFill>
          <a:blip r:embed="rId3"/>
          <a:stretch>
            <a:fillRect/>
          </a:stretch>
        </p:blipFill>
        <p:spPr>
          <a:xfrm>
            <a:off x="160671" y="1493134"/>
            <a:ext cx="17966657" cy="8137003"/>
          </a:xfrm>
          <a:prstGeom prst="rect">
            <a:avLst/>
          </a:prstGeom>
        </p:spPr>
      </p:pic>
    </p:spTree>
    <p:extLst>
      <p:ext uri="{BB962C8B-B14F-4D97-AF65-F5344CB8AC3E}">
        <p14:creationId xmlns:p14="http://schemas.microsoft.com/office/powerpoint/2010/main" val="1032368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blue and white text&#10;&#10;AI-generated content may be incorrect.">
            <a:extLst>
              <a:ext uri="{FF2B5EF4-FFF2-40B4-BE49-F238E27FC236}">
                <a16:creationId xmlns:a16="http://schemas.microsoft.com/office/drawing/2014/main" id="{6165E3A6-E5B1-8CB1-0C93-ADDAD407DC7C}"/>
              </a:ext>
            </a:extLst>
          </p:cNvPr>
          <p:cNvPicPr>
            <a:picLocks noChangeAspect="1"/>
          </p:cNvPicPr>
          <p:nvPr/>
        </p:nvPicPr>
        <p:blipFill>
          <a:blip r:embed="rId2"/>
          <a:stretch>
            <a:fillRect/>
          </a:stretch>
        </p:blipFill>
        <p:spPr>
          <a:xfrm>
            <a:off x="8136628" y="1239520"/>
            <a:ext cx="8110744" cy="7345680"/>
          </a:xfrm>
          <a:prstGeom prst="rect">
            <a:avLst/>
          </a:prstGeom>
        </p:spPr>
      </p:pic>
      <p:sp>
        <p:nvSpPr>
          <p:cNvPr id="4" name="TextBox 3">
            <a:extLst>
              <a:ext uri="{FF2B5EF4-FFF2-40B4-BE49-F238E27FC236}">
                <a16:creationId xmlns:a16="http://schemas.microsoft.com/office/drawing/2014/main" id="{FA8864AA-BFF4-5908-036D-7206729EA44B}"/>
              </a:ext>
            </a:extLst>
          </p:cNvPr>
          <p:cNvSpPr txBox="1"/>
          <p:nvPr/>
        </p:nvSpPr>
        <p:spPr>
          <a:xfrm>
            <a:off x="2641600" y="944880"/>
            <a:ext cx="5313680" cy="7909858"/>
          </a:xfrm>
          <a:prstGeom prst="rect">
            <a:avLst/>
          </a:prstGeom>
          <a:noFill/>
        </p:spPr>
        <p:txBody>
          <a:bodyPr wrap="square" rtlCol="0">
            <a:spAutoFit/>
          </a:bodyPr>
          <a:lstStyle/>
          <a:p>
            <a:endParaRPr lang="en-US" dirty="0"/>
          </a:p>
          <a:p>
            <a:endParaRPr lang="en-US" dirty="0"/>
          </a:p>
          <a:p>
            <a:pPr marL="342900" indent="-342900">
              <a:buFont typeface="Arial" panose="020B0604020202020204" pitchFamily="34" charset="0"/>
              <a:buChar char="•"/>
            </a:pPr>
            <a:r>
              <a:rPr lang="en-US" sz="3200" dirty="0">
                <a:latin typeface="Poppins Medium" panose="00000600000000000000" pitchFamily="2" charset="0"/>
                <a:cs typeface="Poppins Medium" panose="00000600000000000000" pitchFamily="2" charset="0"/>
              </a:rPr>
              <a:t>There are 11054 instances and 31 </a:t>
            </a:r>
            <a:r>
              <a:rPr lang="en-US" sz="3200" dirty="0" err="1">
                <a:latin typeface="Poppins Medium" panose="00000600000000000000" pitchFamily="2" charset="0"/>
                <a:cs typeface="Poppins Medium" panose="00000600000000000000" pitchFamily="2" charset="0"/>
              </a:rPr>
              <a:t>fearures</a:t>
            </a:r>
            <a:r>
              <a:rPr lang="en-US" sz="3200" dirty="0">
                <a:latin typeface="Poppins Medium" panose="00000600000000000000" pitchFamily="2" charset="0"/>
                <a:cs typeface="Poppins Medium" panose="00000600000000000000" pitchFamily="2" charset="0"/>
              </a:rPr>
              <a:t> in dataset.</a:t>
            </a:r>
          </a:p>
          <a:p>
            <a:pPr marL="342900" indent="-342900">
              <a:buFont typeface="Arial" panose="020B0604020202020204" pitchFamily="34" charset="0"/>
              <a:buChar char="•"/>
            </a:pPr>
            <a:r>
              <a:rPr lang="en-US" sz="3200" dirty="0">
                <a:latin typeface="Poppins Medium" panose="00000600000000000000" pitchFamily="2" charset="0"/>
                <a:cs typeface="Poppins Medium" panose="00000600000000000000" pitchFamily="2" charset="0"/>
              </a:rPr>
              <a:t>Out of which 30 are independent features where as 1 is dependent feature.</a:t>
            </a:r>
          </a:p>
          <a:p>
            <a:pPr marL="342900" indent="-342900">
              <a:buFont typeface="Arial" panose="020B0604020202020204" pitchFamily="34" charset="0"/>
              <a:buChar char="•"/>
            </a:pPr>
            <a:r>
              <a:rPr lang="en-US" sz="3200" dirty="0">
                <a:latin typeface="Poppins Medium" panose="00000600000000000000" pitchFamily="2" charset="0"/>
                <a:cs typeface="Poppins Medium" panose="00000600000000000000" pitchFamily="2" charset="0"/>
              </a:rPr>
              <a:t>Each feature is in int datatype, so there is no need to use </a:t>
            </a:r>
            <a:r>
              <a:rPr lang="en-US" sz="3200" dirty="0" err="1">
                <a:latin typeface="Poppins Medium" panose="00000600000000000000" pitchFamily="2" charset="0"/>
                <a:cs typeface="Poppins Medium" panose="00000600000000000000" pitchFamily="2" charset="0"/>
              </a:rPr>
              <a:t>LabelEncoder</a:t>
            </a:r>
            <a:r>
              <a:rPr lang="en-US" sz="3200" dirty="0">
                <a:latin typeface="Poppins Medium" panose="00000600000000000000" pitchFamily="2" charset="0"/>
                <a:cs typeface="Poppins Medium" panose="00000600000000000000" pitchFamily="2" charset="0"/>
              </a:rPr>
              <a:t>.</a:t>
            </a:r>
          </a:p>
          <a:p>
            <a:pPr marL="342900" indent="-342900">
              <a:buFont typeface="Arial" panose="020B0604020202020204" pitchFamily="34" charset="0"/>
              <a:buChar char="•"/>
            </a:pPr>
            <a:r>
              <a:rPr lang="en-US" sz="3200" dirty="0">
                <a:latin typeface="Poppins Medium" panose="00000600000000000000" pitchFamily="2" charset="0"/>
                <a:cs typeface="Poppins Medium" panose="00000600000000000000" pitchFamily="2" charset="0"/>
              </a:rPr>
              <a:t>There is no outlier present in dataset.</a:t>
            </a:r>
          </a:p>
          <a:p>
            <a:pPr marL="342900" indent="-342900">
              <a:buFont typeface="Arial" panose="020B0604020202020204" pitchFamily="34" charset="0"/>
              <a:buChar char="•"/>
            </a:pPr>
            <a:r>
              <a:rPr lang="en-US" sz="3200" dirty="0">
                <a:latin typeface="Poppins Medium" panose="00000600000000000000" pitchFamily="2" charset="0"/>
                <a:cs typeface="Poppins Medium" panose="00000600000000000000" pitchFamily="2" charset="0"/>
              </a:rPr>
              <a:t>There is no missing value in dataset.</a:t>
            </a:r>
            <a:endParaRPr lang="en-IN" sz="3200" dirty="0">
              <a:latin typeface="Poppins Medium" panose="00000600000000000000" pitchFamily="2" charset="0"/>
              <a:cs typeface="Poppins Medium" panose="00000600000000000000" pitchFamily="2" charset="0"/>
            </a:endParaRPr>
          </a:p>
        </p:txBody>
      </p:sp>
      <p:grpSp>
        <p:nvGrpSpPr>
          <p:cNvPr id="5" name="Google Shape;203;p9">
            <a:extLst>
              <a:ext uri="{FF2B5EF4-FFF2-40B4-BE49-F238E27FC236}">
                <a16:creationId xmlns:a16="http://schemas.microsoft.com/office/drawing/2014/main" id="{90130333-5FC3-5738-CEFB-E8A1A1081437}"/>
              </a:ext>
            </a:extLst>
          </p:cNvPr>
          <p:cNvGrpSpPr/>
          <p:nvPr/>
        </p:nvGrpSpPr>
        <p:grpSpPr>
          <a:xfrm>
            <a:off x="5891126" y="0"/>
            <a:ext cx="6505738" cy="944880"/>
            <a:chOff x="0" y="-38100"/>
            <a:chExt cx="2070638" cy="493798"/>
          </a:xfrm>
        </p:grpSpPr>
        <p:sp>
          <p:nvSpPr>
            <p:cNvPr id="6" name="Google Shape;204;p9">
              <a:extLst>
                <a:ext uri="{FF2B5EF4-FFF2-40B4-BE49-F238E27FC236}">
                  <a16:creationId xmlns:a16="http://schemas.microsoft.com/office/drawing/2014/main" id="{ADAC2A66-00FA-9DC0-3870-56788C8E78DE}"/>
                </a:ext>
              </a:extLst>
            </p:cNvPr>
            <p:cNvSpPr/>
            <p:nvPr/>
          </p:nvSpPr>
          <p:spPr>
            <a:xfrm>
              <a:off x="0" y="0"/>
              <a:ext cx="2070638" cy="455698"/>
            </a:xfrm>
            <a:custGeom>
              <a:avLst/>
              <a:gdLst/>
              <a:ahLst/>
              <a:cxnLst/>
              <a:rect l="l" t="t" r="r" b="b"/>
              <a:pathLst>
                <a:path w="2070638" h="455698" extrusionOk="0">
                  <a:moveTo>
                    <a:pt x="0" y="0"/>
                  </a:moveTo>
                  <a:lnTo>
                    <a:pt x="2070638" y="0"/>
                  </a:lnTo>
                  <a:lnTo>
                    <a:pt x="2070638" y="455698"/>
                  </a:lnTo>
                  <a:lnTo>
                    <a:pt x="0" y="455698"/>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7" name="Google Shape;205;p9">
              <a:extLst>
                <a:ext uri="{FF2B5EF4-FFF2-40B4-BE49-F238E27FC236}">
                  <a16:creationId xmlns:a16="http://schemas.microsoft.com/office/drawing/2014/main" id="{3DA1865C-9A79-6BCF-C631-37DAB1321513}"/>
                </a:ext>
              </a:extLst>
            </p:cNvPr>
            <p:cNvSpPr txBox="1"/>
            <p:nvPr/>
          </p:nvSpPr>
          <p:spPr>
            <a:xfrm>
              <a:off x="0" y="-38100"/>
              <a:ext cx="2070638" cy="49379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3800" dirty="0">
                  <a:solidFill>
                    <a:schemeClr val="dk1"/>
                  </a:solidFill>
                  <a:latin typeface="Fredoka" panose="020B0604020202020204" charset="-79"/>
                  <a:ea typeface="Calibri"/>
                  <a:cs typeface="Fredoka" panose="020B0604020202020204" charset="-79"/>
                  <a:sym typeface="Calibri"/>
                </a:rPr>
                <a:t>FEATURE EXTRACTION</a:t>
              </a:r>
              <a:endParaRPr sz="3800" b="0" i="0" u="none" strike="noStrike" cap="none" dirty="0">
                <a:solidFill>
                  <a:schemeClr val="dk1"/>
                </a:solidFill>
                <a:latin typeface="Fredoka" panose="020B0604020202020204" charset="-79"/>
                <a:ea typeface="Calibri"/>
                <a:cs typeface="Fredoka" panose="020B0604020202020204" charset="-79"/>
                <a:sym typeface="Calibri"/>
              </a:endParaRPr>
            </a:p>
          </p:txBody>
        </p:sp>
      </p:grpSp>
    </p:spTree>
    <p:extLst>
      <p:ext uri="{BB962C8B-B14F-4D97-AF65-F5344CB8AC3E}">
        <p14:creationId xmlns:p14="http://schemas.microsoft.com/office/powerpoint/2010/main" val="2062722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64;p4">
            <a:extLst>
              <a:ext uri="{FF2B5EF4-FFF2-40B4-BE49-F238E27FC236}">
                <a16:creationId xmlns:a16="http://schemas.microsoft.com/office/drawing/2014/main" id="{E83E75BD-B46E-E441-3545-3A231A5831ED}"/>
              </a:ext>
            </a:extLst>
          </p:cNvPr>
          <p:cNvGrpSpPr/>
          <p:nvPr/>
        </p:nvGrpSpPr>
        <p:grpSpPr>
          <a:xfrm>
            <a:off x="-1109662" y="0"/>
            <a:ext cx="20507325" cy="10287000"/>
            <a:chOff x="0" y="0"/>
            <a:chExt cx="27343100" cy="13716000"/>
          </a:xfrm>
        </p:grpSpPr>
        <p:sp>
          <p:nvSpPr>
            <p:cNvPr id="3" name="Google Shape;165;p4">
              <a:extLst>
                <a:ext uri="{FF2B5EF4-FFF2-40B4-BE49-F238E27FC236}">
                  <a16:creationId xmlns:a16="http://schemas.microsoft.com/office/drawing/2014/main" id="{7F7C6194-5628-DAAB-F258-135453636785}"/>
                </a:ext>
              </a:extLst>
            </p:cNvPr>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sp>
          <p:nvSpPr>
            <p:cNvPr id="4" name="Google Shape;166;p4">
              <a:extLst>
                <a:ext uri="{FF2B5EF4-FFF2-40B4-BE49-F238E27FC236}">
                  <a16:creationId xmlns:a16="http://schemas.microsoft.com/office/drawing/2014/main" id="{D43A2A33-FD2A-5120-DB7C-43FF483B7EE6}"/>
                </a:ext>
              </a:extLst>
            </p:cNvPr>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grpSp>
      <p:grpSp>
        <p:nvGrpSpPr>
          <p:cNvPr id="5" name="Google Shape;167;p4">
            <a:extLst>
              <a:ext uri="{FF2B5EF4-FFF2-40B4-BE49-F238E27FC236}">
                <a16:creationId xmlns:a16="http://schemas.microsoft.com/office/drawing/2014/main" id="{CCCB64A1-142B-BE50-D587-2F1C793595A7}"/>
              </a:ext>
            </a:extLst>
          </p:cNvPr>
          <p:cNvGrpSpPr/>
          <p:nvPr/>
        </p:nvGrpSpPr>
        <p:grpSpPr>
          <a:xfrm>
            <a:off x="1028700" y="1288950"/>
            <a:ext cx="16230707" cy="7969401"/>
            <a:chOff x="0" y="-57150"/>
            <a:chExt cx="4274726" cy="2098923"/>
          </a:xfrm>
        </p:grpSpPr>
        <p:sp>
          <p:nvSpPr>
            <p:cNvPr id="6" name="Google Shape;168;p4">
              <a:extLst>
                <a:ext uri="{FF2B5EF4-FFF2-40B4-BE49-F238E27FC236}">
                  <a16:creationId xmlns:a16="http://schemas.microsoft.com/office/drawing/2014/main" id="{0620CFD1-DEB0-8EC9-FCAC-C27DB2537973}"/>
                </a:ext>
              </a:extLst>
            </p:cNvPr>
            <p:cNvSpPr/>
            <p:nvPr/>
          </p:nvSpPr>
          <p:spPr>
            <a:xfrm>
              <a:off x="0" y="0"/>
              <a:ext cx="4274726" cy="2041773"/>
            </a:xfrm>
            <a:custGeom>
              <a:avLst/>
              <a:gdLst/>
              <a:ahLst/>
              <a:cxnLst/>
              <a:rect l="l" t="t" r="r" b="b"/>
              <a:pathLst>
                <a:path w="4274726" h="2041773" extrusionOk="0">
                  <a:moveTo>
                    <a:pt x="0" y="0"/>
                  </a:moveTo>
                  <a:lnTo>
                    <a:pt x="4274726" y="0"/>
                  </a:lnTo>
                  <a:lnTo>
                    <a:pt x="4274726" y="2041773"/>
                  </a:lnTo>
                  <a:lnTo>
                    <a:pt x="0" y="2041773"/>
                  </a:lnTo>
                  <a:close/>
                </a:path>
              </a:pathLst>
            </a:custGeom>
            <a:solidFill>
              <a:srgbClr val="F1F2F2"/>
            </a:solidFill>
            <a:ln>
              <a:noFill/>
            </a:ln>
          </p:spPr>
          <p:txBody>
            <a:bodyPr/>
            <a:lstStyle/>
            <a:p>
              <a:endParaRPr lang="en-IN"/>
            </a:p>
          </p:txBody>
        </p:sp>
        <p:sp>
          <p:nvSpPr>
            <p:cNvPr id="7" name="Google Shape;169;p4">
              <a:extLst>
                <a:ext uri="{FF2B5EF4-FFF2-40B4-BE49-F238E27FC236}">
                  <a16:creationId xmlns:a16="http://schemas.microsoft.com/office/drawing/2014/main" id="{4980993F-BD6B-0CFA-0362-52A81D2DBDEB}"/>
                </a:ext>
              </a:extLst>
            </p:cNvPr>
            <p:cNvSpPr txBox="1"/>
            <p:nvPr/>
          </p:nvSpPr>
          <p:spPr>
            <a:xfrm>
              <a:off x="0" y="-57150"/>
              <a:ext cx="4274700" cy="2098800"/>
            </a:xfrm>
            <a:prstGeom prst="rect">
              <a:avLst/>
            </a:prstGeom>
            <a:noFill/>
            <a:ln>
              <a:noFill/>
            </a:ln>
          </p:spPr>
          <p:txBody>
            <a:bodyPr spcFirstLastPara="1" wrap="square" lIns="50800" tIns="50800" rIns="50800" bIns="50800" anchor="ctr" anchorCtr="0">
              <a:noAutofit/>
            </a:bodyPr>
            <a:lstStyle/>
            <a:p>
              <a:pPr marL="0" marR="0" lvl="0" indent="0" algn="l"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8" name="Google Shape;170;p4">
            <a:extLst>
              <a:ext uri="{FF2B5EF4-FFF2-40B4-BE49-F238E27FC236}">
                <a16:creationId xmlns:a16="http://schemas.microsoft.com/office/drawing/2014/main" id="{9276083A-961F-7E27-6794-2E22FAD147F3}"/>
              </a:ext>
            </a:extLst>
          </p:cNvPr>
          <p:cNvGrpSpPr/>
          <p:nvPr/>
        </p:nvGrpSpPr>
        <p:grpSpPr>
          <a:xfrm>
            <a:off x="3908323" y="470312"/>
            <a:ext cx="10287000" cy="1608367"/>
            <a:chOff x="0" y="-57150"/>
            <a:chExt cx="1751700" cy="423600"/>
          </a:xfrm>
        </p:grpSpPr>
        <p:sp>
          <p:nvSpPr>
            <p:cNvPr id="9" name="Google Shape;171;p4">
              <a:extLst>
                <a:ext uri="{FF2B5EF4-FFF2-40B4-BE49-F238E27FC236}">
                  <a16:creationId xmlns:a16="http://schemas.microsoft.com/office/drawing/2014/main" id="{9239F6AF-1D35-7D4D-8835-70C345818870}"/>
                </a:ext>
              </a:extLst>
            </p:cNvPr>
            <p:cNvSpPr/>
            <p:nvPr/>
          </p:nvSpPr>
          <p:spPr>
            <a:xfrm>
              <a:off x="0" y="0"/>
              <a:ext cx="1751599" cy="366307"/>
            </a:xfrm>
            <a:custGeom>
              <a:avLst/>
              <a:gdLst/>
              <a:ahLst/>
              <a:cxnLst/>
              <a:rect l="l" t="t" r="r" b="b"/>
              <a:pathLst>
                <a:path w="1751599" h="366307" extrusionOk="0">
                  <a:moveTo>
                    <a:pt x="0" y="0"/>
                  </a:moveTo>
                  <a:lnTo>
                    <a:pt x="1751599" y="0"/>
                  </a:lnTo>
                  <a:lnTo>
                    <a:pt x="1751599" y="366307"/>
                  </a:lnTo>
                  <a:lnTo>
                    <a:pt x="0" y="366307"/>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0" name="Google Shape;172;p4">
              <a:extLst>
                <a:ext uri="{FF2B5EF4-FFF2-40B4-BE49-F238E27FC236}">
                  <a16:creationId xmlns:a16="http://schemas.microsoft.com/office/drawing/2014/main" id="{02642B8E-DA42-AA22-78D3-1D6E83987039}"/>
                </a:ext>
              </a:extLst>
            </p:cNvPr>
            <p:cNvSpPr txBox="1"/>
            <p:nvPr/>
          </p:nvSpPr>
          <p:spPr>
            <a:xfrm>
              <a:off x="0" y="-57150"/>
              <a:ext cx="1751700" cy="423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 name="Google Shape;174;p4">
            <a:extLst>
              <a:ext uri="{FF2B5EF4-FFF2-40B4-BE49-F238E27FC236}">
                <a16:creationId xmlns:a16="http://schemas.microsoft.com/office/drawing/2014/main" id="{25382BF2-2FB9-A6DC-E645-126EE9FE537A}"/>
              </a:ext>
            </a:extLst>
          </p:cNvPr>
          <p:cNvSpPr/>
          <p:nvPr/>
        </p:nvSpPr>
        <p:spPr>
          <a:xfrm>
            <a:off x="14527161" y="5796116"/>
            <a:ext cx="3246489" cy="3347883"/>
          </a:xfrm>
          <a:custGeom>
            <a:avLst/>
            <a:gdLst/>
            <a:ahLst/>
            <a:cxnLst/>
            <a:rect l="l" t="t" r="r" b="b"/>
            <a:pathLst>
              <a:path w="1949375" h="1949375" extrusionOk="0">
                <a:moveTo>
                  <a:pt x="0" y="0"/>
                </a:moveTo>
                <a:lnTo>
                  <a:pt x="1949375" y="0"/>
                </a:lnTo>
                <a:lnTo>
                  <a:pt x="1949375" y="1949375"/>
                </a:lnTo>
                <a:lnTo>
                  <a:pt x="0" y="1949375"/>
                </a:lnTo>
                <a:lnTo>
                  <a:pt x="0" y="0"/>
                </a:lnTo>
                <a:close/>
              </a:path>
            </a:pathLst>
          </a:custGeom>
          <a:blipFill rotWithShape="1">
            <a:blip r:embed="rId3">
              <a:alphaModFix/>
            </a:blip>
            <a:stretch>
              <a:fillRect/>
            </a:stretch>
          </a:blipFill>
          <a:ln>
            <a:noFill/>
          </a:ln>
        </p:spPr>
        <p:txBody>
          <a:bodyPr/>
          <a:lstStyle/>
          <a:p>
            <a:endParaRPr lang="en-IN"/>
          </a:p>
        </p:txBody>
      </p:sp>
      <p:sp>
        <p:nvSpPr>
          <p:cNvPr id="13" name="Google Shape;175;p4">
            <a:extLst>
              <a:ext uri="{FF2B5EF4-FFF2-40B4-BE49-F238E27FC236}">
                <a16:creationId xmlns:a16="http://schemas.microsoft.com/office/drawing/2014/main" id="{009BAF3B-BF90-D728-626E-7E1975C5211A}"/>
              </a:ext>
            </a:extLst>
          </p:cNvPr>
          <p:cNvSpPr/>
          <p:nvPr/>
        </p:nvSpPr>
        <p:spPr>
          <a:xfrm>
            <a:off x="-668902" y="1028700"/>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4">
              <a:alphaModFix/>
            </a:blip>
            <a:stretch>
              <a:fillRect/>
            </a:stretch>
          </a:blipFill>
          <a:ln>
            <a:noFill/>
          </a:ln>
        </p:spPr>
        <p:txBody>
          <a:bodyPr/>
          <a:lstStyle/>
          <a:p>
            <a:endParaRPr lang="en-IN"/>
          </a:p>
        </p:txBody>
      </p:sp>
      <p:sp>
        <p:nvSpPr>
          <p:cNvPr id="14" name="Google Shape;176;p4">
            <a:extLst>
              <a:ext uri="{FF2B5EF4-FFF2-40B4-BE49-F238E27FC236}">
                <a16:creationId xmlns:a16="http://schemas.microsoft.com/office/drawing/2014/main" id="{18A21FCA-4365-1C44-3A41-1C05B1CDEA11}"/>
              </a:ext>
            </a:extLst>
          </p:cNvPr>
          <p:cNvSpPr txBox="1"/>
          <p:nvPr/>
        </p:nvSpPr>
        <p:spPr>
          <a:xfrm>
            <a:off x="2628402" y="856480"/>
            <a:ext cx="13195873" cy="94795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400" dirty="0">
                <a:latin typeface="Fredoka" panose="020B0604020202020204" charset="-79"/>
                <a:cs typeface="Fredoka" panose="020B0604020202020204" charset="-79"/>
              </a:rPr>
              <a:t>Step-by-Step: From URL to Prediction</a:t>
            </a:r>
            <a:endParaRPr sz="4400" dirty="0">
              <a:latin typeface="Fredoka" panose="020B0604020202020204" charset="-79"/>
              <a:cs typeface="Fredoka" panose="020B0604020202020204" charset="-79"/>
            </a:endParaRPr>
          </a:p>
        </p:txBody>
      </p:sp>
      <p:sp>
        <p:nvSpPr>
          <p:cNvPr id="17" name="TextBox 16">
            <a:extLst>
              <a:ext uri="{FF2B5EF4-FFF2-40B4-BE49-F238E27FC236}">
                <a16:creationId xmlns:a16="http://schemas.microsoft.com/office/drawing/2014/main" id="{A053F61C-5FEF-54DD-CC51-1C7F0F347DD3}"/>
              </a:ext>
            </a:extLst>
          </p:cNvPr>
          <p:cNvSpPr txBox="1"/>
          <p:nvPr/>
        </p:nvSpPr>
        <p:spPr>
          <a:xfrm>
            <a:off x="1238865" y="2905432"/>
            <a:ext cx="15117096" cy="4555093"/>
          </a:xfrm>
          <a:prstGeom prst="rect">
            <a:avLst/>
          </a:prstGeom>
          <a:noFill/>
        </p:spPr>
        <p:txBody>
          <a:bodyPr wrap="square" rtlCol="0">
            <a:spAutoFit/>
          </a:bodyPr>
          <a:lstStyle/>
          <a:p>
            <a:r>
              <a:rPr lang="en-IN" sz="3400" dirty="0">
                <a:latin typeface="Fredoka" panose="020B0604020202020204" charset="-79"/>
                <a:cs typeface="Fredoka" panose="020B0604020202020204" charset="-79"/>
              </a:rPr>
              <a:t>MACHINE LEARNING MODEL TRAINING:</a:t>
            </a:r>
          </a:p>
          <a:p>
            <a:endParaRPr lang="en-IN" sz="3200" dirty="0">
              <a:latin typeface="Poppins Black" panose="020B0502040204020203" pitchFamily="2" charset="0"/>
              <a:cs typeface="Poppins Black" panose="020B0502040204020203"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Dataset: phishing.csv with features and labels (1=Safe, -1=Phishing).</a:t>
            </a:r>
          </a:p>
          <a:p>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Model: Gradient Boosting Classifier trained on extracted features.</a:t>
            </a:r>
          </a:p>
          <a:p>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Data split: 80% training,20% testing.</a:t>
            </a:r>
          </a:p>
          <a:p>
            <a:endParaRPr lang="en-IN" sz="3200" dirty="0">
              <a:latin typeface="Poppins Medium" panose="00000600000000000000" pitchFamily="2" charset="0"/>
              <a:cs typeface="Poppins Medium" panose="00000600000000000000" pitchFamily="2" charset="0"/>
            </a:endParaRPr>
          </a:p>
          <a:p>
            <a:r>
              <a:rPr lang="en-IN" sz="3200" dirty="0">
                <a:latin typeface="Poppins Black" panose="020B0502040204020203" pitchFamily="2" charset="0"/>
                <a:cs typeface="Poppins Black" panose="020B0502040204020203" pitchFamily="2" charset="0"/>
              </a:rPr>
              <a:t>	</a:t>
            </a:r>
            <a:endParaRPr lang="en-IN" dirty="0"/>
          </a:p>
        </p:txBody>
      </p:sp>
    </p:spTree>
    <p:extLst>
      <p:ext uri="{BB962C8B-B14F-4D97-AF65-F5344CB8AC3E}">
        <p14:creationId xmlns:p14="http://schemas.microsoft.com/office/powerpoint/2010/main" val="2944364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64;p4">
            <a:extLst>
              <a:ext uri="{FF2B5EF4-FFF2-40B4-BE49-F238E27FC236}">
                <a16:creationId xmlns:a16="http://schemas.microsoft.com/office/drawing/2014/main" id="{B401B4FD-E2B3-4012-B1DA-FF1B21FEBECC}"/>
              </a:ext>
            </a:extLst>
          </p:cNvPr>
          <p:cNvGrpSpPr/>
          <p:nvPr/>
        </p:nvGrpSpPr>
        <p:grpSpPr>
          <a:xfrm>
            <a:off x="-1109662" y="0"/>
            <a:ext cx="20507325" cy="10287000"/>
            <a:chOff x="0" y="0"/>
            <a:chExt cx="27343100" cy="13716000"/>
          </a:xfrm>
        </p:grpSpPr>
        <p:sp>
          <p:nvSpPr>
            <p:cNvPr id="3" name="Google Shape;165;p4">
              <a:extLst>
                <a:ext uri="{FF2B5EF4-FFF2-40B4-BE49-F238E27FC236}">
                  <a16:creationId xmlns:a16="http://schemas.microsoft.com/office/drawing/2014/main" id="{038B7338-DC2F-A6AF-DCCB-57C31BE35291}"/>
                </a:ext>
              </a:extLst>
            </p:cNvPr>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sp>
          <p:nvSpPr>
            <p:cNvPr id="4" name="Google Shape;166;p4">
              <a:extLst>
                <a:ext uri="{FF2B5EF4-FFF2-40B4-BE49-F238E27FC236}">
                  <a16:creationId xmlns:a16="http://schemas.microsoft.com/office/drawing/2014/main" id="{1BF6A6EE-B2FE-9F49-5A23-05AECF2C93C7}"/>
                </a:ext>
              </a:extLst>
            </p:cNvPr>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grpSp>
      <p:grpSp>
        <p:nvGrpSpPr>
          <p:cNvPr id="5" name="Google Shape;167;p4">
            <a:extLst>
              <a:ext uri="{FF2B5EF4-FFF2-40B4-BE49-F238E27FC236}">
                <a16:creationId xmlns:a16="http://schemas.microsoft.com/office/drawing/2014/main" id="{03EEB5DD-DCCE-020A-F858-1CCD8F894D29}"/>
              </a:ext>
            </a:extLst>
          </p:cNvPr>
          <p:cNvGrpSpPr/>
          <p:nvPr/>
        </p:nvGrpSpPr>
        <p:grpSpPr>
          <a:xfrm>
            <a:off x="1028700" y="1288950"/>
            <a:ext cx="16230707" cy="7969401"/>
            <a:chOff x="0" y="-57150"/>
            <a:chExt cx="4274726" cy="2098923"/>
          </a:xfrm>
        </p:grpSpPr>
        <p:sp>
          <p:nvSpPr>
            <p:cNvPr id="6" name="Google Shape;168;p4">
              <a:extLst>
                <a:ext uri="{FF2B5EF4-FFF2-40B4-BE49-F238E27FC236}">
                  <a16:creationId xmlns:a16="http://schemas.microsoft.com/office/drawing/2014/main" id="{0480FE06-AC2C-2F1A-E55C-73B840B3753E}"/>
                </a:ext>
              </a:extLst>
            </p:cNvPr>
            <p:cNvSpPr/>
            <p:nvPr/>
          </p:nvSpPr>
          <p:spPr>
            <a:xfrm>
              <a:off x="0" y="0"/>
              <a:ext cx="4274726" cy="2041773"/>
            </a:xfrm>
            <a:custGeom>
              <a:avLst/>
              <a:gdLst/>
              <a:ahLst/>
              <a:cxnLst/>
              <a:rect l="l" t="t" r="r" b="b"/>
              <a:pathLst>
                <a:path w="4274726" h="2041773" extrusionOk="0">
                  <a:moveTo>
                    <a:pt x="0" y="0"/>
                  </a:moveTo>
                  <a:lnTo>
                    <a:pt x="4274726" y="0"/>
                  </a:lnTo>
                  <a:lnTo>
                    <a:pt x="4274726" y="2041773"/>
                  </a:lnTo>
                  <a:lnTo>
                    <a:pt x="0" y="2041773"/>
                  </a:lnTo>
                  <a:close/>
                </a:path>
              </a:pathLst>
            </a:custGeom>
            <a:solidFill>
              <a:srgbClr val="F1F2F2"/>
            </a:solidFill>
            <a:ln>
              <a:noFill/>
            </a:ln>
          </p:spPr>
          <p:txBody>
            <a:bodyPr/>
            <a:lstStyle/>
            <a:p>
              <a:endParaRPr lang="en-IN"/>
            </a:p>
          </p:txBody>
        </p:sp>
        <p:sp>
          <p:nvSpPr>
            <p:cNvPr id="7" name="Google Shape;169;p4">
              <a:extLst>
                <a:ext uri="{FF2B5EF4-FFF2-40B4-BE49-F238E27FC236}">
                  <a16:creationId xmlns:a16="http://schemas.microsoft.com/office/drawing/2014/main" id="{E2DE7225-BC80-55B4-C826-AE6CC168EE56}"/>
                </a:ext>
              </a:extLst>
            </p:cNvPr>
            <p:cNvSpPr txBox="1"/>
            <p:nvPr/>
          </p:nvSpPr>
          <p:spPr>
            <a:xfrm>
              <a:off x="0" y="-57150"/>
              <a:ext cx="4274700" cy="2098800"/>
            </a:xfrm>
            <a:prstGeom prst="rect">
              <a:avLst/>
            </a:prstGeom>
            <a:noFill/>
            <a:ln>
              <a:noFill/>
            </a:ln>
          </p:spPr>
          <p:txBody>
            <a:bodyPr spcFirstLastPara="1" wrap="square" lIns="50800" tIns="50800" rIns="50800" bIns="50800" anchor="ctr" anchorCtr="0">
              <a:noAutofit/>
            </a:bodyPr>
            <a:lstStyle/>
            <a:p>
              <a:pPr marL="0" marR="0" lvl="0" indent="0" algn="l"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1" name="Google Shape;174;p4">
            <a:extLst>
              <a:ext uri="{FF2B5EF4-FFF2-40B4-BE49-F238E27FC236}">
                <a16:creationId xmlns:a16="http://schemas.microsoft.com/office/drawing/2014/main" id="{A5672435-2DFA-59FC-2246-B77DBAD4B335}"/>
              </a:ext>
            </a:extLst>
          </p:cNvPr>
          <p:cNvSpPr/>
          <p:nvPr/>
        </p:nvSpPr>
        <p:spPr>
          <a:xfrm>
            <a:off x="14527161" y="5796116"/>
            <a:ext cx="3246489" cy="3347883"/>
          </a:xfrm>
          <a:custGeom>
            <a:avLst/>
            <a:gdLst/>
            <a:ahLst/>
            <a:cxnLst/>
            <a:rect l="l" t="t" r="r" b="b"/>
            <a:pathLst>
              <a:path w="1949375" h="1949375" extrusionOk="0">
                <a:moveTo>
                  <a:pt x="0" y="0"/>
                </a:moveTo>
                <a:lnTo>
                  <a:pt x="1949375" y="0"/>
                </a:lnTo>
                <a:lnTo>
                  <a:pt x="1949375" y="1949375"/>
                </a:lnTo>
                <a:lnTo>
                  <a:pt x="0" y="1949375"/>
                </a:lnTo>
                <a:lnTo>
                  <a:pt x="0" y="0"/>
                </a:lnTo>
                <a:close/>
              </a:path>
            </a:pathLst>
          </a:custGeom>
          <a:blipFill rotWithShape="1">
            <a:blip r:embed="rId3">
              <a:alphaModFix/>
            </a:blip>
            <a:stretch>
              <a:fillRect/>
            </a:stretch>
          </a:blipFill>
          <a:ln>
            <a:noFill/>
          </a:ln>
        </p:spPr>
        <p:txBody>
          <a:bodyPr/>
          <a:lstStyle/>
          <a:p>
            <a:endParaRPr lang="en-IN"/>
          </a:p>
        </p:txBody>
      </p:sp>
      <p:sp>
        <p:nvSpPr>
          <p:cNvPr id="12" name="Google Shape;175;p4">
            <a:extLst>
              <a:ext uri="{FF2B5EF4-FFF2-40B4-BE49-F238E27FC236}">
                <a16:creationId xmlns:a16="http://schemas.microsoft.com/office/drawing/2014/main" id="{A1943D73-3BEA-05F0-5085-0FDB48AE68E3}"/>
              </a:ext>
            </a:extLst>
          </p:cNvPr>
          <p:cNvSpPr/>
          <p:nvPr/>
        </p:nvSpPr>
        <p:spPr>
          <a:xfrm>
            <a:off x="-668902" y="1028700"/>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4">
              <a:alphaModFix/>
            </a:blip>
            <a:stretch>
              <a:fillRect/>
            </a:stretch>
          </a:blipFill>
          <a:ln>
            <a:noFill/>
          </a:ln>
        </p:spPr>
        <p:txBody>
          <a:bodyPr/>
          <a:lstStyle/>
          <a:p>
            <a:endParaRPr lang="en-IN"/>
          </a:p>
        </p:txBody>
      </p:sp>
      <p:sp>
        <p:nvSpPr>
          <p:cNvPr id="14" name="TextBox 13">
            <a:extLst>
              <a:ext uri="{FF2B5EF4-FFF2-40B4-BE49-F238E27FC236}">
                <a16:creationId xmlns:a16="http://schemas.microsoft.com/office/drawing/2014/main" id="{41CE98A7-5AC9-1DA2-CCA4-639B81DACC61}"/>
              </a:ext>
            </a:extLst>
          </p:cNvPr>
          <p:cNvSpPr txBox="1"/>
          <p:nvPr/>
        </p:nvSpPr>
        <p:spPr>
          <a:xfrm>
            <a:off x="1238865" y="2338377"/>
            <a:ext cx="15117096" cy="7509748"/>
          </a:xfrm>
          <a:prstGeom prst="rect">
            <a:avLst/>
          </a:prstGeom>
          <a:noFill/>
        </p:spPr>
        <p:txBody>
          <a:bodyPr wrap="square" rtlCol="0">
            <a:spAutoFit/>
          </a:bodyPr>
          <a:lstStyle/>
          <a:p>
            <a:r>
              <a:rPr lang="en-IN" sz="3400" dirty="0">
                <a:latin typeface="Fredoka" panose="020B0604020202020204" charset="-79"/>
                <a:cs typeface="Fredoka" panose="020B0604020202020204" charset="-79"/>
              </a:rPr>
              <a:t>FLASK WEB APPLICATION:</a:t>
            </a:r>
          </a:p>
          <a:p>
            <a:endParaRPr lang="en-IN" sz="3200" dirty="0">
              <a:latin typeface="Poppins Black" panose="020B0502040204020203" pitchFamily="2" charset="0"/>
              <a:cs typeface="Poppins Black" panose="020B0502040204020203"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User Interface: Built using Flask with an HTML form to input a URL.</a:t>
            </a:r>
          </a:p>
          <a:p>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Feature Extraction: The </a:t>
            </a:r>
            <a:r>
              <a:rPr lang="en-IN" sz="3200" dirty="0" err="1">
                <a:latin typeface="Poppins Medium" panose="00000600000000000000" pitchFamily="2" charset="0"/>
                <a:cs typeface="Poppins Medium" panose="00000600000000000000" pitchFamily="2" charset="0"/>
              </a:rPr>
              <a:t>FeatureExtraction</a:t>
            </a:r>
            <a:r>
              <a:rPr lang="en-IN" sz="3200" dirty="0">
                <a:latin typeface="Poppins Medium" panose="00000600000000000000" pitchFamily="2" charset="0"/>
                <a:cs typeface="Poppins Medium" panose="00000600000000000000" pitchFamily="2" charset="0"/>
              </a:rPr>
              <a:t> class processes the input URL and returns a list of 30 features.</a:t>
            </a:r>
          </a:p>
          <a:p>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Prediction:</a:t>
            </a:r>
          </a:p>
          <a:p>
            <a:pPr marL="457200" lvl="1" indent="-457200" algn="r">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The model predicts if the URL is phishing or not(1=safe, -1=unsafe).</a:t>
            </a:r>
          </a:p>
          <a:p>
            <a:pPr marL="457200" lvl="1" indent="-457200" algn="r">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    Probabilities for both classes are also calculated                              . </a:t>
            </a:r>
          </a:p>
          <a:p>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Output Display: Displays the prediction result on the webpage with       probability of being safe.</a:t>
            </a:r>
          </a:p>
          <a:p>
            <a:endParaRPr lang="en-IN" sz="3200" dirty="0">
              <a:latin typeface="Poppins Medium" panose="00000600000000000000" pitchFamily="2" charset="0"/>
              <a:cs typeface="Poppins Medium" panose="00000600000000000000" pitchFamily="2" charset="0"/>
            </a:endParaRPr>
          </a:p>
          <a:p>
            <a:r>
              <a:rPr lang="en-IN" sz="3200" dirty="0">
                <a:latin typeface="Poppins Black" panose="020B0502040204020203" pitchFamily="2" charset="0"/>
                <a:cs typeface="Poppins Black" panose="020B0502040204020203" pitchFamily="2" charset="0"/>
              </a:rPr>
              <a:t>	</a:t>
            </a:r>
            <a:endParaRPr lang="en-IN" dirty="0"/>
          </a:p>
        </p:txBody>
      </p:sp>
    </p:spTree>
    <p:extLst>
      <p:ext uri="{BB962C8B-B14F-4D97-AF65-F5344CB8AC3E}">
        <p14:creationId xmlns:p14="http://schemas.microsoft.com/office/powerpoint/2010/main" val="4230113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oogle Shape;164;p4">
            <a:extLst>
              <a:ext uri="{FF2B5EF4-FFF2-40B4-BE49-F238E27FC236}">
                <a16:creationId xmlns:a16="http://schemas.microsoft.com/office/drawing/2014/main" id="{496D8801-FFB6-85CE-0B89-FFCA62524CF2}"/>
              </a:ext>
            </a:extLst>
          </p:cNvPr>
          <p:cNvGrpSpPr/>
          <p:nvPr/>
        </p:nvGrpSpPr>
        <p:grpSpPr>
          <a:xfrm>
            <a:off x="-1109662" y="0"/>
            <a:ext cx="20507325" cy="10287000"/>
            <a:chOff x="0" y="0"/>
            <a:chExt cx="27343100" cy="13716000"/>
          </a:xfrm>
        </p:grpSpPr>
        <p:sp>
          <p:nvSpPr>
            <p:cNvPr id="16" name="Google Shape;165;p4">
              <a:extLst>
                <a:ext uri="{FF2B5EF4-FFF2-40B4-BE49-F238E27FC236}">
                  <a16:creationId xmlns:a16="http://schemas.microsoft.com/office/drawing/2014/main" id="{598B2FF4-6969-DE33-A13F-BE135B1D6A85}"/>
                </a:ext>
              </a:extLst>
            </p:cNvPr>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sp>
          <p:nvSpPr>
            <p:cNvPr id="17" name="Google Shape;166;p4">
              <a:extLst>
                <a:ext uri="{FF2B5EF4-FFF2-40B4-BE49-F238E27FC236}">
                  <a16:creationId xmlns:a16="http://schemas.microsoft.com/office/drawing/2014/main" id="{B3971F81-5401-C05A-5C1C-4A710E4C3C67}"/>
                </a:ext>
              </a:extLst>
            </p:cNvPr>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grpSp>
      <p:grpSp>
        <p:nvGrpSpPr>
          <p:cNvPr id="18" name="Google Shape;167;p4">
            <a:extLst>
              <a:ext uri="{FF2B5EF4-FFF2-40B4-BE49-F238E27FC236}">
                <a16:creationId xmlns:a16="http://schemas.microsoft.com/office/drawing/2014/main" id="{6286E797-F9D2-17EB-055F-330FB6ABA193}"/>
              </a:ext>
            </a:extLst>
          </p:cNvPr>
          <p:cNvGrpSpPr/>
          <p:nvPr/>
        </p:nvGrpSpPr>
        <p:grpSpPr>
          <a:xfrm>
            <a:off x="1028700" y="1288950"/>
            <a:ext cx="16230707" cy="7969401"/>
            <a:chOff x="0" y="-57150"/>
            <a:chExt cx="4274726" cy="2098923"/>
          </a:xfrm>
        </p:grpSpPr>
        <p:sp>
          <p:nvSpPr>
            <p:cNvPr id="19" name="Google Shape;168;p4">
              <a:extLst>
                <a:ext uri="{FF2B5EF4-FFF2-40B4-BE49-F238E27FC236}">
                  <a16:creationId xmlns:a16="http://schemas.microsoft.com/office/drawing/2014/main" id="{B88F0ADC-CBC2-6639-D972-652A0F1A7C8D}"/>
                </a:ext>
              </a:extLst>
            </p:cNvPr>
            <p:cNvSpPr/>
            <p:nvPr/>
          </p:nvSpPr>
          <p:spPr>
            <a:xfrm>
              <a:off x="0" y="0"/>
              <a:ext cx="4274726" cy="2041773"/>
            </a:xfrm>
            <a:custGeom>
              <a:avLst/>
              <a:gdLst/>
              <a:ahLst/>
              <a:cxnLst/>
              <a:rect l="l" t="t" r="r" b="b"/>
              <a:pathLst>
                <a:path w="4274726" h="2041773" extrusionOk="0">
                  <a:moveTo>
                    <a:pt x="0" y="0"/>
                  </a:moveTo>
                  <a:lnTo>
                    <a:pt x="4274726" y="0"/>
                  </a:lnTo>
                  <a:lnTo>
                    <a:pt x="4274726" y="2041773"/>
                  </a:lnTo>
                  <a:lnTo>
                    <a:pt x="0" y="2041773"/>
                  </a:lnTo>
                  <a:close/>
                </a:path>
              </a:pathLst>
            </a:custGeom>
            <a:solidFill>
              <a:srgbClr val="F1F2F2"/>
            </a:solidFill>
            <a:ln>
              <a:noFill/>
            </a:ln>
          </p:spPr>
          <p:txBody>
            <a:bodyPr/>
            <a:lstStyle/>
            <a:p>
              <a:endParaRPr lang="en-IN"/>
            </a:p>
          </p:txBody>
        </p:sp>
        <p:sp>
          <p:nvSpPr>
            <p:cNvPr id="20" name="Google Shape;169;p4">
              <a:extLst>
                <a:ext uri="{FF2B5EF4-FFF2-40B4-BE49-F238E27FC236}">
                  <a16:creationId xmlns:a16="http://schemas.microsoft.com/office/drawing/2014/main" id="{7D1DE940-79B6-0DF7-B819-91AC120F5C4D}"/>
                </a:ext>
              </a:extLst>
            </p:cNvPr>
            <p:cNvSpPr txBox="1"/>
            <p:nvPr/>
          </p:nvSpPr>
          <p:spPr>
            <a:xfrm>
              <a:off x="0" y="-57150"/>
              <a:ext cx="4274700" cy="2098800"/>
            </a:xfrm>
            <a:prstGeom prst="rect">
              <a:avLst/>
            </a:prstGeom>
            <a:noFill/>
            <a:ln>
              <a:noFill/>
            </a:ln>
          </p:spPr>
          <p:txBody>
            <a:bodyPr spcFirstLastPara="1" wrap="square" lIns="50800" tIns="50800" rIns="50800" bIns="50800" anchor="ctr" anchorCtr="0">
              <a:noAutofit/>
            </a:bodyPr>
            <a:lstStyle/>
            <a:p>
              <a:pPr marL="0" marR="0" lvl="0" indent="0" algn="l"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21" name="Google Shape;174;p4">
            <a:extLst>
              <a:ext uri="{FF2B5EF4-FFF2-40B4-BE49-F238E27FC236}">
                <a16:creationId xmlns:a16="http://schemas.microsoft.com/office/drawing/2014/main" id="{813350A3-FF23-80E9-09E1-2C9EE9B4CDB5}"/>
              </a:ext>
            </a:extLst>
          </p:cNvPr>
          <p:cNvSpPr/>
          <p:nvPr/>
        </p:nvSpPr>
        <p:spPr>
          <a:xfrm>
            <a:off x="14527161" y="5796116"/>
            <a:ext cx="3246489" cy="3347883"/>
          </a:xfrm>
          <a:custGeom>
            <a:avLst/>
            <a:gdLst/>
            <a:ahLst/>
            <a:cxnLst/>
            <a:rect l="l" t="t" r="r" b="b"/>
            <a:pathLst>
              <a:path w="1949375" h="1949375" extrusionOk="0">
                <a:moveTo>
                  <a:pt x="0" y="0"/>
                </a:moveTo>
                <a:lnTo>
                  <a:pt x="1949375" y="0"/>
                </a:lnTo>
                <a:lnTo>
                  <a:pt x="1949375" y="1949375"/>
                </a:lnTo>
                <a:lnTo>
                  <a:pt x="0" y="1949375"/>
                </a:lnTo>
                <a:lnTo>
                  <a:pt x="0" y="0"/>
                </a:lnTo>
                <a:close/>
              </a:path>
            </a:pathLst>
          </a:custGeom>
          <a:blipFill rotWithShape="1">
            <a:blip r:embed="rId3">
              <a:alphaModFix/>
            </a:blip>
            <a:stretch>
              <a:fillRect/>
            </a:stretch>
          </a:blipFill>
          <a:ln>
            <a:noFill/>
          </a:ln>
        </p:spPr>
        <p:txBody>
          <a:bodyPr/>
          <a:lstStyle/>
          <a:p>
            <a:endParaRPr lang="en-IN"/>
          </a:p>
        </p:txBody>
      </p:sp>
      <p:sp>
        <p:nvSpPr>
          <p:cNvPr id="22" name="Google Shape;175;p4">
            <a:extLst>
              <a:ext uri="{FF2B5EF4-FFF2-40B4-BE49-F238E27FC236}">
                <a16:creationId xmlns:a16="http://schemas.microsoft.com/office/drawing/2014/main" id="{DB636E90-1F88-8427-721D-4FFCCD988265}"/>
              </a:ext>
            </a:extLst>
          </p:cNvPr>
          <p:cNvSpPr/>
          <p:nvPr/>
        </p:nvSpPr>
        <p:spPr>
          <a:xfrm>
            <a:off x="-668902" y="1028700"/>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4">
              <a:alphaModFix/>
            </a:blip>
            <a:stretch>
              <a:fillRect/>
            </a:stretch>
          </a:blipFill>
          <a:ln>
            <a:noFill/>
          </a:ln>
        </p:spPr>
        <p:txBody>
          <a:bodyPr/>
          <a:lstStyle/>
          <a:p>
            <a:endParaRPr lang="en-IN"/>
          </a:p>
        </p:txBody>
      </p:sp>
      <p:sp>
        <p:nvSpPr>
          <p:cNvPr id="23" name="TextBox 22">
            <a:extLst>
              <a:ext uri="{FF2B5EF4-FFF2-40B4-BE49-F238E27FC236}">
                <a16:creationId xmlns:a16="http://schemas.microsoft.com/office/drawing/2014/main" id="{659F7BC1-C0FD-D9AE-472C-A755EDF9534F}"/>
              </a:ext>
            </a:extLst>
          </p:cNvPr>
          <p:cNvSpPr txBox="1"/>
          <p:nvPr/>
        </p:nvSpPr>
        <p:spPr>
          <a:xfrm>
            <a:off x="1238865" y="2338377"/>
            <a:ext cx="15117096" cy="5047536"/>
          </a:xfrm>
          <a:prstGeom prst="rect">
            <a:avLst/>
          </a:prstGeom>
          <a:noFill/>
        </p:spPr>
        <p:txBody>
          <a:bodyPr wrap="square" rtlCol="0">
            <a:spAutoFit/>
          </a:bodyPr>
          <a:lstStyle/>
          <a:p>
            <a:r>
              <a:rPr lang="en-IN" sz="3400" dirty="0">
                <a:latin typeface="Fredoka" panose="020B0604020202020204" charset="-79"/>
                <a:cs typeface="Fredoka" panose="020B0604020202020204" charset="-79"/>
              </a:rPr>
              <a:t>FULL FLOW :</a:t>
            </a:r>
          </a:p>
          <a:p>
            <a:endParaRPr lang="en-IN" sz="3200" dirty="0">
              <a:latin typeface="Poppins Black" panose="020B0502040204020203" pitchFamily="2" charset="0"/>
              <a:cs typeface="Poppins Black" panose="020B0502040204020203"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User enters a URL on the webpage.</a:t>
            </a:r>
          </a:p>
          <a:p>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Features are extracted from the URL.</a:t>
            </a:r>
          </a:p>
          <a:p>
            <a:pPr marL="457200" indent="-457200">
              <a:buFont typeface="Arial" panose="020B0604020202020204" pitchFamily="34" charset="0"/>
              <a:buChar char="•"/>
            </a:pPr>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Trained model predicts phishing status.</a:t>
            </a:r>
          </a:p>
          <a:p>
            <a:pPr marL="457200" indent="-457200">
              <a:buFont typeface="Arial" panose="020B0604020202020204" pitchFamily="34" charset="0"/>
              <a:buChar char="•"/>
            </a:pPr>
            <a:endParaRPr lang="en-IN" sz="3200" dirty="0">
              <a:latin typeface="Poppins Medium" panose="00000600000000000000" pitchFamily="2" charset="0"/>
              <a:cs typeface="Poppins Medium" panose="00000600000000000000" pitchFamily="2" charset="0"/>
            </a:endParaRPr>
          </a:p>
          <a:p>
            <a:pPr marL="457200" indent="-457200">
              <a:buFont typeface="Arial" panose="020B0604020202020204" pitchFamily="34" charset="0"/>
              <a:buChar char="•"/>
            </a:pPr>
            <a:r>
              <a:rPr lang="en-IN" sz="3200" dirty="0">
                <a:latin typeface="Poppins Medium" panose="00000600000000000000" pitchFamily="2" charset="0"/>
                <a:cs typeface="Poppins Medium" panose="00000600000000000000" pitchFamily="2" charset="0"/>
              </a:rPr>
              <a:t>Result is shown back to the user with confidence level.</a:t>
            </a:r>
          </a:p>
          <a:p>
            <a:r>
              <a:rPr lang="en-IN" sz="3200" dirty="0">
                <a:latin typeface="Poppins Black" panose="020B0502040204020203" pitchFamily="2" charset="0"/>
                <a:cs typeface="Poppins Black" panose="020B0502040204020203" pitchFamily="2" charset="0"/>
              </a:rPr>
              <a:t>	</a:t>
            </a:r>
            <a:endParaRPr lang="en-IN" dirty="0"/>
          </a:p>
        </p:txBody>
      </p:sp>
    </p:spTree>
    <p:extLst>
      <p:ext uri="{BB962C8B-B14F-4D97-AF65-F5344CB8AC3E}">
        <p14:creationId xmlns:p14="http://schemas.microsoft.com/office/powerpoint/2010/main" val="2989929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1F3A-48B9-7711-EF71-2251079B4D66}"/>
              </a:ext>
            </a:extLst>
          </p:cNvPr>
          <p:cNvSpPr>
            <a:spLocks noGrp="1"/>
          </p:cNvSpPr>
          <p:nvPr>
            <p:ph type="title"/>
          </p:nvPr>
        </p:nvSpPr>
        <p:spPr>
          <a:xfrm>
            <a:off x="4616244" y="132735"/>
            <a:ext cx="8627808" cy="1047135"/>
          </a:xfrm>
        </p:spPr>
        <p:txBody>
          <a:bodyPr>
            <a:normAutofit/>
          </a:bodyPr>
          <a:lstStyle/>
          <a:p>
            <a:r>
              <a:rPr lang="en-IN" sz="5000" b="1" dirty="0">
                <a:latin typeface="Fredoka" panose="020B0604020202020204" charset="-79"/>
                <a:cs typeface="Fredoka" panose="020B0604020202020204" charset="-79"/>
              </a:rPr>
              <a:t>RESULTS</a:t>
            </a:r>
          </a:p>
        </p:txBody>
      </p:sp>
      <p:pic>
        <p:nvPicPr>
          <p:cNvPr id="5" name="Picture 4" descr="A screenshot of a computer&#10;&#10;AI-generated content may be incorrect.">
            <a:extLst>
              <a:ext uri="{FF2B5EF4-FFF2-40B4-BE49-F238E27FC236}">
                <a16:creationId xmlns:a16="http://schemas.microsoft.com/office/drawing/2014/main" id="{5BC94518-7CBA-8729-9F42-8CB68A1CB243}"/>
              </a:ext>
            </a:extLst>
          </p:cNvPr>
          <p:cNvPicPr>
            <a:picLocks noChangeAspect="1"/>
          </p:cNvPicPr>
          <p:nvPr/>
        </p:nvPicPr>
        <p:blipFill>
          <a:blip r:embed="rId2"/>
          <a:stretch>
            <a:fillRect/>
          </a:stretch>
        </p:blipFill>
        <p:spPr>
          <a:xfrm>
            <a:off x="766916" y="1179870"/>
            <a:ext cx="16798413" cy="8332840"/>
          </a:xfrm>
          <a:prstGeom prst="rect">
            <a:avLst/>
          </a:prstGeom>
        </p:spPr>
      </p:pic>
    </p:spTree>
    <p:extLst>
      <p:ext uri="{BB962C8B-B14F-4D97-AF65-F5344CB8AC3E}">
        <p14:creationId xmlns:p14="http://schemas.microsoft.com/office/powerpoint/2010/main" val="395511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a:extLst>
              <a:ext uri="{FF2B5EF4-FFF2-40B4-BE49-F238E27FC236}">
                <a16:creationId xmlns:a16="http://schemas.microsoft.com/office/drawing/2014/main" id="{E3D4245B-DB1B-3CE0-FDDE-9C3DD477C248}"/>
              </a:ext>
            </a:extLst>
          </p:cNvPr>
          <p:cNvPicPr>
            <a:picLocks noChangeAspect="1"/>
          </p:cNvPicPr>
          <p:nvPr/>
        </p:nvPicPr>
        <p:blipFill>
          <a:blip r:embed="rId2"/>
          <a:stretch>
            <a:fillRect/>
          </a:stretch>
        </p:blipFill>
        <p:spPr>
          <a:xfrm>
            <a:off x="1032386" y="870154"/>
            <a:ext cx="16385459" cy="8554065"/>
          </a:xfrm>
          <a:prstGeom prst="rect">
            <a:avLst/>
          </a:prstGeom>
        </p:spPr>
      </p:pic>
    </p:spTree>
    <p:extLst>
      <p:ext uri="{BB962C8B-B14F-4D97-AF65-F5344CB8AC3E}">
        <p14:creationId xmlns:p14="http://schemas.microsoft.com/office/powerpoint/2010/main" val="1747293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F022F96D-83E0-85D7-FE64-B2A0B284FE60}"/>
              </a:ext>
            </a:extLst>
          </p:cNvPr>
          <p:cNvPicPr>
            <a:picLocks noChangeAspect="1"/>
          </p:cNvPicPr>
          <p:nvPr/>
        </p:nvPicPr>
        <p:blipFill>
          <a:blip r:embed="rId2"/>
          <a:stretch>
            <a:fillRect/>
          </a:stretch>
        </p:blipFill>
        <p:spPr>
          <a:xfrm>
            <a:off x="1143000" y="975360"/>
            <a:ext cx="16261080" cy="8412480"/>
          </a:xfrm>
          <a:prstGeom prst="rect">
            <a:avLst/>
          </a:prstGeom>
        </p:spPr>
      </p:pic>
    </p:spTree>
    <p:extLst>
      <p:ext uri="{BB962C8B-B14F-4D97-AF65-F5344CB8AC3E}">
        <p14:creationId xmlns:p14="http://schemas.microsoft.com/office/powerpoint/2010/main" val="3598503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424DFBF9-C8CF-A09C-A9A6-AFA65D643DBA}"/>
              </a:ext>
            </a:extLst>
          </p:cNvPr>
          <p:cNvPicPr>
            <a:picLocks noChangeAspect="1"/>
          </p:cNvPicPr>
          <p:nvPr/>
        </p:nvPicPr>
        <p:blipFill>
          <a:blip r:embed="rId2"/>
          <a:stretch>
            <a:fillRect/>
          </a:stretch>
        </p:blipFill>
        <p:spPr>
          <a:xfrm>
            <a:off x="1097280" y="1143000"/>
            <a:ext cx="16276320" cy="8046720"/>
          </a:xfrm>
          <a:prstGeom prst="rect">
            <a:avLst/>
          </a:prstGeom>
        </p:spPr>
      </p:pic>
    </p:spTree>
    <p:extLst>
      <p:ext uri="{BB962C8B-B14F-4D97-AF65-F5344CB8AC3E}">
        <p14:creationId xmlns:p14="http://schemas.microsoft.com/office/powerpoint/2010/main" val="4292930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99;p2">
            <a:extLst>
              <a:ext uri="{FF2B5EF4-FFF2-40B4-BE49-F238E27FC236}">
                <a16:creationId xmlns:a16="http://schemas.microsoft.com/office/drawing/2014/main" id="{96F4C24F-127D-595C-B2E7-1FDDF786C3DD}"/>
              </a:ext>
            </a:extLst>
          </p:cNvPr>
          <p:cNvGrpSpPr/>
          <p:nvPr/>
        </p:nvGrpSpPr>
        <p:grpSpPr>
          <a:xfrm>
            <a:off x="-1109663" y="874793"/>
            <a:ext cx="20507325" cy="10287000"/>
            <a:chOff x="0" y="0"/>
            <a:chExt cx="27343100" cy="13716000"/>
          </a:xfrm>
        </p:grpSpPr>
        <p:sp>
          <p:nvSpPr>
            <p:cNvPr id="4" name="Google Shape;100;p2">
              <a:extLst>
                <a:ext uri="{FF2B5EF4-FFF2-40B4-BE49-F238E27FC236}">
                  <a16:creationId xmlns:a16="http://schemas.microsoft.com/office/drawing/2014/main" id="{3978783F-9630-ADDC-DA10-60631AC24B31}"/>
                </a:ext>
              </a:extLst>
            </p:cNvPr>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sp>
          <p:nvSpPr>
            <p:cNvPr id="5" name="Google Shape;101;p2">
              <a:extLst>
                <a:ext uri="{FF2B5EF4-FFF2-40B4-BE49-F238E27FC236}">
                  <a16:creationId xmlns:a16="http://schemas.microsoft.com/office/drawing/2014/main" id="{C15C4B57-E28E-2E9F-8ECA-89F718F58D87}"/>
                </a:ext>
              </a:extLst>
            </p:cNvPr>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2">
                <a:alphaModFix/>
              </a:blip>
              <a:stretch>
                <a:fillRect/>
              </a:stretch>
            </a:blipFill>
            <a:ln>
              <a:noFill/>
            </a:ln>
          </p:spPr>
          <p:txBody>
            <a:bodyPr/>
            <a:lstStyle/>
            <a:p>
              <a:endParaRPr lang="en-IN"/>
            </a:p>
          </p:txBody>
        </p:sp>
      </p:grpSp>
      <p:grpSp>
        <p:nvGrpSpPr>
          <p:cNvPr id="6" name="Google Shape;102;p2">
            <a:extLst>
              <a:ext uri="{FF2B5EF4-FFF2-40B4-BE49-F238E27FC236}">
                <a16:creationId xmlns:a16="http://schemas.microsoft.com/office/drawing/2014/main" id="{9193B287-460A-04D4-CEF5-F8BBBA3BBE1E}"/>
              </a:ext>
            </a:extLst>
          </p:cNvPr>
          <p:cNvGrpSpPr/>
          <p:nvPr/>
        </p:nvGrpSpPr>
        <p:grpSpPr>
          <a:xfrm>
            <a:off x="995308" y="2683862"/>
            <a:ext cx="16230707" cy="6944563"/>
            <a:chOff x="0" y="-57150"/>
            <a:chExt cx="4274726" cy="1776103"/>
          </a:xfrm>
        </p:grpSpPr>
        <p:sp>
          <p:nvSpPr>
            <p:cNvPr id="7" name="Google Shape;103;p2">
              <a:extLst>
                <a:ext uri="{FF2B5EF4-FFF2-40B4-BE49-F238E27FC236}">
                  <a16:creationId xmlns:a16="http://schemas.microsoft.com/office/drawing/2014/main" id="{DEC00A36-1578-7225-0C7F-7E092C2F25EF}"/>
                </a:ext>
              </a:extLst>
            </p:cNvPr>
            <p:cNvSpPr/>
            <p:nvPr/>
          </p:nvSpPr>
          <p:spPr>
            <a:xfrm>
              <a:off x="0" y="0"/>
              <a:ext cx="4274726" cy="1718953"/>
            </a:xfrm>
            <a:custGeom>
              <a:avLst/>
              <a:gdLst/>
              <a:ahLst/>
              <a:cxnLst/>
              <a:rect l="l" t="t" r="r" b="b"/>
              <a:pathLst>
                <a:path w="4274726" h="1718953" extrusionOk="0">
                  <a:moveTo>
                    <a:pt x="0" y="0"/>
                  </a:moveTo>
                  <a:lnTo>
                    <a:pt x="4274726" y="0"/>
                  </a:lnTo>
                  <a:lnTo>
                    <a:pt x="4274726" y="1718953"/>
                  </a:lnTo>
                  <a:lnTo>
                    <a:pt x="0" y="1718953"/>
                  </a:lnTo>
                  <a:close/>
                </a:path>
              </a:pathLst>
            </a:custGeom>
            <a:solidFill>
              <a:srgbClr val="F1F2F2"/>
            </a:solidFill>
            <a:ln>
              <a:noFill/>
            </a:ln>
          </p:spPr>
          <p:txBody>
            <a:bodyPr/>
            <a:lstStyle/>
            <a:p>
              <a:endParaRPr lang="en-IN"/>
            </a:p>
          </p:txBody>
        </p:sp>
        <p:sp>
          <p:nvSpPr>
            <p:cNvPr id="8" name="Google Shape;104;p2">
              <a:extLst>
                <a:ext uri="{FF2B5EF4-FFF2-40B4-BE49-F238E27FC236}">
                  <a16:creationId xmlns:a16="http://schemas.microsoft.com/office/drawing/2014/main" id="{7659CF32-8B76-4F7F-2321-72ABC78791DB}"/>
                </a:ext>
              </a:extLst>
            </p:cNvPr>
            <p:cNvSpPr txBox="1"/>
            <p:nvPr/>
          </p:nvSpPr>
          <p:spPr>
            <a:xfrm>
              <a:off x="0" y="-57150"/>
              <a:ext cx="4274726" cy="177610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105;p2">
            <a:extLst>
              <a:ext uri="{FF2B5EF4-FFF2-40B4-BE49-F238E27FC236}">
                <a16:creationId xmlns:a16="http://schemas.microsoft.com/office/drawing/2014/main" id="{800C64A7-7665-4566-8252-53EFED302FB3}"/>
              </a:ext>
            </a:extLst>
          </p:cNvPr>
          <p:cNvGrpSpPr/>
          <p:nvPr/>
        </p:nvGrpSpPr>
        <p:grpSpPr>
          <a:xfrm>
            <a:off x="4921802" y="1227435"/>
            <a:ext cx="6752136" cy="1353862"/>
            <a:chOff x="-52236" y="167695"/>
            <a:chExt cx="1778340" cy="410954"/>
          </a:xfrm>
        </p:grpSpPr>
        <p:sp>
          <p:nvSpPr>
            <p:cNvPr id="10" name="Google Shape;106;p2">
              <a:extLst>
                <a:ext uri="{FF2B5EF4-FFF2-40B4-BE49-F238E27FC236}">
                  <a16:creationId xmlns:a16="http://schemas.microsoft.com/office/drawing/2014/main" id="{0EE09E29-07E7-76CF-3201-47A59F65A206}"/>
                </a:ext>
              </a:extLst>
            </p:cNvPr>
            <p:cNvSpPr/>
            <p:nvPr/>
          </p:nvSpPr>
          <p:spPr>
            <a:xfrm>
              <a:off x="3534" y="196270"/>
              <a:ext cx="1722570" cy="353804"/>
            </a:xfrm>
            <a:custGeom>
              <a:avLst/>
              <a:gdLst/>
              <a:ahLst/>
              <a:cxnLst/>
              <a:rect l="l" t="t" r="r" b="b"/>
              <a:pathLst>
                <a:path w="1722570" h="353804" extrusionOk="0">
                  <a:moveTo>
                    <a:pt x="0" y="0"/>
                  </a:moveTo>
                  <a:lnTo>
                    <a:pt x="1722570" y="0"/>
                  </a:lnTo>
                  <a:lnTo>
                    <a:pt x="1722570" y="353804"/>
                  </a:lnTo>
                  <a:lnTo>
                    <a:pt x="0" y="353804"/>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11" name="Google Shape;107;p2">
              <a:extLst>
                <a:ext uri="{FF2B5EF4-FFF2-40B4-BE49-F238E27FC236}">
                  <a16:creationId xmlns:a16="http://schemas.microsoft.com/office/drawing/2014/main" id="{671B26AC-110E-975C-BC40-F3EF2C1C5A59}"/>
                </a:ext>
              </a:extLst>
            </p:cNvPr>
            <p:cNvSpPr txBox="1"/>
            <p:nvPr/>
          </p:nvSpPr>
          <p:spPr>
            <a:xfrm>
              <a:off x="-52236" y="167695"/>
              <a:ext cx="1722570" cy="41095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5000" b="0" i="0" u="none" strike="noStrike" cap="none" dirty="0">
                  <a:solidFill>
                    <a:schemeClr val="dk1"/>
                  </a:solidFill>
                  <a:latin typeface="Fredoka" panose="020B0604020202020204" charset="-79"/>
                  <a:ea typeface="Calibri"/>
                  <a:cs typeface="Fredoka" panose="020B0604020202020204" charset="-79"/>
                  <a:sym typeface="Calibri"/>
                </a:rPr>
                <a:t>FUTURE SCOPE</a:t>
              </a:r>
              <a:endParaRPr sz="5000" b="0" i="0" u="none" strike="noStrike" cap="none" dirty="0">
                <a:solidFill>
                  <a:schemeClr val="dk1"/>
                </a:solidFill>
                <a:latin typeface="Fredoka" panose="020B0604020202020204" charset="-79"/>
                <a:ea typeface="Calibri"/>
                <a:cs typeface="Fredoka" panose="020B0604020202020204" charset="-79"/>
                <a:sym typeface="Calibri"/>
              </a:endParaRPr>
            </a:p>
          </p:txBody>
        </p:sp>
      </p:grpSp>
      <p:sp>
        <p:nvSpPr>
          <p:cNvPr id="13" name="Google Shape;109;p2">
            <a:extLst>
              <a:ext uri="{FF2B5EF4-FFF2-40B4-BE49-F238E27FC236}">
                <a16:creationId xmlns:a16="http://schemas.microsoft.com/office/drawing/2014/main" id="{60E052A0-DF52-D20B-53D4-84E37EDBEF00}"/>
              </a:ext>
            </a:extLst>
          </p:cNvPr>
          <p:cNvSpPr txBox="1"/>
          <p:nvPr/>
        </p:nvSpPr>
        <p:spPr>
          <a:xfrm>
            <a:off x="1979524" y="2165400"/>
            <a:ext cx="14475861" cy="5386090"/>
          </a:xfrm>
          <a:prstGeom prst="rect">
            <a:avLst/>
          </a:prstGeom>
          <a:noFill/>
          <a:ln>
            <a:noFill/>
          </a:ln>
        </p:spPr>
        <p:txBody>
          <a:bodyPr spcFirstLastPara="1" wrap="square" lIns="0" tIns="0" rIns="0" bIns="0" anchor="t" anchorCtr="0">
            <a:spAutoFit/>
          </a:bodyPr>
          <a:lstStyle/>
          <a:p>
            <a:pPr marL="394969" marR="0" lvl="1" algn="just" rtl="0">
              <a:lnSpc>
                <a:spcPct val="140011"/>
              </a:lnSpc>
              <a:spcBef>
                <a:spcPts val="0"/>
              </a:spcBef>
              <a:spcAft>
                <a:spcPts val="0"/>
              </a:spcAft>
              <a:buClr>
                <a:srgbClr val="000000"/>
              </a:buClr>
              <a:buSzPts val="3499"/>
            </a:pPr>
            <a:endParaRPr lang="en-US" sz="4000" dirty="0"/>
          </a:p>
          <a:p>
            <a:pPr marL="394969" marR="0" lvl="1" algn="just" rtl="0">
              <a:lnSpc>
                <a:spcPct val="140011"/>
              </a:lnSpc>
              <a:spcBef>
                <a:spcPts val="0"/>
              </a:spcBef>
              <a:spcAft>
                <a:spcPts val="0"/>
              </a:spcAft>
              <a:buClr>
                <a:srgbClr val="000000"/>
              </a:buClr>
              <a:buSzPts val="3499"/>
            </a:pPr>
            <a:endParaRPr lang="en-US" sz="3000" dirty="0">
              <a:latin typeface="Poppins Medium" panose="00000600000000000000" pitchFamily="2" charset="0"/>
              <a:cs typeface="Poppins Medium" panose="00000600000000000000" pitchFamily="2" charset="0"/>
            </a:endParaRPr>
          </a:p>
          <a:p>
            <a:pPr marL="966469" marR="0" lvl="1" indent="-571500" algn="just" rtl="0">
              <a:lnSpc>
                <a:spcPct val="140011"/>
              </a:lnSpc>
              <a:spcBef>
                <a:spcPts val="0"/>
              </a:spcBef>
              <a:spcAft>
                <a:spcPts val="0"/>
              </a:spcAft>
              <a:buClr>
                <a:srgbClr val="000000"/>
              </a:buClr>
              <a:buSzPts val="3499"/>
              <a:buFont typeface="Arial" panose="020B0604020202020204" pitchFamily="34" charset="0"/>
              <a:buChar char="•"/>
            </a:pPr>
            <a:r>
              <a:rPr lang="en-US" sz="3000" dirty="0">
                <a:latin typeface="Poppins Medium" panose="00000600000000000000" pitchFamily="2" charset="0"/>
                <a:cs typeface="Poppins Medium" panose="00000600000000000000" pitchFamily="2" charset="0"/>
              </a:rPr>
              <a:t>By including auxiliary modules like registration services, website content, network reputation, file paths, &amp; registry keys, </a:t>
            </a:r>
            <a:r>
              <a:rPr lang="en-US" sz="3000" dirty="0" err="1">
                <a:latin typeface="Poppins Medium" panose="00000600000000000000" pitchFamily="2" charset="0"/>
                <a:cs typeface="Poppins Medium" panose="00000600000000000000" pitchFamily="2" charset="0"/>
              </a:rPr>
              <a:t>DeepURLDetect</a:t>
            </a:r>
            <a:r>
              <a:rPr lang="en-US" sz="3000" dirty="0">
                <a:latin typeface="Poppins Medium" panose="00000600000000000000" pitchFamily="2" charset="0"/>
                <a:cs typeface="Poppins Medium" panose="00000600000000000000" pitchFamily="2" charset="0"/>
              </a:rPr>
              <a:t> (DUD) model can be strengthened. </a:t>
            </a:r>
          </a:p>
          <a:p>
            <a:pPr marL="394969" marR="0" lvl="1" algn="just" rtl="0">
              <a:lnSpc>
                <a:spcPct val="140011"/>
              </a:lnSpc>
              <a:spcBef>
                <a:spcPts val="0"/>
              </a:spcBef>
              <a:spcAft>
                <a:spcPts val="0"/>
              </a:spcAft>
              <a:buClr>
                <a:srgbClr val="000000"/>
              </a:buClr>
              <a:buSzPts val="3499"/>
            </a:pPr>
            <a:endParaRPr lang="en-US" sz="3000" dirty="0">
              <a:latin typeface="Poppins Medium" panose="00000600000000000000" pitchFamily="2" charset="0"/>
              <a:cs typeface="Poppins Medium" panose="00000600000000000000" pitchFamily="2" charset="0"/>
            </a:endParaRPr>
          </a:p>
          <a:p>
            <a:pPr marL="966469" marR="0" lvl="1" indent="-571500" algn="just" rtl="0">
              <a:lnSpc>
                <a:spcPct val="140011"/>
              </a:lnSpc>
              <a:spcBef>
                <a:spcPts val="0"/>
              </a:spcBef>
              <a:spcAft>
                <a:spcPts val="0"/>
              </a:spcAft>
              <a:buClr>
                <a:srgbClr val="000000"/>
              </a:buClr>
              <a:buSzPts val="3499"/>
              <a:buFont typeface="Arial" panose="020B0604020202020204" pitchFamily="34" charset="0"/>
              <a:buChar char="•"/>
            </a:pPr>
            <a:r>
              <a:rPr lang="en-US" sz="3000" dirty="0">
                <a:latin typeface="Poppins Medium" panose="00000600000000000000" pitchFamily="2" charset="0"/>
                <a:cs typeface="Poppins Medium" panose="00000600000000000000" pitchFamily="2" charset="0"/>
              </a:rPr>
              <a:t>One about key directions considering future work can be considered towards this.</a:t>
            </a:r>
            <a:endParaRPr lang="en-US" sz="3000" b="1" dirty="0">
              <a:latin typeface="Poppins Medium" panose="00000600000000000000" pitchFamily="2" charset="0"/>
              <a:ea typeface="Nunito"/>
              <a:cs typeface="Poppins Medium" panose="00000600000000000000" pitchFamily="2" charset="0"/>
              <a:sym typeface="Nunito"/>
            </a:endParaRPr>
          </a:p>
        </p:txBody>
      </p:sp>
      <p:sp>
        <p:nvSpPr>
          <p:cNvPr id="14" name="Google Shape;110;p2">
            <a:extLst>
              <a:ext uri="{FF2B5EF4-FFF2-40B4-BE49-F238E27FC236}">
                <a16:creationId xmlns:a16="http://schemas.microsoft.com/office/drawing/2014/main" id="{0BEE4443-2B2D-82F7-8318-C1060AD59D3B}"/>
              </a:ext>
            </a:extLst>
          </p:cNvPr>
          <p:cNvSpPr/>
          <p:nvPr/>
        </p:nvSpPr>
        <p:spPr>
          <a:xfrm>
            <a:off x="-1109662" y="-911620"/>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3">
              <a:alphaModFix/>
            </a:blip>
            <a:stretch>
              <a:fillRect/>
            </a:stretch>
          </a:blipFill>
          <a:ln>
            <a:noFill/>
          </a:ln>
        </p:spPr>
        <p:txBody>
          <a:bodyPr/>
          <a:lstStyle/>
          <a:p>
            <a:endParaRPr lang="en-IN"/>
          </a:p>
        </p:txBody>
      </p:sp>
      <p:sp>
        <p:nvSpPr>
          <p:cNvPr id="15" name="Google Shape;111;p2">
            <a:extLst>
              <a:ext uri="{FF2B5EF4-FFF2-40B4-BE49-F238E27FC236}">
                <a16:creationId xmlns:a16="http://schemas.microsoft.com/office/drawing/2014/main" id="{E737CEC8-CBD2-C3F0-A99E-9EBF13CD591A}"/>
              </a:ext>
            </a:extLst>
          </p:cNvPr>
          <p:cNvSpPr/>
          <p:nvPr/>
        </p:nvSpPr>
        <p:spPr>
          <a:xfrm>
            <a:off x="14386010" y="9237573"/>
            <a:ext cx="3395204" cy="1049427"/>
          </a:xfrm>
          <a:custGeom>
            <a:avLst/>
            <a:gdLst/>
            <a:ahLst/>
            <a:cxnLst/>
            <a:rect l="l" t="t" r="r" b="b"/>
            <a:pathLst>
              <a:path w="3395204" h="1049427" extrusionOk="0">
                <a:moveTo>
                  <a:pt x="0" y="0"/>
                </a:moveTo>
                <a:lnTo>
                  <a:pt x="3395204" y="0"/>
                </a:lnTo>
                <a:lnTo>
                  <a:pt x="3395204" y="1049427"/>
                </a:lnTo>
                <a:lnTo>
                  <a:pt x="0" y="1049427"/>
                </a:lnTo>
                <a:lnTo>
                  <a:pt x="0" y="0"/>
                </a:lnTo>
                <a:close/>
              </a:path>
            </a:pathLst>
          </a:custGeom>
          <a:blipFill rotWithShape="1">
            <a:blip r:embed="rId4">
              <a:alphaModFix/>
            </a:blip>
            <a:stretch>
              <a:fillRect/>
            </a:stretch>
          </a:blipFill>
          <a:ln>
            <a:noFill/>
          </a:ln>
        </p:spPr>
        <p:txBody>
          <a:bodyPr/>
          <a:lstStyle/>
          <a:p>
            <a:endParaRPr lang="en-IN"/>
          </a:p>
        </p:txBody>
      </p:sp>
    </p:spTree>
    <p:extLst>
      <p:ext uri="{BB962C8B-B14F-4D97-AF65-F5344CB8AC3E}">
        <p14:creationId xmlns:p14="http://schemas.microsoft.com/office/powerpoint/2010/main" val="4023106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1"/>
          <p:cNvSpPr/>
          <p:nvPr/>
        </p:nvSpPr>
        <p:spPr>
          <a:xfrm>
            <a:off x="-1176362" y="0"/>
            <a:ext cx="10287000" cy="10287000"/>
          </a:xfrm>
          <a:custGeom>
            <a:avLst/>
            <a:gdLst/>
            <a:ahLst/>
            <a:cxnLst/>
            <a:rect l="l" t="t" r="r" b="b"/>
            <a:pathLst>
              <a:path w="10287000" h="10287000" extrusionOk="0">
                <a:moveTo>
                  <a:pt x="0" y="0"/>
                </a:moveTo>
                <a:lnTo>
                  <a:pt x="10287000" y="0"/>
                </a:lnTo>
                <a:lnTo>
                  <a:pt x="10287000" y="10287000"/>
                </a:lnTo>
                <a:lnTo>
                  <a:pt x="0" y="10287000"/>
                </a:lnTo>
                <a:lnTo>
                  <a:pt x="0" y="0"/>
                </a:lnTo>
                <a:close/>
              </a:path>
            </a:pathLst>
          </a:custGeom>
          <a:blipFill rotWithShape="1">
            <a:blip r:embed="rId3">
              <a:alphaModFix/>
            </a:blip>
            <a:stretch>
              <a:fillRect/>
            </a:stretch>
          </a:blipFill>
          <a:ln>
            <a:noFill/>
          </a:ln>
        </p:spPr>
        <p:txBody>
          <a:bodyPr/>
          <a:lstStyle/>
          <a:p>
            <a:endParaRPr lang="en-IN"/>
          </a:p>
        </p:txBody>
      </p:sp>
      <p:sp>
        <p:nvSpPr>
          <p:cNvPr id="329" name="Google Shape;329;p11"/>
          <p:cNvSpPr/>
          <p:nvPr/>
        </p:nvSpPr>
        <p:spPr>
          <a:xfrm>
            <a:off x="9110662" y="0"/>
            <a:ext cx="10287000" cy="10287000"/>
          </a:xfrm>
          <a:custGeom>
            <a:avLst/>
            <a:gdLst/>
            <a:ahLst/>
            <a:cxnLst/>
            <a:rect l="l" t="t" r="r" b="b"/>
            <a:pathLst>
              <a:path w="10287000" h="10287000" extrusionOk="0">
                <a:moveTo>
                  <a:pt x="0" y="0"/>
                </a:moveTo>
                <a:lnTo>
                  <a:pt x="10287000" y="0"/>
                </a:lnTo>
                <a:lnTo>
                  <a:pt x="10287000" y="10287000"/>
                </a:lnTo>
                <a:lnTo>
                  <a:pt x="0" y="10287000"/>
                </a:lnTo>
                <a:lnTo>
                  <a:pt x="0" y="0"/>
                </a:lnTo>
                <a:close/>
              </a:path>
            </a:pathLst>
          </a:custGeom>
          <a:blipFill rotWithShape="1">
            <a:blip r:embed="rId3">
              <a:alphaModFix/>
            </a:blip>
            <a:stretch>
              <a:fillRect/>
            </a:stretch>
          </a:blipFill>
          <a:ln>
            <a:noFill/>
          </a:ln>
        </p:spPr>
        <p:txBody>
          <a:bodyPr/>
          <a:lstStyle/>
          <a:p>
            <a:endParaRPr lang="en-IN"/>
          </a:p>
        </p:txBody>
      </p:sp>
      <p:grpSp>
        <p:nvGrpSpPr>
          <p:cNvPr id="330" name="Google Shape;330;p11"/>
          <p:cNvGrpSpPr/>
          <p:nvPr/>
        </p:nvGrpSpPr>
        <p:grpSpPr>
          <a:xfrm>
            <a:off x="6288858" y="236040"/>
            <a:ext cx="5710298" cy="1608014"/>
            <a:chOff x="0" y="-57150"/>
            <a:chExt cx="1503937" cy="423507"/>
          </a:xfrm>
        </p:grpSpPr>
        <p:sp>
          <p:nvSpPr>
            <p:cNvPr id="331" name="Google Shape;331;p11"/>
            <p:cNvSpPr/>
            <p:nvPr/>
          </p:nvSpPr>
          <p:spPr>
            <a:xfrm>
              <a:off x="0" y="0"/>
              <a:ext cx="1503937" cy="366357"/>
            </a:xfrm>
            <a:custGeom>
              <a:avLst/>
              <a:gdLst/>
              <a:ahLst/>
              <a:cxnLst/>
              <a:rect l="l" t="t" r="r" b="b"/>
              <a:pathLst>
                <a:path w="1503937" h="366357" extrusionOk="0">
                  <a:moveTo>
                    <a:pt x="0" y="0"/>
                  </a:moveTo>
                  <a:lnTo>
                    <a:pt x="1503937" y="0"/>
                  </a:lnTo>
                  <a:lnTo>
                    <a:pt x="1503937" y="366357"/>
                  </a:lnTo>
                  <a:lnTo>
                    <a:pt x="0" y="366357"/>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332" name="Google Shape;332;p11"/>
            <p:cNvSpPr txBox="1"/>
            <p:nvPr/>
          </p:nvSpPr>
          <p:spPr>
            <a:xfrm>
              <a:off x="0" y="-57150"/>
              <a:ext cx="1503937" cy="42350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US" sz="5000" b="1">
                  <a:solidFill>
                    <a:schemeClr val="dk1"/>
                  </a:solidFill>
                  <a:latin typeface="Fredoka"/>
                  <a:ea typeface="Fredoka"/>
                  <a:cs typeface="Fredoka"/>
                  <a:sym typeface="Fredoka"/>
                </a:rPr>
                <a:t>REFERENCES</a:t>
              </a:r>
              <a:endParaRPr sz="5000" b="1" i="0" u="none" strike="noStrike" cap="none">
                <a:solidFill>
                  <a:schemeClr val="dk1"/>
                </a:solidFill>
                <a:latin typeface="Fredoka"/>
                <a:ea typeface="Fredoka"/>
                <a:cs typeface="Fredoka"/>
                <a:sym typeface="Fredoka"/>
              </a:endParaRPr>
            </a:p>
          </p:txBody>
        </p:sp>
      </p:grpSp>
      <p:sp>
        <p:nvSpPr>
          <p:cNvPr id="333" name="Google Shape;333;p11"/>
          <p:cNvSpPr/>
          <p:nvPr/>
        </p:nvSpPr>
        <p:spPr>
          <a:xfrm rot="-1536293" flipH="1">
            <a:off x="16486254" y="8889"/>
            <a:ext cx="2539822" cy="2299694"/>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sp>
        <p:nvSpPr>
          <p:cNvPr id="334" name="Google Shape;334;p11"/>
          <p:cNvSpPr/>
          <p:nvPr/>
        </p:nvSpPr>
        <p:spPr>
          <a:xfrm rot="10001629" flipH="1">
            <a:off x="-1080619" y="7966326"/>
            <a:ext cx="2536134" cy="2296355"/>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sp>
        <p:nvSpPr>
          <p:cNvPr id="335" name="Google Shape;335;p11"/>
          <p:cNvSpPr txBox="1"/>
          <p:nvPr/>
        </p:nvSpPr>
        <p:spPr>
          <a:xfrm>
            <a:off x="6007675" y="655310"/>
            <a:ext cx="6004200" cy="215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a:p>
        </p:txBody>
      </p:sp>
      <p:sp>
        <p:nvSpPr>
          <p:cNvPr id="336" name="Google Shape;336;p11"/>
          <p:cNvSpPr/>
          <p:nvPr/>
        </p:nvSpPr>
        <p:spPr>
          <a:xfrm flipH="1">
            <a:off x="16058557" y="9237576"/>
            <a:ext cx="3395204" cy="1049427"/>
          </a:xfrm>
          <a:custGeom>
            <a:avLst/>
            <a:gdLst/>
            <a:ahLst/>
            <a:cxnLst/>
            <a:rect l="l" t="t" r="r" b="b"/>
            <a:pathLst>
              <a:path w="3395204" h="1049427" extrusionOk="0">
                <a:moveTo>
                  <a:pt x="3395205" y="0"/>
                </a:moveTo>
                <a:lnTo>
                  <a:pt x="0" y="0"/>
                </a:lnTo>
                <a:lnTo>
                  <a:pt x="0" y="1049427"/>
                </a:lnTo>
                <a:lnTo>
                  <a:pt x="3395205" y="1049427"/>
                </a:lnTo>
                <a:lnTo>
                  <a:pt x="3395205" y="0"/>
                </a:lnTo>
                <a:close/>
              </a:path>
            </a:pathLst>
          </a:custGeom>
          <a:blipFill rotWithShape="1">
            <a:blip r:embed="rId5">
              <a:alphaModFix/>
            </a:blip>
            <a:stretch>
              <a:fillRect/>
            </a:stretch>
          </a:blipFill>
          <a:ln>
            <a:noFill/>
          </a:ln>
        </p:spPr>
        <p:txBody>
          <a:bodyPr/>
          <a:lstStyle/>
          <a:p>
            <a:endParaRPr lang="en-IN"/>
          </a:p>
        </p:txBody>
      </p:sp>
      <p:grpSp>
        <p:nvGrpSpPr>
          <p:cNvPr id="337" name="Google Shape;337;p11"/>
          <p:cNvGrpSpPr/>
          <p:nvPr/>
        </p:nvGrpSpPr>
        <p:grpSpPr>
          <a:xfrm>
            <a:off x="2071500" y="2023675"/>
            <a:ext cx="14373339" cy="7213894"/>
            <a:chOff x="0" y="-57150"/>
            <a:chExt cx="4274726" cy="2176334"/>
          </a:xfrm>
        </p:grpSpPr>
        <p:sp>
          <p:nvSpPr>
            <p:cNvPr id="338" name="Google Shape;338;p11"/>
            <p:cNvSpPr/>
            <p:nvPr/>
          </p:nvSpPr>
          <p:spPr>
            <a:xfrm>
              <a:off x="0" y="0"/>
              <a:ext cx="4274726" cy="2119184"/>
            </a:xfrm>
            <a:custGeom>
              <a:avLst/>
              <a:gdLst/>
              <a:ahLst/>
              <a:cxnLst/>
              <a:rect l="l" t="t" r="r" b="b"/>
              <a:pathLst>
                <a:path w="4274726" h="2119184" extrusionOk="0">
                  <a:moveTo>
                    <a:pt x="0" y="0"/>
                  </a:moveTo>
                  <a:lnTo>
                    <a:pt x="4274726" y="0"/>
                  </a:lnTo>
                  <a:lnTo>
                    <a:pt x="4274726" y="2119184"/>
                  </a:lnTo>
                  <a:lnTo>
                    <a:pt x="0" y="2119184"/>
                  </a:lnTo>
                  <a:close/>
                </a:path>
              </a:pathLst>
            </a:custGeom>
            <a:solidFill>
              <a:srgbClr val="F1F2F2"/>
            </a:solidFill>
            <a:ln>
              <a:noFill/>
            </a:ln>
          </p:spPr>
          <p:txBody>
            <a:bodyPr/>
            <a:lstStyle/>
            <a:p>
              <a:endParaRPr lang="en-IN"/>
            </a:p>
          </p:txBody>
        </p:sp>
        <p:sp>
          <p:nvSpPr>
            <p:cNvPr id="339" name="Google Shape;339;p11"/>
            <p:cNvSpPr txBox="1"/>
            <p:nvPr/>
          </p:nvSpPr>
          <p:spPr>
            <a:xfrm>
              <a:off x="0" y="-57150"/>
              <a:ext cx="4274700" cy="21762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40" name="Google Shape;340;p11"/>
          <p:cNvSpPr txBox="1"/>
          <p:nvPr/>
        </p:nvSpPr>
        <p:spPr>
          <a:xfrm>
            <a:off x="3010950" y="3156550"/>
            <a:ext cx="12118800" cy="4941000"/>
          </a:xfrm>
          <a:prstGeom prst="rect">
            <a:avLst/>
          </a:prstGeom>
          <a:noFill/>
          <a:ln>
            <a:noFill/>
          </a:ln>
        </p:spPr>
        <p:txBody>
          <a:bodyPr spcFirstLastPara="1" wrap="square" lIns="91425" tIns="91425" rIns="91425" bIns="91425" anchor="t" anchorCtr="0">
            <a:spAutoFit/>
          </a:bodyPr>
          <a:lstStyle/>
          <a:p>
            <a:pPr marL="457200" lvl="0" indent="-425450" algn="l" rtl="0">
              <a:spcBef>
                <a:spcPts val="0"/>
              </a:spcBef>
              <a:spcAft>
                <a:spcPts val="0"/>
              </a:spcAft>
              <a:buSzPts val="3100"/>
              <a:buFont typeface="Poppins"/>
              <a:buChar char="●"/>
            </a:pPr>
            <a:r>
              <a:rPr lang="en-US" sz="3100">
                <a:solidFill>
                  <a:schemeClr val="dk1"/>
                </a:solidFill>
                <a:latin typeface="Poppins"/>
                <a:ea typeface="Poppins"/>
                <a:cs typeface="Poppins"/>
                <a:sym typeface="Poppins"/>
              </a:rPr>
              <a:t>Shreya Gopal, </a:t>
            </a:r>
            <a:r>
              <a:rPr lang="en-US" sz="3100" i="1">
                <a:solidFill>
                  <a:schemeClr val="dk1"/>
                </a:solidFill>
                <a:latin typeface="Poppins"/>
                <a:ea typeface="Poppins"/>
                <a:cs typeface="Poppins"/>
                <a:sym typeface="Poppins"/>
              </a:rPr>
              <a:t>Phishing Website Detection using Machine Learning Techniques</a:t>
            </a:r>
            <a:r>
              <a:rPr lang="en-US" sz="3100">
                <a:solidFill>
                  <a:schemeClr val="dk1"/>
                </a:solidFill>
                <a:latin typeface="Poppins"/>
                <a:ea typeface="Poppins"/>
                <a:cs typeface="Poppins"/>
                <a:sym typeface="Poppins"/>
              </a:rPr>
              <a:t>, GitHub,</a:t>
            </a:r>
            <a:r>
              <a:rPr lang="en-US" sz="3100">
                <a:solidFill>
                  <a:schemeClr val="dk1"/>
                </a:solidFill>
                <a:uFill>
                  <a:noFill/>
                </a:uFill>
                <a:latin typeface="Poppins"/>
                <a:ea typeface="Poppins"/>
                <a:cs typeface="Poppins"/>
                <a:sym typeface="Poppins"/>
                <a:hlinkClick r:id="rId6">
                  <a:extLst>
                    <a:ext uri="{A12FA001-AC4F-418D-AE19-62706E023703}">
                      <ahyp:hlinkClr xmlns:ahyp="http://schemas.microsoft.com/office/drawing/2018/hyperlinkcolor" val="tx"/>
                    </a:ext>
                  </a:extLst>
                </a:hlinkClick>
              </a:rPr>
              <a:t> </a:t>
            </a:r>
            <a:r>
              <a:rPr lang="en-US" sz="3100" u="sng">
                <a:solidFill>
                  <a:schemeClr val="hlink"/>
                </a:solidFill>
                <a:latin typeface="Poppins"/>
                <a:ea typeface="Poppins"/>
                <a:cs typeface="Poppins"/>
                <a:sym typeface="Poppins"/>
                <a:hlinkClick r:id="rId6"/>
              </a:rPr>
              <a:t>Link</a:t>
            </a:r>
            <a:endParaRPr sz="3100" u="sng">
              <a:solidFill>
                <a:schemeClr val="hlink"/>
              </a:solidFill>
              <a:latin typeface="Poppins"/>
              <a:ea typeface="Poppins"/>
              <a:cs typeface="Poppins"/>
              <a:sym typeface="Poppins"/>
            </a:endParaRPr>
          </a:p>
          <a:p>
            <a:pPr marL="457200" lvl="0" indent="0" algn="l" rtl="0">
              <a:spcBef>
                <a:spcPts val="0"/>
              </a:spcBef>
              <a:spcAft>
                <a:spcPts val="0"/>
              </a:spcAft>
              <a:buNone/>
            </a:pPr>
            <a:endParaRPr sz="3100" u="sng">
              <a:solidFill>
                <a:schemeClr val="hlink"/>
              </a:solidFill>
              <a:latin typeface="Poppins"/>
              <a:ea typeface="Poppins"/>
              <a:cs typeface="Poppins"/>
              <a:sym typeface="Poppins"/>
            </a:endParaRPr>
          </a:p>
          <a:p>
            <a:pPr marL="457200" lvl="0" indent="-425450" algn="l" rtl="0">
              <a:spcBef>
                <a:spcPts val="0"/>
              </a:spcBef>
              <a:spcAft>
                <a:spcPts val="0"/>
              </a:spcAft>
              <a:buSzPts val="3100"/>
              <a:buFont typeface="Poppins"/>
              <a:buChar char="●"/>
            </a:pPr>
            <a:r>
              <a:rPr lang="en-US" sz="3100">
                <a:solidFill>
                  <a:schemeClr val="dk1"/>
                </a:solidFill>
                <a:latin typeface="Poppins"/>
                <a:ea typeface="Poppins"/>
                <a:cs typeface="Poppins"/>
                <a:sym typeface="Poppins"/>
              </a:rPr>
              <a:t>Research Paper: </a:t>
            </a:r>
            <a:r>
              <a:rPr lang="en-US" sz="3100" i="1">
                <a:solidFill>
                  <a:schemeClr val="dk1"/>
                </a:solidFill>
                <a:latin typeface="Poppins"/>
                <a:ea typeface="Poppins"/>
                <a:cs typeface="Poppins"/>
                <a:sym typeface="Poppins"/>
              </a:rPr>
              <a:t>Phishing Website Detection using ML Algorithms</a:t>
            </a:r>
            <a:r>
              <a:rPr lang="en-US" sz="3100">
                <a:solidFill>
                  <a:schemeClr val="dk1"/>
                </a:solidFill>
                <a:latin typeface="Poppins"/>
                <a:ea typeface="Poppins"/>
                <a:cs typeface="Poppins"/>
                <a:sym typeface="Poppins"/>
              </a:rPr>
              <a:t>, ResearchGate,</a:t>
            </a:r>
            <a:r>
              <a:rPr lang="en-US" sz="3100">
                <a:solidFill>
                  <a:schemeClr val="dk1"/>
                </a:solidFill>
                <a:uFill>
                  <a:noFill/>
                </a:uFill>
                <a:latin typeface="Poppins"/>
                <a:ea typeface="Poppins"/>
                <a:cs typeface="Poppins"/>
                <a:sym typeface="Poppins"/>
                <a:hlinkClick r:id="rId7">
                  <a:extLst>
                    <a:ext uri="{A12FA001-AC4F-418D-AE19-62706E023703}">
                      <ahyp:hlinkClr xmlns:ahyp="http://schemas.microsoft.com/office/drawing/2018/hyperlinkcolor" val="tx"/>
                    </a:ext>
                  </a:extLst>
                </a:hlinkClick>
              </a:rPr>
              <a:t> </a:t>
            </a:r>
            <a:r>
              <a:rPr lang="en-US" sz="3100" u="sng">
                <a:solidFill>
                  <a:schemeClr val="hlink"/>
                </a:solidFill>
                <a:latin typeface="Poppins"/>
                <a:ea typeface="Poppins"/>
                <a:cs typeface="Poppins"/>
                <a:sym typeface="Poppins"/>
                <a:hlinkClick r:id="rId7"/>
              </a:rPr>
              <a:t>Link</a:t>
            </a:r>
            <a:endParaRPr sz="3100" u="sng">
              <a:solidFill>
                <a:schemeClr val="hlink"/>
              </a:solidFill>
              <a:latin typeface="Poppins"/>
              <a:ea typeface="Poppins"/>
              <a:cs typeface="Poppins"/>
              <a:sym typeface="Poppins"/>
            </a:endParaRPr>
          </a:p>
          <a:p>
            <a:pPr marL="457200" lvl="0" indent="0" algn="l" rtl="0">
              <a:spcBef>
                <a:spcPts val="0"/>
              </a:spcBef>
              <a:spcAft>
                <a:spcPts val="0"/>
              </a:spcAft>
              <a:buNone/>
            </a:pPr>
            <a:endParaRPr sz="3100" u="sng">
              <a:solidFill>
                <a:schemeClr val="hlink"/>
              </a:solidFill>
              <a:latin typeface="Poppins"/>
              <a:ea typeface="Poppins"/>
              <a:cs typeface="Poppins"/>
              <a:sym typeface="Poppins"/>
            </a:endParaRPr>
          </a:p>
          <a:p>
            <a:pPr marL="457200" lvl="0" indent="-425450" algn="l" rtl="0">
              <a:spcBef>
                <a:spcPts val="0"/>
              </a:spcBef>
              <a:spcAft>
                <a:spcPts val="0"/>
              </a:spcAft>
              <a:buClr>
                <a:schemeClr val="dk1"/>
              </a:buClr>
              <a:buSzPts val="3100"/>
              <a:buFont typeface="Poppins"/>
              <a:buChar char="●"/>
            </a:pPr>
            <a:r>
              <a:rPr lang="en-US" sz="3100" i="1">
                <a:solidFill>
                  <a:schemeClr val="dk1"/>
                </a:solidFill>
                <a:latin typeface="Poppins"/>
                <a:ea typeface="Poppins"/>
                <a:cs typeface="Poppins"/>
                <a:sym typeface="Poppins"/>
              </a:rPr>
              <a:t>Phishing Detection using Machine Learning</a:t>
            </a:r>
            <a:r>
              <a:rPr lang="en-US" sz="3100">
                <a:solidFill>
                  <a:schemeClr val="dk1"/>
                </a:solidFill>
                <a:latin typeface="Poppins"/>
                <a:ea typeface="Poppins"/>
                <a:cs typeface="Poppins"/>
                <a:sym typeface="Poppins"/>
              </a:rPr>
              <a:t>, SlideShare</a:t>
            </a:r>
            <a:endParaRPr sz="3100">
              <a:solidFill>
                <a:schemeClr val="dk1"/>
              </a:solidFill>
              <a:latin typeface="Poppins"/>
              <a:ea typeface="Poppins"/>
              <a:cs typeface="Poppins"/>
              <a:sym typeface="Poppins"/>
            </a:endParaRPr>
          </a:p>
          <a:p>
            <a:pPr marL="457200" lvl="0" indent="0" algn="l" rtl="0">
              <a:spcBef>
                <a:spcPts val="0"/>
              </a:spcBef>
              <a:spcAft>
                <a:spcPts val="0"/>
              </a:spcAft>
              <a:buNone/>
            </a:pPr>
            <a:endParaRPr sz="3100">
              <a:solidFill>
                <a:schemeClr val="dk1"/>
              </a:solidFill>
              <a:latin typeface="Poppins"/>
              <a:ea typeface="Poppins"/>
              <a:cs typeface="Poppins"/>
              <a:sym typeface="Poppins"/>
            </a:endParaRPr>
          </a:p>
          <a:p>
            <a:pPr marL="457200" lvl="0" indent="-419100" algn="l" rtl="0">
              <a:spcBef>
                <a:spcPts val="0"/>
              </a:spcBef>
              <a:spcAft>
                <a:spcPts val="0"/>
              </a:spcAft>
              <a:buSzPts val="3000"/>
              <a:buFont typeface="Poppins"/>
              <a:buChar char="●"/>
            </a:pPr>
            <a:r>
              <a:rPr lang="en-US" sz="3100">
                <a:solidFill>
                  <a:schemeClr val="dk1"/>
                </a:solidFill>
                <a:latin typeface="Poppins"/>
                <a:ea typeface="Poppins"/>
                <a:cs typeface="Poppins"/>
                <a:sym typeface="Poppins"/>
              </a:rPr>
              <a:t>Video: </a:t>
            </a:r>
            <a:r>
              <a:rPr lang="en-US" sz="3100" i="1">
                <a:solidFill>
                  <a:schemeClr val="dk1"/>
                </a:solidFill>
                <a:latin typeface="Poppins"/>
                <a:ea typeface="Poppins"/>
                <a:cs typeface="Poppins"/>
                <a:sym typeface="Poppins"/>
              </a:rPr>
              <a:t>Phishing Detection with ML</a:t>
            </a:r>
            <a:r>
              <a:rPr lang="en-US" sz="3100">
                <a:solidFill>
                  <a:schemeClr val="dk1"/>
                </a:solidFill>
                <a:latin typeface="Poppins"/>
                <a:ea typeface="Poppins"/>
                <a:cs typeface="Poppins"/>
                <a:sym typeface="Poppins"/>
              </a:rPr>
              <a:t>, YouTube,</a:t>
            </a:r>
            <a:r>
              <a:rPr lang="en-US" sz="3100">
                <a:solidFill>
                  <a:schemeClr val="dk1"/>
                </a:solidFill>
                <a:uFill>
                  <a:noFill/>
                </a:uFill>
                <a:latin typeface="Poppins"/>
                <a:ea typeface="Poppins"/>
                <a:cs typeface="Poppins"/>
                <a:sym typeface="Poppins"/>
                <a:hlinkClick r:id="rId8">
                  <a:extLst>
                    <a:ext uri="{A12FA001-AC4F-418D-AE19-62706E023703}">
                      <ahyp:hlinkClr xmlns:ahyp="http://schemas.microsoft.com/office/drawing/2018/hyperlinkcolor" val="tx"/>
                    </a:ext>
                  </a:extLst>
                </a:hlinkClick>
              </a:rPr>
              <a:t> </a:t>
            </a:r>
            <a:r>
              <a:rPr lang="en-US" sz="3100" u="sng">
                <a:solidFill>
                  <a:schemeClr val="hlink"/>
                </a:solidFill>
                <a:latin typeface="Poppins"/>
                <a:ea typeface="Poppins"/>
                <a:cs typeface="Poppins"/>
                <a:sym typeface="Poppins"/>
                <a:hlinkClick r:id="rId8"/>
              </a:rPr>
              <a:t>Lin</a:t>
            </a:r>
            <a:r>
              <a:rPr lang="en-US" sz="3000" u="sng">
                <a:solidFill>
                  <a:schemeClr val="hlink"/>
                </a:solidFill>
                <a:latin typeface="Poppins"/>
                <a:ea typeface="Poppins"/>
                <a:cs typeface="Poppins"/>
                <a:sym typeface="Poppins"/>
                <a:hlinkClick r:id="rId8"/>
              </a:rPr>
              <a:t>k</a:t>
            </a:r>
            <a:endParaRPr sz="3000" u="sng">
              <a:solidFill>
                <a:schemeClr val="hlink"/>
              </a:solidFill>
              <a:latin typeface="Poppins"/>
              <a:ea typeface="Poppins"/>
              <a:cs typeface="Poppins"/>
              <a:sym typeface="Poppins"/>
            </a:endParaRPr>
          </a:p>
          <a:p>
            <a:pPr marL="457200" lvl="0" indent="0" algn="l" rtl="0">
              <a:spcBef>
                <a:spcPts val="0"/>
              </a:spcBef>
              <a:spcAft>
                <a:spcPts val="0"/>
              </a:spcAft>
              <a:buNone/>
            </a:pPr>
            <a:endParaRPr sz="3000" u="sng">
              <a:solidFill>
                <a:schemeClr val="hlink"/>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33f5eda4048_0_1"/>
          <p:cNvSpPr/>
          <p:nvPr/>
        </p:nvSpPr>
        <p:spPr>
          <a:xfrm>
            <a:off x="-1109662" y="0"/>
            <a:ext cx="10287000" cy="10287000"/>
          </a:xfrm>
          <a:custGeom>
            <a:avLst/>
            <a:gdLst/>
            <a:ahLst/>
            <a:cxnLst/>
            <a:rect l="l" t="t" r="r" b="b"/>
            <a:pathLst>
              <a:path w="10287000" h="10287000" extrusionOk="0">
                <a:moveTo>
                  <a:pt x="0" y="0"/>
                </a:moveTo>
                <a:lnTo>
                  <a:pt x="10287000" y="0"/>
                </a:lnTo>
                <a:lnTo>
                  <a:pt x="10287000" y="10287000"/>
                </a:lnTo>
                <a:lnTo>
                  <a:pt x="0" y="10287000"/>
                </a:lnTo>
                <a:lnTo>
                  <a:pt x="0" y="0"/>
                </a:lnTo>
                <a:close/>
              </a:path>
            </a:pathLst>
          </a:custGeom>
          <a:blipFill rotWithShape="1">
            <a:blip r:embed="rId3">
              <a:alphaModFix/>
            </a:blip>
            <a:stretch>
              <a:fillRect/>
            </a:stretch>
          </a:blipFill>
          <a:ln>
            <a:noFill/>
          </a:ln>
        </p:spPr>
        <p:txBody>
          <a:bodyPr/>
          <a:lstStyle/>
          <a:p>
            <a:endParaRPr lang="en-IN"/>
          </a:p>
        </p:txBody>
      </p:sp>
      <p:sp>
        <p:nvSpPr>
          <p:cNvPr id="346" name="Google Shape;346;g33f5eda4048_0_1"/>
          <p:cNvSpPr/>
          <p:nvPr/>
        </p:nvSpPr>
        <p:spPr>
          <a:xfrm>
            <a:off x="9110662" y="0"/>
            <a:ext cx="10287000" cy="10287000"/>
          </a:xfrm>
          <a:custGeom>
            <a:avLst/>
            <a:gdLst/>
            <a:ahLst/>
            <a:cxnLst/>
            <a:rect l="l" t="t" r="r" b="b"/>
            <a:pathLst>
              <a:path w="10287000" h="10287000" extrusionOk="0">
                <a:moveTo>
                  <a:pt x="0" y="0"/>
                </a:moveTo>
                <a:lnTo>
                  <a:pt x="10287000" y="0"/>
                </a:lnTo>
                <a:lnTo>
                  <a:pt x="10287000" y="10287000"/>
                </a:lnTo>
                <a:lnTo>
                  <a:pt x="0" y="10287000"/>
                </a:lnTo>
                <a:lnTo>
                  <a:pt x="0" y="0"/>
                </a:lnTo>
                <a:close/>
              </a:path>
            </a:pathLst>
          </a:custGeom>
          <a:blipFill rotWithShape="1">
            <a:blip r:embed="rId3">
              <a:alphaModFix/>
            </a:blip>
            <a:stretch>
              <a:fillRect/>
            </a:stretch>
          </a:blipFill>
          <a:ln>
            <a:noFill/>
          </a:ln>
        </p:spPr>
        <p:txBody>
          <a:bodyPr/>
          <a:lstStyle/>
          <a:p>
            <a:endParaRPr lang="en-IN"/>
          </a:p>
        </p:txBody>
      </p:sp>
      <p:grpSp>
        <p:nvGrpSpPr>
          <p:cNvPr id="347" name="Google Shape;347;g33f5eda4048_0_1"/>
          <p:cNvGrpSpPr/>
          <p:nvPr/>
        </p:nvGrpSpPr>
        <p:grpSpPr>
          <a:xfrm>
            <a:off x="6288858" y="236040"/>
            <a:ext cx="5710298" cy="1608367"/>
            <a:chOff x="0" y="-57150"/>
            <a:chExt cx="1503937" cy="423600"/>
          </a:xfrm>
        </p:grpSpPr>
        <p:sp>
          <p:nvSpPr>
            <p:cNvPr id="348" name="Google Shape;348;g33f5eda4048_0_1"/>
            <p:cNvSpPr/>
            <p:nvPr/>
          </p:nvSpPr>
          <p:spPr>
            <a:xfrm>
              <a:off x="0" y="0"/>
              <a:ext cx="1503937" cy="366357"/>
            </a:xfrm>
            <a:custGeom>
              <a:avLst/>
              <a:gdLst/>
              <a:ahLst/>
              <a:cxnLst/>
              <a:rect l="l" t="t" r="r" b="b"/>
              <a:pathLst>
                <a:path w="1503937" h="366357" extrusionOk="0">
                  <a:moveTo>
                    <a:pt x="0" y="0"/>
                  </a:moveTo>
                  <a:lnTo>
                    <a:pt x="1503937" y="0"/>
                  </a:lnTo>
                  <a:lnTo>
                    <a:pt x="1503937" y="366357"/>
                  </a:lnTo>
                  <a:lnTo>
                    <a:pt x="0" y="366357"/>
                  </a:lnTo>
                  <a:close/>
                </a:path>
              </a:pathLst>
            </a:custGeom>
            <a:solidFill>
              <a:srgbClr val="DDDEDE"/>
            </a:solidFill>
            <a:ln w="38100" cap="sq" cmpd="sng">
              <a:solidFill>
                <a:srgbClr val="F1F2F2"/>
              </a:solidFill>
              <a:prstDash val="solid"/>
              <a:miter lim="8000"/>
              <a:headEnd type="none" w="sm" len="sm"/>
              <a:tailEnd type="none" w="sm" len="sm"/>
            </a:ln>
          </p:spPr>
          <p:txBody>
            <a:bodyPr/>
            <a:lstStyle/>
            <a:p>
              <a:endParaRPr lang="en-IN"/>
            </a:p>
          </p:txBody>
        </p:sp>
        <p:sp>
          <p:nvSpPr>
            <p:cNvPr id="349" name="Google Shape;349;g33f5eda4048_0_1"/>
            <p:cNvSpPr txBox="1"/>
            <p:nvPr/>
          </p:nvSpPr>
          <p:spPr>
            <a:xfrm>
              <a:off x="0" y="-57150"/>
              <a:ext cx="1503900" cy="423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US" sz="5000" b="1">
                  <a:solidFill>
                    <a:schemeClr val="dk1"/>
                  </a:solidFill>
                  <a:latin typeface="Fredoka"/>
                  <a:ea typeface="Fredoka"/>
                  <a:cs typeface="Fredoka"/>
                  <a:sym typeface="Fredoka"/>
                </a:rPr>
                <a:t>CONCLUSION</a:t>
              </a:r>
              <a:endParaRPr sz="5000" b="1" i="0" u="none" strike="noStrike" cap="none">
                <a:solidFill>
                  <a:schemeClr val="dk1"/>
                </a:solidFill>
                <a:latin typeface="Fredoka"/>
                <a:ea typeface="Fredoka"/>
                <a:cs typeface="Fredoka"/>
                <a:sym typeface="Fredoka"/>
              </a:endParaRPr>
            </a:p>
          </p:txBody>
        </p:sp>
      </p:grpSp>
      <p:sp>
        <p:nvSpPr>
          <p:cNvPr id="350" name="Google Shape;350;g33f5eda4048_0_1"/>
          <p:cNvSpPr/>
          <p:nvPr/>
        </p:nvSpPr>
        <p:spPr>
          <a:xfrm rot="-1536293" flipH="1">
            <a:off x="16486254" y="8889"/>
            <a:ext cx="2539822" cy="2299694"/>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sp>
        <p:nvSpPr>
          <p:cNvPr id="351" name="Google Shape;351;g33f5eda4048_0_1"/>
          <p:cNvSpPr/>
          <p:nvPr/>
        </p:nvSpPr>
        <p:spPr>
          <a:xfrm rot="10001629" flipH="1">
            <a:off x="-1080619" y="7966326"/>
            <a:ext cx="2536134" cy="2296355"/>
          </a:xfrm>
          <a:custGeom>
            <a:avLst/>
            <a:gdLst/>
            <a:ahLst/>
            <a:cxnLst/>
            <a:rect l="l" t="t" r="r" b="b"/>
            <a:pathLst>
              <a:path w="2537840" h="2297899" extrusionOk="0">
                <a:moveTo>
                  <a:pt x="2537840" y="0"/>
                </a:moveTo>
                <a:lnTo>
                  <a:pt x="0" y="0"/>
                </a:lnTo>
                <a:lnTo>
                  <a:pt x="0" y="2297898"/>
                </a:lnTo>
                <a:lnTo>
                  <a:pt x="2537840" y="2297898"/>
                </a:lnTo>
                <a:lnTo>
                  <a:pt x="2537840" y="0"/>
                </a:lnTo>
                <a:close/>
              </a:path>
            </a:pathLst>
          </a:custGeom>
          <a:blipFill rotWithShape="1">
            <a:blip r:embed="rId4">
              <a:alphaModFix/>
            </a:blip>
            <a:stretch>
              <a:fillRect/>
            </a:stretch>
          </a:blipFill>
          <a:ln>
            <a:noFill/>
          </a:ln>
        </p:spPr>
        <p:txBody>
          <a:bodyPr/>
          <a:lstStyle/>
          <a:p>
            <a:endParaRPr lang="en-IN"/>
          </a:p>
        </p:txBody>
      </p:sp>
      <p:sp>
        <p:nvSpPr>
          <p:cNvPr id="352" name="Google Shape;352;g33f5eda4048_0_1"/>
          <p:cNvSpPr txBox="1"/>
          <p:nvPr/>
        </p:nvSpPr>
        <p:spPr>
          <a:xfrm>
            <a:off x="6007675" y="655310"/>
            <a:ext cx="6004200" cy="215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a:p>
        </p:txBody>
      </p:sp>
      <p:sp>
        <p:nvSpPr>
          <p:cNvPr id="353" name="Google Shape;353;g33f5eda4048_0_1"/>
          <p:cNvSpPr/>
          <p:nvPr/>
        </p:nvSpPr>
        <p:spPr>
          <a:xfrm flipH="1">
            <a:off x="16058557" y="9237576"/>
            <a:ext cx="3395204" cy="1049427"/>
          </a:xfrm>
          <a:custGeom>
            <a:avLst/>
            <a:gdLst/>
            <a:ahLst/>
            <a:cxnLst/>
            <a:rect l="l" t="t" r="r" b="b"/>
            <a:pathLst>
              <a:path w="3395204" h="1049427" extrusionOk="0">
                <a:moveTo>
                  <a:pt x="3395205" y="0"/>
                </a:moveTo>
                <a:lnTo>
                  <a:pt x="0" y="0"/>
                </a:lnTo>
                <a:lnTo>
                  <a:pt x="0" y="1049427"/>
                </a:lnTo>
                <a:lnTo>
                  <a:pt x="3395205" y="1049427"/>
                </a:lnTo>
                <a:lnTo>
                  <a:pt x="3395205" y="0"/>
                </a:lnTo>
                <a:close/>
              </a:path>
            </a:pathLst>
          </a:custGeom>
          <a:blipFill rotWithShape="1">
            <a:blip r:embed="rId5">
              <a:alphaModFix/>
            </a:blip>
            <a:stretch>
              <a:fillRect/>
            </a:stretch>
          </a:blipFill>
          <a:ln>
            <a:noFill/>
          </a:ln>
        </p:spPr>
        <p:txBody>
          <a:bodyPr/>
          <a:lstStyle/>
          <a:p>
            <a:endParaRPr lang="en-IN"/>
          </a:p>
        </p:txBody>
      </p:sp>
      <p:grpSp>
        <p:nvGrpSpPr>
          <p:cNvPr id="354" name="Google Shape;354;g33f5eda4048_0_1"/>
          <p:cNvGrpSpPr/>
          <p:nvPr/>
        </p:nvGrpSpPr>
        <p:grpSpPr>
          <a:xfrm>
            <a:off x="2071500" y="2023675"/>
            <a:ext cx="14373339" cy="7213894"/>
            <a:chOff x="0" y="-57150"/>
            <a:chExt cx="4274726" cy="2176334"/>
          </a:xfrm>
        </p:grpSpPr>
        <p:sp>
          <p:nvSpPr>
            <p:cNvPr id="355" name="Google Shape;355;g33f5eda4048_0_1"/>
            <p:cNvSpPr/>
            <p:nvPr/>
          </p:nvSpPr>
          <p:spPr>
            <a:xfrm>
              <a:off x="0" y="0"/>
              <a:ext cx="4274726" cy="2119184"/>
            </a:xfrm>
            <a:custGeom>
              <a:avLst/>
              <a:gdLst/>
              <a:ahLst/>
              <a:cxnLst/>
              <a:rect l="l" t="t" r="r" b="b"/>
              <a:pathLst>
                <a:path w="4274726" h="2119184" extrusionOk="0">
                  <a:moveTo>
                    <a:pt x="0" y="0"/>
                  </a:moveTo>
                  <a:lnTo>
                    <a:pt x="4274726" y="0"/>
                  </a:lnTo>
                  <a:lnTo>
                    <a:pt x="4274726" y="2119184"/>
                  </a:lnTo>
                  <a:lnTo>
                    <a:pt x="0" y="2119184"/>
                  </a:lnTo>
                  <a:close/>
                </a:path>
              </a:pathLst>
            </a:custGeom>
            <a:solidFill>
              <a:srgbClr val="F1F2F2"/>
            </a:solidFill>
            <a:ln>
              <a:noFill/>
            </a:ln>
          </p:spPr>
          <p:txBody>
            <a:bodyPr/>
            <a:lstStyle/>
            <a:p>
              <a:endParaRPr lang="en-IN"/>
            </a:p>
          </p:txBody>
        </p:sp>
        <p:sp>
          <p:nvSpPr>
            <p:cNvPr id="356" name="Google Shape;356;g33f5eda4048_0_1"/>
            <p:cNvSpPr txBox="1"/>
            <p:nvPr/>
          </p:nvSpPr>
          <p:spPr>
            <a:xfrm>
              <a:off x="0" y="-57150"/>
              <a:ext cx="4274700" cy="2176200"/>
            </a:xfrm>
            <a:prstGeom prst="rect">
              <a:avLst/>
            </a:prstGeom>
            <a:noFill/>
            <a:ln>
              <a:noFill/>
            </a:ln>
          </p:spPr>
          <p:txBody>
            <a:bodyPr spcFirstLastPara="1" wrap="square" lIns="50800" tIns="50800" rIns="50800" bIns="50800" anchor="ctr" anchorCtr="0">
              <a:noAutofit/>
            </a:bodyPr>
            <a:lstStyle/>
            <a:p>
              <a:pPr marL="457200" marR="0" lvl="0" indent="-400050" algn="l" rtl="0">
                <a:lnSpc>
                  <a:spcPct val="147722"/>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To the best of our knowledge, this study is the first analysis to include the findings of all other studies into the detection of phishing websites using machine learning techniques. </a:t>
              </a:r>
              <a:endParaRPr sz="2800">
                <a:solidFill>
                  <a:schemeClr val="dk1"/>
                </a:solidFill>
                <a:latin typeface="Poppins"/>
                <a:ea typeface="Poppins"/>
                <a:cs typeface="Poppins"/>
                <a:sym typeface="Poppins"/>
              </a:endParaRPr>
            </a:p>
            <a:p>
              <a:pPr marL="457200" marR="0" lvl="0" indent="-400050" algn="l" rtl="0">
                <a:lnSpc>
                  <a:spcPct val="147722"/>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The website functionality is used by ML-based phishing approaches to collect information that could be used to classify websites for the purpose of identifying phishing sites. Developing focused anti-phishing approaches and methods as well as minimizing their inconvenience are two waysto prevent phishing.</a:t>
              </a:r>
              <a:endParaRPr sz="2700">
                <a:solidFill>
                  <a:schemeClr val="dk1"/>
                </a:solidFill>
                <a:latin typeface="Poppins"/>
                <a:ea typeface="Poppins"/>
                <a:cs typeface="Poppins"/>
                <a:sym typeface="Poppins"/>
              </a:endParaRPr>
            </a:p>
            <a:p>
              <a:pPr marL="457200" marR="0" lvl="0" indent="-400050" algn="l" rtl="0">
                <a:lnSpc>
                  <a:spcPct val="147722"/>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We achieved 97% detection accuracy using Gradient Boost algorithm with lowest false positive rate. Also result shows that classifiers give better performance when we used more data as training data</a:t>
              </a:r>
              <a:endParaRPr sz="2700">
                <a:solidFill>
                  <a:schemeClr val="dk1"/>
                </a:solidFill>
                <a:latin typeface="Poppins"/>
                <a:ea typeface="Poppins"/>
                <a:cs typeface="Poppins"/>
                <a:sym typeface="Poppi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grpSp>
        <p:nvGrpSpPr>
          <p:cNvPr id="361" name="Google Shape;361;p15"/>
          <p:cNvGrpSpPr/>
          <p:nvPr/>
        </p:nvGrpSpPr>
        <p:grpSpPr>
          <a:xfrm>
            <a:off x="-1109662" y="0"/>
            <a:ext cx="20507325" cy="10287000"/>
            <a:chOff x="0" y="0"/>
            <a:chExt cx="27343100" cy="13716000"/>
          </a:xfrm>
        </p:grpSpPr>
        <p:sp>
          <p:nvSpPr>
            <p:cNvPr id="362" name="Google Shape;362;p15"/>
            <p:cNvSpPr/>
            <p:nvPr/>
          </p:nvSpPr>
          <p:spPr>
            <a:xfrm>
              <a:off x="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sp>
          <p:nvSpPr>
            <p:cNvPr id="363" name="Google Shape;363;p15"/>
            <p:cNvSpPr/>
            <p:nvPr/>
          </p:nvSpPr>
          <p:spPr>
            <a:xfrm>
              <a:off x="13627100" y="0"/>
              <a:ext cx="13716000" cy="13716000"/>
            </a:xfrm>
            <a:custGeom>
              <a:avLst/>
              <a:gdLst/>
              <a:ahLst/>
              <a:cxnLst/>
              <a:rect l="l" t="t" r="r" b="b"/>
              <a:pathLst>
                <a:path w="13716000" h="13716000" extrusionOk="0">
                  <a:moveTo>
                    <a:pt x="0" y="0"/>
                  </a:moveTo>
                  <a:lnTo>
                    <a:pt x="13716000" y="0"/>
                  </a:lnTo>
                  <a:lnTo>
                    <a:pt x="13716000" y="13716000"/>
                  </a:lnTo>
                  <a:lnTo>
                    <a:pt x="0" y="13716000"/>
                  </a:lnTo>
                  <a:lnTo>
                    <a:pt x="0" y="0"/>
                  </a:lnTo>
                  <a:close/>
                </a:path>
              </a:pathLst>
            </a:custGeom>
            <a:blipFill rotWithShape="1">
              <a:blip r:embed="rId3">
                <a:alphaModFix/>
              </a:blip>
              <a:stretch>
                <a:fillRect/>
              </a:stretch>
            </a:blipFill>
            <a:ln>
              <a:noFill/>
            </a:ln>
          </p:spPr>
          <p:txBody>
            <a:bodyPr/>
            <a:lstStyle/>
            <a:p>
              <a:endParaRPr lang="en-IN"/>
            </a:p>
          </p:txBody>
        </p:sp>
      </p:grpSp>
      <p:sp>
        <p:nvSpPr>
          <p:cNvPr id="364" name="Google Shape;364;p15"/>
          <p:cNvSpPr/>
          <p:nvPr/>
        </p:nvSpPr>
        <p:spPr>
          <a:xfrm>
            <a:off x="12076251" y="1662606"/>
            <a:ext cx="2942276" cy="2942276"/>
          </a:xfrm>
          <a:custGeom>
            <a:avLst/>
            <a:gdLst/>
            <a:ahLst/>
            <a:cxnLst/>
            <a:rect l="l" t="t" r="r" b="b"/>
            <a:pathLst>
              <a:path w="2942276" h="2942276" extrusionOk="0">
                <a:moveTo>
                  <a:pt x="0" y="0"/>
                </a:moveTo>
                <a:lnTo>
                  <a:pt x="2942276" y="0"/>
                </a:lnTo>
                <a:lnTo>
                  <a:pt x="2942276" y="2942276"/>
                </a:lnTo>
                <a:lnTo>
                  <a:pt x="0" y="2942276"/>
                </a:lnTo>
                <a:lnTo>
                  <a:pt x="0" y="0"/>
                </a:lnTo>
                <a:close/>
              </a:path>
            </a:pathLst>
          </a:custGeom>
          <a:blipFill rotWithShape="1">
            <a:blip r:embed="rId4">
              <a:alphaModFix/>
            </a:blip>
            <a:stretch>
              <a:fillRect/>
            </a:stretch>
          </a:blipFill>
          <a:ln>
            <a:noFill/>
          </a:ln>
        </p:spPr>
        <p:txBody>
          <a:bodyPr/>
          <a:lstStyle/>
          <a:p>
            <a:endParaRPr lang="en-IN"/>
          </a:p>
        </p:txBody>
      </p:sp>
      <p:sp>
        <p:nvSpPr>
          <p:cNvPr id="365" name="Google Shape;365;p15"/>
          <p:cNvSpPr/>
          <p:nvPr/>
        </p:nvSpPr>
        <p:spPr>
          <a:xfrm flipH="1">
            <a:off x="2120044" y="6010601"/>
            <a:ext cx="3395204" cy="1049427"/>
          </a:xfrm>
          <a:custGeom>
            <a:avLst/>
            <a:gdLst/>
            <a:ahLst/>
            <a:cxnLst/>
            <a:rect l="l" t="t" r="r" b="b"/>
            <a:pathLst>
              <a:path w="3395204" h="1049427" extrusionOk="0">
                <a:moveTo>
                  <a:pt x="3395205" y="0"/>
                </a:moveTo>
                <a:lnTo>
                  <a:pt x="0" y="0"/>
                </a:lnTo>
                <a:lnTo>
                  <a:pt x="0" y="1049427"/>
                </a:lnTo>
                <a:lnTo>
                  <a:pt x="3395205" y="1049427"/>
                </a:lnTo>
                <a:lnTo>
                  <a:pt x="3395205" y="0"/>
                </a:lnTo>
                <a:close/>
              </a:path>
            </a:pathLst>
          </a:custGeom>
          <a:blipFill rotWithShape="1">
            <a:blip r:embed="rId5">
              <a:alphaModFix/>
            </a:blip>
            <a:stretch>
              <a:fillRect/>
            </a:stretch>
          </a:blipFill>
          <a:ln>
            <a:noFill/>
          </a:ln>
        </p:spPr>
        <p:txBody>
          <a:bodyPr/>
          <a:lstStyle/>
          <a:p>
            <a:endParaRPr lang="en-IN"/>
          </a:p>
        </p:txBody>
      </p:sp>
      <p:sp>
        <p:nvSpPr>
          <p:cNvPr id="366" name="Google Shape;366;p15"/>
          <p:cNvSpPr txBox="1"/>
          <p:nvPr/>
        </p:nvSpPr>
        <p:spPr>
          <a:xfrm>
            <a:off x="3049034" y="3603515"/>
            <a:ext cx="11749054" cy="1793183"/>
          </a:xfrm>
          <a:prstGeom prst="rect">
            <a:avLst/>
          </a:prstGeom>
          <a:noFill/>
          <a:ln>
            <a:noFill/>
          </a:ln>
        </p:spPr>
        <p:txBody>
          <a:bodyPr spcFirstLastPara="1" wrap="square" lIns="0" tIns="0" rIns="0" bIns="0" anchor="t" anchorCtr="0">
            <a:spAutoFit/>
          </a:bodyPr>
          <a:lstStyle/>
          <a:p>
            <a:pPr marL="0" marR="0" lvl="0" indent="0" algn="ctr" rtl="0">
              <a:lnSpc>
                <a:spcPct val="139998"/>
              </a:lnSpc>
              <a:spcBef>
                <a:spcPts val="0"/>
              </a:spcBef>
              <a:spcAft>
                <a:spcPts val="0"/>
              </a:spcAft>
              <a:buNone/>
            </a:pPr>
            <a:r>
              <a:rPr lang="en-US" sz="10443" b="1" i="0" u="none" strike="noStrike" cap="none">
                <a:solidFill>
                  <a:srgbClr val="000000"/>
                </a:solidFill>
                <a:latin typeface="Fredoka"/>
                <a:ea typeface="Fredoka"/>
                <a:cs typeface="Fredoka"/>
                <a:sym typeface="Fredoka"/>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FA82AD5E000C1439B24A01BE4B171FC" ma:contentTypeVersion="5" ma:contentTypeDescription="Create a new document." ma:contentTypeScope="" ma:versionID="eddabcc639805744131e259bbc95aacb">
  <xsd:schema xmlns:xsd="http://www.w3.org/2001/XMLSchema" xmlns:xs="http://www.w3.org/2001/XMLSchema" xmlns:p="http://schemas.microsoft.com/office/2006/metadata/properties" xmlns:ns3="9a9084e7-2ce5-493d-8b1c-f3eff3aa19c9" targetNamespace="http://schemas.microsoft.com/office/2006/metadata/properties" ma:root="true" ma:fieldsID="7551a98cd978392a3edef5ebd1a0bb4f" ns3:_="">
    <xsd:import namespace="9a9084e7-2ce5-493d-8b1c-f3eff3aa19c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9084e7-2ce5-493d-8b1c-f3eff3aa19c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2088BC-D902-463D-9F39-7F012211D8F3}">
  <ds:schemaRefs>
    <ds:schemaRef ds:uri="http://schemas.openxmlformats.org/package/2006/metadata/core-properties"/>
    <ds:schemaRef ds:uri="http://purl.org/dc/terms/"/>
    <ds:schemaRef ds:uri="http://schemas.microsoft.com/office/infopath/2007/PartnerControls"/>
    <ds:schemaRef ds:uri="http://purl.org/dc/elements/1.1/"/>
    <ds:schemaRef ds:uri="http://www.w3.org/XML/1998/namespace"/>
    <ds:schemaRef ds:uri="http://purl.org/dc/dcmitype/"/>
    <ds:schemaRef ds:uri="http://schemas.microsoft.com/office/2006/documentManagement/types"/>
    <ds:schemaRef ds:uri="9a9084e7-2ce5-493d-8b1c-f3eff3aa19c9"/>
    <ds:schemaRef ds:uri="http://schemas.microsoft.com/office/2006/metadata/properties"/>
  </ds:schemaRefs>
</ds:datastoreItem>
</file>

<file path=customXml/itemProps2.xml><?xml version="1.0" encoding="utf-8"?>
<ds:datastoreItem xmlns:ds="http://schemas.openxmlformats.org/officeDocument/2006/customXml" ds:itemID="{11BC6516-5D2A-4EB8-BC2A-AB257627F0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9084e7-2ce5-493d-8b1c-f3eff3aa19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0514AB-2CD6-405F-BA7D-B047C2BA50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171</TotalTime>
  <Words>1334</Words>
  <Application>Microsoft Office PowerPoint</Application>
  <PresentationFormat>Custom</PresentationFormat>
  <Paragraphs>205</Paragraphs>
  <Slides>27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Calibri</vt:lpstr>
      <vt:lpstr>Fredoka</vt:lpstr>
      <vt:lpstr>Poppins</vt:lpstr>
      <vt:lpstr>Poppins Black</vt:lpstr>
      <vt:lpstr>Nunito</vt:lpstr>
      <vt:lpstr>Poppins Medium</vt:lpstr>
      <vt:lpstr>Arial</vt:lpstr>
      <vt:lpstr>Poppins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PHISHING URL’S DATASET</vt:lpstr>
      <vt:lpstr>PowerPoint Presentation</vt:lpstr>
      <vt:lpstr>PowerPoint Presentation</vt:lpstr>
      <vt:lpstr>PowerPoint Presentation</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Siddhu</dc:creator>
  <cp:lastModifiedBy>PONNAM NKHILA SAI</cp:lastModifiedBy>
  <cp:revision>2</cp:revision>
  <dcterms:created xsi:type="dcterms:W3CDTF">2006-08-16T00:00:00Z</dcterms:created>
  <dcterms:modified xsi:type="dcterms:W3CDTF">2025-04-10T07:53:19Z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0x010100EFA82AD5E000C1439B24A01BE4B171FC</vt:lpwstr>
  </property>
</Properties>
</file>