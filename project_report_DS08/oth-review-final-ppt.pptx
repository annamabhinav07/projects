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Noto Serif Ethiopic Condensed" charset="1" panose="02020502060505020204"/>
      <p:regular r:id="rId17"/>
    </p:embeddedFont>
    <p:embeddedFont>
      <p:font typeface="Arial" charset="1" panose="020B0502020202020204"/>
      <p:regular r:id="rId18"/>
    </p:embeddedFont>
    <p:embeddedFont>
      <p:font typeface="IBM Plex Sans Condensed" charset="1" panose="020B0506050203000203"/>
      <p:regular r:id="rId19"/>
    </p:embeddedFont>
    <p:embeddedFont>
      <p:font typeface="IBM Plex Mono" charset="1" panose="020B05090502030002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054835" y="-960351"/>
            <a:ext cx="3587613" cy="3488954"/>
          </a:xfrm>
          <a:custGeom>
            <a:avLst/>
            <a:gdLst/>
            <a:ahLst/>
            <a:cxnLst/>
            <a:rect r="r" b="b" t="t" l="l"/>
            <a:pathLst>
              <a:path h="3488954" w="3587613">
                <a:moveTo>
                  <a:pt x="0" y="0"/>
                </a:moveTo>
                <a:lnTo>
                  <a:pt x="3587613" y="0"/>
                </a:lnTo>
                <a:lnTo>
                  <a:pt x="3587613" y="3488954"/>
                </a:lnTo>
                <a:lnTo>
                  <a:pt x="0" y="3488954"/>
                </a:lnTo>
                <a:lnTo>
                  <a:pt x="0" y="0"/>
                </a:lnTo>
                <a:close/>
              </a:path>
            </a:pathLst>
          </a:custGeom>
          <a:blipFill>
            <a:blip r:embed="rId3"/>
            <a:stretch>
              <a:fillRect l="0" t="0" r="0" b="0"/>
            </a:stretch>
          </a:blipFill>
        </p:spPr>
      </p:sp>
      <p:sp>
        <p:nvSpPr>
          <p:cNvPr name="Freeform 4" id="4"/>
          <p:cNvSpPr/>
          <p:nvPr/>
        </p:nvSpPr>
        <p:spPr>
          <a:xfrm flipH="false" flipV="false" rot="0">
            <a:off x="-2127010" y="7661773"/>
            <a:ext cx="4238254" cy="4121702"/>
          </a:xfrm>
          <a:custGeom>
            <a:avLst/>
            <a:gdLst/>
            <a:ahLst/>
            <a:cxnLst/>
            <a:rect r="r" b="b" t="t" l="l"/>
            <a:pathLst>
              <a:path h="4121702" w="4238254">
                <a:moveTo>
                  <a:pt x="0" y="0"/>
                </a:moveTo>
                <a:lnTo>
                  <a:pt x="4238254" y="0"/>
                </a:lnTo>
                <a:lnTo>
                  <a:pt x="4238254" y="4121703"/>
                </a:lnTo>
                <a:lnTo>
                  <a:pt x="0" y="4121703"/>
                </a:lnTo>
                <a:lnTo>
                  <a:pt x="0" y="0"/>
                </a:lnTo>
                <a:close/>
              </a:path>
            </a:pathLst>
          </a:custGeom>
          <a:blipFill>
            <a:blip r:embed="rId3"/>
            <a:stretch>
              <a:fillRect l="0" t="0" r="0" b="0"/>
            </a:stretch>
          </a:blipFill>
        </p:spPr>
      </p:sp>
      <p:sp>
        <p:nvSpPr>
          <p:cNvPr name="TextBox 5" id="5"/>
          <p:cNvSpPr txBox="true"/>
          <p:nvPr/>
        </p:nvSpPr>
        <p:spPr>
          <a:xfrm rot="0">
            <a:off x="1028700" y="1375495"/>
            <a:ext cx="16658545" cy="5898732"/>
          </a:xfrm>
          <a:prstGeom prst="rect">
            <a:avLst/>
          </a:prstGeom>
        </p:spPr>
        <p:txBody>
          <a:bodyPr anchor="t" rtlCol="false" tIns="0" lIns="0" bIns="0" rIns="0">
            <a:spAutoFit/>
          </a:bodyPr>
          <a:lstStyle/>
          <a:p>
            <a:pPr algn="ctr">
              <a:lnSpc>
                <a:spcPts val="11766"/>
              </a:lnSpc>
            </a:pPr>
          </a:p>
          <a:p>
            <a:pPr algn="ctr">
              <a:lnSpc>
                <a:spcPts val="11766"/>
              </a:lnSpc>
            </a:pPr>
            <a:r>
              <a:rPr lang="en-US" sz="8404">
                <a:solidFill>
                  <a:srgbClr val="303238"/>
                </a:solidFill>
                <a:latin typeface="Noto Serif Ethiopic Condensed"/>
                <a:ea typeface="Noto Serif Ethiopic Condensed"/>
                <a:cs typeface="Noto Serif Ethiopic Condensed"/>
                <a:sym typeface="Noto Serif Ethiopic Condensed"/>
              </a:rPr>
              <a:t>SMART PHISHING DETECTION : LEVERAGING MACHINE LEARNING FOR SECURITY </a:t>
            </a:r>
          </a:p>
        </p:txBody>
      </p:sp>
      <p:sp>
        <p:nvSpPr>
          <p:cNvPr name="Freeform 6" id="6"/>
          <p:cNvSpPr/>
          <p:nvPr/>
        </p:nvSpPr>
        <p:spPr>
          <a:xfrm flipH="false" flipV="false" rot="0">
            <a:off x="16599433" y="8878341"/>
            <a:ext cx="1688567" cy="1688567"/>
          </a:xfrm>
          <a:custGeom>
            <a:avLst/>
            <a:gdLst/>
            <a:ahLst/>
            <a:cxnLst/>
            <a:rect r="r" b="b" t="t" l="l"/>
            <a:pathLst>
              <a:path h="1688567" w="1688567">
                <a:moveTo>
                  <a:pt x="0" y="0"/>
                </a:moveTo>
                <a:lnTo>
                  <a:pt x="1688567" y="0"/>
                </a:lnTo>
                <a:lnTo>
                  <a:pt x="1688567" y="1688567"/>
                </a:lnTo>
                <a:lnTo>
                  <a:pt x="0" y="1688567"/>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048" t="-1053" r="-7893" b="-35089"/>
            </a:stretch>
          </a:blipFill>
        </p:spPr>
      </p:sp>
      <p:sp>
        <p:nvSpPr>
          <p:cNvPr name="TextBox 3" id="3"/>
          <p:cNvSpPr txBox="true"/>
          <p:nvPr/>
        </p:nvSpPr>
        <p:spPr>
          <a:xfrm rot="0">
            <a:off x="1987185" y="687188"/>
            <a:ext cx="13497950" cy="1411159"/>
          </a:xfrm>
          <a:prstGeom prst="rect">
            <a:avLst/>
          </a:prstGeom>
        </p:spPr>
        <p:txBody>
          <a:bodyPr anchor="t" rtlCol="false" tIns="0" lIns="0" bIns="0" rIns="0">
            <a:spAutoFit/>
          </a:bodyPr>
          <a:lstStyle/>
          <a:p>
            <a:pPr algn="ctr">
              <a:lnSpc>
                <a:spcPts val="10419"/>
              </a:lnSpc>
            </a:pPr>
            <a:r>
              <a:rPr lang="en-US" sz="7442">
                <a:solidFill>
                  <a:srgbClr val="303238"/>
                </a:solidFill>
                <a:latin typeface="Arial"/>
                <a:ea typeface="Arial"/>
                <a:cs typeface="Arial"/>
                <a:sym typeface="Arial"/>
              </a:rPr>
              <a:t>Project Guide:</a:t>
            </a:r>
            <a:r>
              <a:rPr lang="en-US" sz="7442">
                <a:solidFill>
                  <a:srgbClr val="A453A2"/>
                </a:solidFill>
                <a:latin typeface="Arial"/>
                <a:ea typeface="Arial"/>
                <a:cs typeface="Arial"/>
                <a:sym typeface="Arial"/>
              </a:rPr>
              <a:t>Ms.K.Neelima</a:t>
            </a:r>
          </a:p>
        </p:txBody>
      </p:sp>
      <p:sp>
        <p:nvSpPr>
          <p:cNvPr name="Freeform 4" id="4"/>
          <p:cNvSpPr/>
          <p:nvPr/>
        </p:nvSpPr>
        <p:spPr>
          <a:xfrm flipH="false" flipV="false" rot="0">
            <a:off x="14876152" y="-960351"/>
            <a:ext cx="4766297" cy="4635224"/>
          </a:xfrm>
          <a:custGeom>
            <a:avLst/>
            <a:gdLst/>
            <a:ahLst/>
            <a:cxnLst/>
            <a:rect r="r" b="b" t="t" l="l"/>
            <a:pathLst>
              <a:path h="4635224" w="4766297">
                <a:moveTo>
                  <a:pt x="0" y="0"/>
                </a:moveTo>
                <a:lnTo>
                  <a:pt x="4766296" y="0"/>
                </a:lnTo>
                <a:lnTo>
                  <a:pt x="4766296" y="4635224"/>
                </a:lnTo>
                <a:lnTo>
                  <a:pt x="0" y="4635224"/>
                </a:lnTo>
                <a:lnTo>
                  <a:pt x="0" y="0"/>
                </a:lnTo>
                <a:close/>
              </a:path>
            </a:pathLst>
          </a:custGeom>
          <a:blipFill>
            <a:blip r:embed="rId3"/>
            <a:stretch>
              <a:fillRect l="0" t="0" r="0" b="0"/>
            </a:stretch>
          </a:blipFill>
        </p:spPr>
      </p:sp>
      <p:sp>
        <p:nvSpPr>
          <p:cNvPr name="Freeform 5" id="5"/>
          <p:cNvSpPr/>
          <p:nvPr/>
        </p:nvSpPr>
        <p:spPr>
          <a:xfrm flipH="false" flipV="false" rot="0">
            <a:off x="-2127010" y="7148252"/>
            <a:ext cx="4766297" cy="4635224"/>
          </a:xfrm>
          <a:custGeom>
            <a:avLst/>
            <a:gdLst/>
            <a:ahLst/>
            <a:cxnLst/>
            <a:rect r="r" b="b" t="t" l="l"/>
            <a:pathLst>
              <a:path h="4635224" w="4766297">
                <a:moveTo>
                  <a:pt x="0" y="0"/>
                </a:moveTo>
                <a:lnTo>
                  <a:pt x="4766296" y="0"/>
                </a:lnTo>
                <a:lnTo>
                  <a:pt x="4766296" y="4635224"/>
                </a:lnTo>
                <a:lnTo>
                  <a:pt x="0" y="4635224"/>
                </a:lnTo>
                <a:lnTo>
                  <a:pt x="0" y="0"/>
                </a:lnTo>
                <a:close/>
              </a:path>
            </a:pathLst>
          </a:custGeom>
          <a:blipFill>
            <a:blip r:embed="rId3"/>
            <a:stretch>
              <a:fillRect l="0" t="0" r="0" b="0"/>
            </a:stretch>
          </a:blipFill>
        </p:spPr>
      </p:sp>
      <p:sp>
        <p:nvSpPr>
          <p:cNvPr name="TextBox 6" id="6"/>
          <p:cNvSpPr txBox="true"/>
          <p:nvPr/>
        </p:nvSpPr>
        <p:spPr>
          <a:xfrm rot="0">
            <a:off x="2639286" y="3057056"/>
            <a:ext cx="12674456" cy="5362749"/>
          </a:xfrm>
          <a:prstGeom prst="rect">
            <a:avLst/>
          </a:prstGeom>
        </p:spPr>
        <p:txBody>
          <a:bodyPr anchor="t" rtlCol="false" tIns="0" lIns="0" bIns="0" rIns="0">
            <a:spAutoFit/>
          </a:bodyPr>
          <a:lstStyle/>
          <a:p>
            <a:pPr algn="ctr">
              <a:lnSpc>
                <a:spcPts val="8390"/>
              </a:lnSpc>
            </a:pPr>
            <a:r>
              <a:rPr lang="en-US" sz="5993">
                <a:solidFill>
                  <a:srgbClr val="000000"/>
                </a:solidFill>
                <a:latin typeface="Arial"/>
                <a:ea typeface="Arial"/>
                <a:cs typeface="Arial"/>
                <a:sym typeface="Arial"/>
              </a:rPr>
              <a:t>Team Members:</a:t>
            </a:r>
          </a:p>
          <a:p>
            <a:pPr algn="ctr">
              <a:lnSpc>
                <a:spcPts val="8390"/>
              </a:lnSpc>
            </a:pPr>
            <a:r>
              <a:rPr lang="en-US" sz="5993">
                <a:solidFill>
                  <a:srgbClr val="A453A2"/>
                </a:solidFill>
                <a:latin typeface="Arial"/>
                <a:ea typeface="Arial"/>
                <a:cs typeface="Arial"/>
                <a:sym typeface="Arial"/>
              </a:rPr>
              <a:t>P.Nikhila Sai  Y21ADS424</a:t>
            </a:r>
          </a:p>
          <a:p>
            <a:pPr algn="ctr">
              <a:lnSpc>
                <a:spcPts val="8390"/>
              </a:lnSpc>
            </a:pPr>
            <a:r>
              <a:rPr lang="en-US" sz="5993">
                <a:solidFill>
                  <a:srgbClr val="A453A2"/>
                </a:solidFill>
                <a:latin typeface="Arial"/>
                <a:ea typeface="Arial"/>
                <a:cs typeface="Arial"/>
                <a:sym typeface="Arial"/>
              </a:rPr>
              <a:t>Ch.Pavan Sai  Y21ADS408</a:t>
            </a:r>
          </a:p>
          <a:p>
            <a:pPr algn="ctr">
              <a:lnSpc>
                <a:spcPts val="8390"/>
              </a:lnSpc>
            </a:pPr>
            <a:r>
              <a:rPr lang="en-US" sz="5993">
                <a:solidFill>
                  <a:srgbClr val="A453A2"/>
                </a:solidFill>
                <a:latin typeface="Arial"/>
                <a:ea typeface="Arial"/>
                <a:cs typeface="Arial"/>
                <a:sym typeface="Arial"/>
              </a:rPr>
              <a:t>A.Abhinav       Y21ADS403</a:t>
            </a:r>
          </a:p>
          <a:p>
            <a:pPr algn="ctr">
              <a:lnSpc>
                <a:spcPts val="8390"/>
              </a:lnSpc>
              <a:spcBef>
                <a:spcPct val="0"/>
              </a:spcBef>
            </a:pPr>
            <a:r>
              <a:rPr lang="en-US" sz="5993">
                <a:solidFill>
                  <a:srgbClr val="A453A2"/>
                </a:solidFill>
                <a:latin typeface="Arial"/>
                <a:ea typeface="Arial"/>
                <a:cs typeface="Arial"/>
                <a:sym typeface="Arial"/>
              </a:rPr>
              <a:t>B.Kalyani         Y21ADS406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336588" y="-960351"/>
            <a:ext cx="3305861" cy="3214949"/>
          </a:xfrm>
          <a:custGeom>
            <a:avLst/>
            <a:gdLst/>
            <a:ahLst/>
            <a:cxnLst/>
            <a:rect r="r" b="b" t="t" l="l"/>
            <a:pathLst>
              <a:path h="3214949" w="3305861">
                <a:moveTo>
                  <a:pt x="0" y="0"/>
                </a:moveTo>
                <a:lnTo>
                  <a:pt x="3305860" y="0"/>
                </a:lnTo>
                <a:lnTo>
                  <a:pt x="3305860" y="3214950"/>
                </a:lnTo>
                <a:lnTo>
                  <a:pt x="0" y="3214950"/>
                </a:lnTo>
                <a:lnTo>
                  <a:pt x="0" y="0"/>
                </a:lnTo>
                <a:close/>
              </a:path>
            </a:pathLst>
          </a:custGeom>
          <a:blipFill>
            <a:blip r:embed="rId3"/>
            <a:stretch>
              <a:fillRect l="0" t="0" r="0" b="0"/>
            </a:stretch>
          </a:blipFill>
        </p:spPr>
      </p:sp>
      <p:sp>
        <p:nvSpPr>
          <p:cNvPr name="Freeform 4" id="4"/>
          <p:cNvSpPr/>
          <p:nvPr/>
        </p:nvSpPr>
        <p:spPr>
          <a:xfrm flipH="false" flipV="false" rot="0">
            <a:off x="-2127010" y="8027029"/>
            <a:ext cx="3862670" cy="3756446"/>
          </a:xfrm>
          <a:custGeom>
            <a:avLst/>
            <a:gdLst/>
            <a:ahLst/>
            <a:cxnLst/>
            <a:rect r="r" b="b" t="t" l="l"/>
            <a:pathLst>
              <a:path h="3756446" w="3862670">
                <a:moveTo>
                  <a:pt x="0" y="0"/>
                </a:moveTo>
                <a:lnTo>
                  <a:pt x="3862669" y="0"/>
                </a:lnTo>
                <a:lnTo>
                  <a:pt x="3862669" y="3756447"/>
                </a:lnTo>
                <a:lnTo>
                  <a:pt x="0" y="3756447"/>
                </a:lnTo>
                <a:lnTo>
                  <a:pt x="0" y="0"/>
                </a:lnTo>
                <a:close/>
              </a:path>
            </a:pathLst>
          </a:custGeom>
          <a:blipFill>
            <a:blip r:embed="rId3"/>
            <a:stretch>
              <a:fillRect l="0" t="0" r="0" b="0"/>
            </a:stretch>
          </a:blipFill>
        </p:spPr>
      </p:sp>
      <p:sp>
        <p:nvSpPr>
          <p:cNvPr name="TextBox 5" id="5"/>
          <p:cNvSpPr txBox="true"/>
          <p:nvPr/>
        </p:nvSpPr>
        <p:spPr>
          <a:xfrm rot="0">
            <a:off x="1028700" y="123834"/>
            <a:ext cx="15571724" cy="1504933"/>
          </a:xfrm>
          <a:prstGeom prst="rect">
            <a:avLst/>
          </a:prstGeom>
        </p:spPr>
        <p:txBody>
          <a:bodyPr anchor="t" rtlCol="false" tIns="0" lIns="0" bIns="0" rIns="0">
            <a:spAutoFit/>
          </a:bodyPr>
          <a:lstStyle/>
          <a:p>
            <a:pPr algn="ctr">
              <a:lnSpc>
                <a:spcPts val="11025"/>
              </a:lnSpc>
              <a:spcBef>
                <a:spcPct val="0"/>
              </a:spcBef>
            </a:pPr>
            <a:r>
              <a:rPr lang="en-US" sz="7875">
                <a:solidFill>
                  <a:srgbClr val="A453A2"/>
                </a:solidFill>
                <a:latin typeface="Arial"/>
                <a:ea typeface="Arial"/>
                <a:cs typeface="Arial"/>
                <a:sym typeface="Arial"/>
              </a:rPr>
              <a:t>Definition of the Problem</a:t>
            </a:r>
          </a:p>
        </p:txBody>
      </p:sp>
      <p:sp>
        <p:nvSpPr>
          <p:cNvPr name="TextBox 6" id="6"/>
          <p:cNvSpPr txBox="true"/>
          <p:nvPr/>
        </p:nvSpPr>
        <p:spPr>
          <a:xfrm rot="0">
            <a:off x="214223" y="1682330"/>
            <a:ext cx="17486163" cy="7839698"/>
          </a:xfrm>
          <a:prstGeom prst="rect">
            <a:avLst/>
          </a:prstGeom>
        </p:spPr>
        <p:txBody>
          <a:bodyPr anchor="t" rtlCol="false" tIns="0" lIns="0" bIns="0" rIns="0">
            <a:spAutoFit/>
          </a:bodyPr>
          <a:lstStyle/>
          <a:p>
            <a:pPr algn="ctr" marL="867093" indent="-433546" lvl="1">
              <a:lnSpc>
                <a:spcPts val="5622"/>
              </a:lnSpc>
              <a:buFont typeface="Arial"/>
              <a:buChar char="•"/>
            </a:pPr>
            <a:r>
              <a:rPr lang="en-US" sz="4016">
                <a:solidFill>
                  <a:srgbClr val="000000"/>
                </a:solidFill>
                <a:latin typeface="Arial"/>
                <a:ea typeface="Arial"/>
                <a:cs typeface="Arial"/>
                <a:sym typeface="Arial"/>
              </a:rPr>
              <a:t>Phishing websites exploit human vulnerabilities to steal sensitive     information like usernames and passwords.</a:t>
            </a:r>
          </a:p>
          <a:p>
            <a:pPr algn="ctr" marL="867093" indent="-433546" lvl="1">
              <a:lnSpc>
                <a:spcPts val="5622"/>
              </a:lnSpc>
              <a:buFont typeface="Arial"/>
              <a:buChar char="•"/>
            </a:pPr>
            <a:r>
              <a:rPr lang="en-US" sz="4016">
                <a:solidFill>
                  <a:srgbClr val="000000"/>
                </a:solidFill>
                <a:latin typeface="Arial"/>
                <a:ea typeface="Arial"/>
                <a:cs typeface="Arial"/>
                <a:sym typeface="Arial"/>
              </a:rPr>
              <a:t>Traditional methods often fail to keep up with the evolving tactics of attackers.</a:t>
            </a:r>
          </a:p>
          <a:p>
            <a:pPr algn="ctr" marL="867093" indent="-433546" lvl="1">
              <a:lnSpc>
                <a:spcPts val="5622"/>
              </a:lnSpc>
              <a:buFont typeface="Arial"/>
              <a:buChar char="•"/>
            </a:pPr>
            <a:r>
              <a:rPr lang="en-US" sz="4016">
                <a:solidFill>
                  <a:srgbClr val="000000"/>
                </a:solidFill>
                <a:latin typeface="Arial"/>
                <a:ea typeface="Arial"/>
                <a:cs typeface="Arial"/>
                <a:sym typeface="Arial"/>
              </a:rPr>
              <a:t>We propose a machine learning-based system for detecting phishing   URLs, focusing on supervised learning techniques.</a:t>
            </a:r>
          </a:p>
          <a:p>
            <a:pPr algn="ctr" marL="867093" indent="-433546" lvl="1">
              <a:lnSpc>
                <a:spcPts val="5622"/>
              </a:lnSpc>
              <a:buFont typeface="Arial"/>
              <a:buChar char="•"/>
            </a:pPr>
            <a:r>
              <a:rPr lang="en-US" sz="4016">
                <a:solidFill>
                  <a:srgbClr val="000000"/>
                </a:solidFill>
                <a:latin typeface="Arial"/>
                <a:ea typeface="Arial"/>
                <a:cs typeface="Arial"/>
                <a:sym typeface="Arial"/>
              </a:rPr>
              <a:t>The Gradient Boost method has been selected for its strong performance in classification tasks.</a:t>
            </a:r>
          </a:p>
          <a:p>
            <a:pPr algn="ctr" marL="867093" indent="-433546" lvl="1">
              <a:lnSpc>
                <a:spcPts val="5622"/>
              </a:lnSpc>
              <a:buFont typeface="Arial"/>
              <a:buChar char="•"/>
            </a:pPr>
            <a:r>
              <a:rPr lang="en-US" sz="4016">
                <a:solidFill>
                  <a:srgbClr val="000000"/>
                </a:solidFill>
                <a:latin typeface="Arial"/>
                <a:ea typeface="Arial"/>
                <a:cs typeface="Arial"/>
                <a:sym typeface="Arial"/>
              </a:rPr>
              <a:t>Our goal is to enhance classifier performance by analyzing and selecting the best features of phishing websites.</a:t>
            </a:r>
          </a:p>
          <a:p>
            <a:pPr algn="ctr">
              <a:lnSpc>
                <a:spcPts val="5622"/>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4876152" y="-960351"/>
            <a:ext cx="4766297" cy="4635224"/>
          </a:xfrm>
          <a:custGeom>
            <a:avLst/>
            <a:gdLst/>
            <a:ahLst/>
            <a:cxnLst/>
            <a:rect r="r" b="b" t="t" l="l"/>
            <a:pathLst>
              <a:path h="4635224" w="4766297">
                <a:moveTo>
                  <a:pt x="0" y="0"/>
                </a:moveTo>
                <a:lnTo>
                  <a:pt x="4766296" y="0"/>
                </a:lnTo>
                <a:lnTo>
                  <a:pt x="4766296" y="4635224"/>
                </a:lnTo>
                <a:lnTo>
                  <a:pt x="0" y="4635224"/>
                </a:lnTo>
                <a:lnTo>
                  <a:pt x="0" y="0"/>
                </a:lnTo>
                <a:close/>
              </a:path>
            </a:pathLst>
          </a:custGeom>
          <a:blipFill>
            <a:blip r:embed="rId3"/>
            <a:stretch>
              <a:fillRect l="0" t="0" r="0" b="0"/>
            </a:stretch>
          </a:blipFill>
        </p:spPr>
      </p:sp>
      <p:sp>
        <p:nvSpPr>
          <p:cNvPr name="Freeform 4" id="4"/>
          <p:cNvSpPr/>
          <p:nvPr/>
        </p:nvSpPr>
        <p:spPr>
          <a:xfrm flipH="false" flipV="false" rot="0">
            <a:off x="-2127010" y="7148252"/>
            <a:ext cx="4766297" cy="4635224"/>
          </a:xfrm>
          <a:custGeom>
            <a:avLst/>
            <a:gdLst/>
            <a:ahLst/>
            <a:cxnLst/>
            <a:rect r="r" b="b" t="t" l="l"/>
            <a:pathLst>
              <a:path h="4635224" w="4766297">
                <a:moveTo>
                  <a:pt x="0" y="0"/>
                </a:moveTo>
                <a:lnTo>
                  <a:pt x="4766296" y="0"/>
                </a:lnTo>
                <a:lnTo>
                  <a:pt x="4766296" y="4635224"/>
                </a:lnTo>
                <a:lnTo>
                  <a:pt x="0" y="4635224"/>
                </a:lnTo>
                <a:lnTo>
                  <a:pt x="0" y="0"/>
                </a:lnTo>
                <a:close/>
              </a:path>
            </a:pathLst>
          </a:custGeom>
          <a:blipFill>
            <a:blip r:embed="rId3"/>
            <a:stretch>
              <a:fillRect l="0" t="0" r="0" b="0"/>
            </a:stretch>
          </a:blipFill>
        </p:spPr>
      </p:sp>
      <p:sp>
        <p:nvSpPr>
          <p:cNvPr name="TextBox 5" id="5"/>
          <p:cNvSpPr txBox="true"/>
          <p:nvPr/>
        </p:nvSpPr>
        <p:spPr>
          <a:xfrm rot="0">
            <a:off x="4243383" y="-152400"/>
            <a:ext cx="9471669" cy="1365912"/>
          </a:xfrm>
          <a:prstGeom prst="rect">
            <a:avLst/>
          </a:prstGeom>
        </p:spPr>
        <p:txBody>
          <a:bodyPr anchor="t" rtlCol="false" tIns="0" lIns="0" bIns="0" rIns="0">
            <a:spAutoFit/>
          </a:bodyPr>
          <a:lstStyle/>
          <a:p>
            <a:pPr algn="ctr">
              <a:lnSpc>
                <a:spcPts val="11159"/>
              </a:lnSpc>
              <a:spcBef>
                <a:spcPct val="0"/>
              </a:spcBef>
            </a:pPr>
            <a:r>
              <a:rPr lang="en-US" sz="7970">
                <a:solidFill>
                  <a:srgbClr val="A453A2"/>
                </a:solidFill>
                <a:latin typeface="IBM Plex Sans Condensed"/>
                <a:ea typeface="IBM Plex Sans Condensed"/>
                <a:cs typeface="IBM Plex Sans Condensed"/>
                <a:sym typeface="IBM Plex Sans Condensed"/>
              </a:rPr>
              <a:t>EXISTING SYSTEM</a:t>
            </a:r>
          </a:p>
        </p:txBody>
      </p:sp>
      <p:sp>
        <p:nvSpPr>
          <p:cNvPr name="TextBox 6" id="6"/>
          <p:cNvSpPr txBox="true"/>
          <p:nvPr/>
        </p:nvSpPr>
        <p:spPr>
          <a:xfrm rot="0">
            <a:off x="256138" y="1959835"/>
            <a:ext cx="17259300" cy="6943004"/>
          </a:xfrm>
          <a:prstGeom prst="rect">
            <a:avLst/>
          </a:prstGeom>
        </p:spPr>
        <p:txBody>
          <a:bodyPr anchor="t" rtlCol="false" tIns="0" lIns="0" bIns="0" rIns="0">
            <a:spAutoFit/>
          </a:bodyPr>
          <a:lstStyle/>
          <a:p>
            <a:pPr algn="ctr">
              <a:lnSpc>
                <a:spcPts val="7898"/>
              </a:lnSpc>
            </a:pPr>
            <a:r>
              <a:rPr lang="en-US" sz="5641">
                <a:solidFill>
                  <a:srgbClr val="000000"/>
                </a:solidFill>
                <a:latin typeface="IBM Plex Sans Condensed"/>
                <a:ea typeface="IBM Plex Sans Condensed"/>
                <a:cs typeface="IBM Plex Sans Condensed"/>
                <a:sym typeface="IBM Plex Sans Condensed"/>
              </a:rPr>
              <a:t>In existing systems Random Forest and Decision Tree      algorithms are heavily employed in present systems, and their accuracy has to be enhanced. The existing models have low latency. Existing systems do not have a specific</a:t>
            </a:r>
          </a:p>
          <a:p>
            <a:pPr algn="ctr">
              <a:lnSpc>
                <a:spcPts val="7898"/>
              </a:lnSpc>
              <a:spcBef>
                <a:spcPct val="0"/>
              </a:spcBef>
            </a:pPr>
            <a:r>
              <a:rPr lang="en-US" sz="5641">
                <a:solidFill>
                  <a:srgbClr val="000000"/>
                </a:solidFill>
                <a:latin typeface="IBM Plex Sans Condensed"/>
                <a:ea typeface="IBM Plex Sans Condensed"/>
                <a:cs typeface="IBM Plex Sans Condensed"/>
                <a:sym typeface="IBM Plex Sans Condensed"/>
              </a:rPr>
              <a:t>user interface.Consumers are led to a faked website that appears to be from the authentic company when the e-mails or the links provided are opened.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3810695" y="-5062768"/>
            <a:ext cx="7621391" cy="8229600"/>
          </a:xfrm>
          <a:custGeom>
            <a:avLst/>
            <a:gdLst/>
            <a:ahLst/>
            <a:cxnLst/>
            <a:rect r="r" b="b" t="t" l="l"/>
            <a:pathLst>
              <a:path h="8229600" w="7621391">
                <a:moveTo>
                  <a:pt x="0" y="0"/>
                </a:moveTo>
                <a:lnTo>
                  <a:pt x="7621390" y="0"/>
                </a:lnTo>
                <a:lnTo>
                  <a:pt x="7621390"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3734755">
            <a:off x="16227586" y="7308499"/>
            <a:ext cx="2504584" cy="5116753"/>
          </a:xfrm>
          <a:custGeom>
            <a:avLst/>
            <a:gdLst/>
            <a:ahLst/>
            <a:cxnLst/>
            <a:rect r="r" b="b" t="t" l="l"/>
            <a:pathLst>
              <a:path h="5116753" w="2504584">
                <a:moveTo>
                  <a:pt x="0" y="0"/>
                </a:moveTo>
                <a:lnTo>
                  <a:pt x="2504584" y="0"/>
                </a:lnTo>
                <a:lnTo>
                  <a:pt x="2504584" y="5116753"/>
                </a:lnTo>
                <a:lnTo>
                  <a:pt x="0" y="5116753"/>
                </a:lnTo>
                <a:lnTo>
                  <a:pt x="0" y="0"/>
                </a:lnTo>
                <a:close/>
              </a:path>
            </a:pathLst>
          </a:custGeom>
          <a:blipFill>
            <a:blip r:embed="rId4"/>
            <a:stretch>
              <a:fillRect l="0" t="0" r="0" b="0"/>
            </a:stretch>
          </a:blipFill>
        </p:spPr>
      </p:sp>
      <p:sp>
        <p:nvSpPr>
          <p:cNvPr name="TextBox 5" id="5"/>
          <p:cNvSpPr txBox="true"/>
          <p:nvPr/>
        </p:nvSpPr>
        <p:spPr>
          <a:xfrm rot="0">
            <a:off x="-3162256" y="347792"/>
            <a:ext cx="25764967" cy="1444748"/>
          </a:xfrm>
          <a:prstGeom prst="rect">
            <a:avLst/>
          </a:prstGeom>
        </p:spPr>
        <p:txBody>
          <a:bodyPr anchor="t" rtlCol="false" tIns="0" lIns="0" bIns="0" rIns="0">
            <a:spAutoFit/>
          </a:bodyPr>
          <a:lstStyle/>
          <a:p>
            <a:pPr algn="ctr">
              <a:lnSpc>
                <a:spcPts val="11815"/>
              </a:lnSpc>
            </a:pPr>
            <a:r>
              <a:rPr lang="en-US" sz="8439">
                <a:solidFill>
                  <a:srgbClr val="A453A2"/>
                </a:solidFill>
                <a:latin typeface="IBM Plex Sans Condensed"/>
                <a:ea typeface="IBM Plex Sans Condensed"/>
                <a:cs typeface="IBM Plex Sans Condensed"/>
                <a:sym typeface="IBM Plex Sans Condensed"/>
              </a:rPr>
              <a:t>APPLICATIONS</a:t>
            </a:r>
          </a:p>
        </p:txBody>
      </p:sp>
      <p:sp>
        <p:nvSpPr>
          <p:cNvPr name="TextBox 6" id="6"/>
          <p:cNvSpPr txBox="true"/>
          <p:nvPr/>
        </p:nvSpPr>
        <p:spPr>
          <a:xfrm rot="0">
            <a:off x="3428626" y="2919182"/>
            <a:ext cx="11430749" cy="5550624"/>
          </a:xfrm>
          <a:prstGeom prst="rect">
            <a:avLst/>
          </a:prstGeom>
        </p:spPr>
        <p:txBody>
          <a:bodyPr anchor="t" rtlCol="false" tIns="0" lIns="0" bIns="0" rIns="0">
            <a:spAutoFit/>
          </a:bodyPr>
          <a:lstStyle/>
          <a:p>
            <a:pPr algn="ctr" marL="1328358" indent="-664179" lvl="1">
              <a:lnSpc>
                <a:spcPts val="8613"/>
              </a:lnSpc>
              <a:buFont typeface="Arial"/>
              <a:buChar char="•"/>
            </a:pPr>
            <a:r>
              <a:rPr lang="en-US" sz="6152">
                <a:solidFill>
                  <a:srgbClr val="000000"/>
                </a:solidFill>
                <a:latin typeface="Arial"/>
                <a:ea typeface="Arial"/>
                <a:cs typeface="Arial"/>
                <a:sym typeface="Arial"/>
              </a:rPr>
              <a:t>Prevention of Online Scams</a:t>
            </a:r>
          </a:p>
          <a:p>
            <a:pPr algn="ctr" marL="1328358" indent="-664179" lvl="1">
              <a:lnSpc>
                <a:spcPts val="8613"/>
              </a:lnSpc>
              <a:buFont typeface="Arial"/>
              <a:buChar char="•"/>
            </a:pPr>
            <a:r>
              <a:rPr lang="en-US" sz="6152">
                <a:solidFill>
                  <a:srgbClr val="000000"/>
                </a:solidFill>
                <a:latin typeface="Arial"/>
                <a:ea typeface="Arial"/>
                <a:cs typeface="Arial"/>
                <a:sym typeface="Arial"/>
              </a:rPr>
              <a:t>Security Enhancement         </a:t>
            </a:r>
          </a:p>
          <a:p>
            <a:pPr algn="ctr" marL="1328358" indent="-664179" lvl="1">
              <a:lnSpc>
                <a:spcPts val="8613"/>
              </a:lnSpc>
              <a:buFont typeface="Arial"/>
              <a:buChar char="•"/>
            </a:pPr>
            <a:r>
              <a:rPr lang="en-US" sz="6152">
                <a:solidFill>
                  <a:srgbClr val="000000"/>
                </a:solidFill>
                <a:latin typeface="Arial"/>
                <a:ea typeface="Arial"/>
                <a:cs typeface="Arial"/>
                <a:sym typeface="Arial"/>
              </a:rPr>
              <a:t>Web Security Tools                </a:t>
            </a:r>
          </a:p>
          <a:p>
            <a:pPr algn="ctr" marL="1328358" indent="-664179" lvl="1">
              <a:lnSpc>
                <a:spcPts val="8613"/>
              </a:lnSpc>
              <a:buFont typeface="Arial"/>
              <a:buChar char="•"/>
            </a:pPr>
            <a:r>
              <a:rPr lang="en-US" sz="6152">
                <a:solidFill>
                  <a:srgbClr val="000000"/>
                </a:solidFill>
                <a:latin typeface="Arial"/>
                <a:ea typeface="Arial"/>
                <a:cs typeface="Arial"/>
                <a:sym typeface="Arial"/>
              </a:rPr>
              <a:t> Educational Awareness         </a:t>
            </a:r>
          </a:p>
          <a:p>
            <a:pPr algn="ctr" marL="1328358" indent="-664179" lvl="1">
              <a:lnSpc>
                <a:spcPts val="8613"/>
              </a:lnSpc>
              <a:buFont typeface="Arial"/>
              <a:buChar char="•"/>
            </a:pPr>
            <a:r>
              <a:rPr lang="en-US" sz="6152">
                <a:solidFill>
                  <a:srgbClr val="000000"/>
                </a:solidFill>
                <a:latin typeface="Arial"/>
                <a:ea typeface="Arial"/>
                <a:cs typeface="Arial"/>
                <a:sym typeface="Arial"/>
              </a:rPr>
              <a:t>  Business Security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3313567" y="301663"/>
            <a:ext cx="10686136" cy="1341413"/>
          </a:xfrm>
          <a:prstGeom prst="rect">
            <a:avLst/>
          </a:prstGeom>
        </p:spPr>
        <p:txBody>
          <a:bodyPr anchor="t" rtlCol="false" tIns="0" lIns="0" bIns="0" rIns="0">
            <a:spAutoFit/>
          </a:bodyPr>
          <a:lstStyle/>
          <a:p>
            <a:pPr algn="ctr">
              <a:lnSpc>
                <a:spcPts val="8744"/>
              </a:lnSpc>
            </a:pPr>
            <a:r>
              <a:rPr lang="en-US" sz="8744">
                <a:solidFill>
                  <a:srgbClr val="A453A2"/>
                </a:solidFill>
                <a:latin typeface="Arial"/>
                <a:ea typeface="Arial"/>
                <a:cs typeface="Arial"/>
                <a:sym typeface="Arial"/>
              </a:rPr>
              <a:t>ACTION PLAN</a:t>
            </a:r>
          </a:p>
        </p:txBody>
      </p:sp>
      <p:sp>
        <p:nvSpPr>
          <p:cNvPr name="Freeform 4" id="4"/>
          <p:cNvSpPr/>
          <p:nvPr/>
        </p:nvSpPr>
        <p:spPr>
          <a:xfrm flipH="false" flipV="false" rot="0">
            <a:off x="-4681043" y="-5031689"/>
            <a:ext cx="7445779" cy="7311136"/>
          </a:xfrm>
          <a:custGeom>
            <a:avLst/>
            <a:gdLst/>
            <a:ahLst/>
            <a:cxnLst/>
            <a:rect r="r" b="b" t="t" l="l"/>
            <a:pathLst>
              <a:path h="7311136" w="7445779">
                <a:moveTo>
                  <a:pt x="0" y="0"/>
                </a:moveTo>
                <a:lnTo>
                  <a:pt x="7445779" y="0"/>
                </a:lnTo>
                <a:lnTo>
                  <a:pt x="7445779" y="7311136"/>
                </a:lnTo>
                <a:lnTo>
                  <a:pt x="0" y="7311136"/>
                </a:lnTo>
                <a:lnTo>
                  <a:pt x="0" y="0"/>
                </a:lnTo>
                <a:close/>
              </a:path>
            </a:pathLst>
          </a:custGeom>
          <a:blipFill>
            <a:blip r:embed="rId3"/>
            <a:stretch>
              <a:fillRect l="0" t="0" r="0" b="0"/>
            </a:stretch>
          </a:blipFill>
        </p:spPr>
      </p:sp>
      <p:sp>
        <p:nvSpPr>
          <p:cNvPr name="Freeform 5" id="5"/>
          <p:cNvSpPr/>
          <p:nvPr/>
        </p:nvSpPr>
        <p:spPr>
          <a:xfrm flipH="false" flipV="false" rot="4492686">
            <a:off x="16387679" y="8569368"/>
            <a:ext cx="2986686" cy="2906264"/>
          </a:xfrm>
          <a:custGeom>
            <a:avLst/>
            <a:gdLst/>
            <a:ahLst/>
            <a:cxnLst/>
            <a:rect r="r" b="b" t="t" l="l"/>
            <a:pathLst>
              <a:path h="2906264" w="2986686">
                <a:moveTo>
                  <a:pt x="0" y="0"/>
                </a:moveTo>
                <a:lnTo>
                  <a:pt x="2986686" y="0"/>
                </a:lnTo>
                <a:lnTo>
                  <a:pt x="2986686" y="2906265"/>
                </a:lnTo>
                <a:lnTo>
                  <a:pt x="0" y="2906265"/>
                </a:lnTo>
                <a:lnTo>
                  <a:pt x="0" y="0"/>
                </a:lnTo>
                <a:close/>
              </a:path>
            </a:pathLst>
          </a:custGeom>
          <a:blipFill>
            <a:blip r:embed="rId4"/>
            <a:stretch>
              <a:fillRect l="0" t="0" r="0" b="0"/>
            </a:stretch>
          </a:blipFill>
        </p:spPr>
      </p:sp>
      <p:sp>
        <p:nvSpPr>
          <p:cNvPr name="TextBox 6" id="6"/>
          <p:cNvSpPr txBox="true"/>
          <p:nvPr/>
        </p:nvSpPr>
        <p:spPr>
          <a:xfrm rot="0">
            <a:off x="227160" y="2088947"/>
            <a:ext cx="18288000" cy="7444874"/>
          </a:xfrm>
          <a:prstGeom prst="rect">
            <a:avLst/>
          </a:prstGeom>
        </p:spPr>
        <p:txBody>
          <a:bodyPr anchor="t" rtlCol="false" tIns="0" lIns="0" bIns="0" rIns="0">
            <a:spAutoFit/>
          </a:bodyPr>
          <a:lstStyle/>
          <a:p>
            <a:pPr algn="ctr">
              <a:lnSpc>
                <a:spcPts val="6502"/>
              </a:lnSpc>
            </a:pPr>
            <a:r>
              <a:rPr lang="en-US" sz="4644">
                <a:solidFill>
                  <a:srgbClr val="000000"/>
                </a:solidFill>
                <a:latin typeface="Arial"/>
                <a:ea typeface="Arial"/>
                <a:cs typeface="Arial"/>
                <a:sym typeface="Arial"/>
              </a:rPr>
              <a:t>Step 1: </a:t>
            </a:r>
            <a:r>
              <a:rPr lang="en-US" sz="4644">
                <a:solidFill>
                  <a:srgbClr val="A453A2"/>
                </a:solidFill>
                <a:latin typeface="Arial"/>
                <a:ea typeface="Arial"/>
                <a:cs typeface="Arial"/>
                <a:sym typeface="Arial"/>
              </a:rPr>
              <a:t>Data Collection</a:t>
            </a:r>
            <a:r>
              <a:rPr lang="en-US" sz="4644">
                <a:solidFill>
                  <a:srgbClr val="000000"/>
                </a:solidFill>
                <a:latin typeface="Arial"/>
                <a:ea typeface="Arial"/>
                <a:cs typeface="Arial"/>
                <a:sym typeface="Arial"/>
              </a:rPr>
              <a:t>                                                                                        </a:t>
            </a:r>
          </a:p>
          <a:p>
            <a:pPr algn="ctr">
              <a:lnSpc>
                <a:spcPts val="6502"/>
              </a:lnSpc>
              <a:spcBef>
                <a:spcPct val="0"/>
              </a:spcBef>
            </a:pPr>
            <a:r>
              <a:rPr lang="en-US" sz="4644">
                <a:solidFill>
                  <a:srgbClr val="000000"/>
                </a:solidFill>
                <a:latin typeface="Arial"/>
                <a:ea typeface="Arial"/>
                <a:cs typeface="Arial"/>
                <a:sym typeface="Arial"/>
              </a:rPr>
              <a:t>     Collect datasets of legitimate and phishing websites. Use publicly  available datasets or scrape data from online resoure.</a:t>
            </a:r>
            <a:r>
              <a:rPr lang="en-US" sz="4644">
                <a:solidFill>
                  <a:srgbClr val="000000"/>
                </a:solidFill>
                <a:latin typeface="Arial"/>
                <a:ea typeface="Arial"/>
                <a:cs typeface="Arial"/>
                <a:sym typeface="Arial"/>
              </a:rPr>
              <a:t>              </a:t>
            </a:r>
          </a:p>
          <a:p>
            <a:pPr algn="ctr">
              <a:lnSpc>
                <a:spcPts val="6502"/>
              </a:lnSpc>
              <a:spcBef>
                <a:spcPct val="0"/>
              </a:spcBef>
            </a:pPr>
            <a:r>
              <a:rPr lang="en-US" sz="4644">
                <a:solidFill>
                  <a:srgbClr val="000000"/>
                </a:solidFill>
                <a:latin typeface="Arial"/>
                <a:ea typeface="Arial"/>
                <a:cs typeface="Arial"/>
                <a:sym typeface="Arial"/>
              </a:rPr>
              <a:t>Step 2: </a:t>
            </a:r>
            <a:r>
              <a:rPr lang="en-US" sz="4644">
                <a:solidFill>
                  <a:srgbClr val="A453A2"/>
                </a:solidFill>
                <a:latin typeface="Arial"/>
                <a:ea typeface="Arial"/>
                <a:cs typeface="Arial"/>
                <a:sym typeface="Arial"/>
              </a:rPr>
              <a:t>Feature Selection</a:t>
            </a:r>
            <a:r>
              <a:rPr lang="en-US" sz="4644">
                <a:solidFill>
                  <a:srgbClr val="000000"/>
                </a:solidFill>
                <a:latin typeface="Arial"/>
                <a:ea typeface="Arial"/>
                <a:cs typeface="Arial"/>
                <a:sym typeface="Arial"/>
              </a:rPr>
              <a:t>                                                                        </a:t>
            </a:r>
          </a:p>
          <a:p>
            <a:pPr algn="ctr">
              <a:lnSpc>
                <a:spcPts val="6502"/>
              </a:lnSpc>
              <a:spcBef>
                <a:spcPct val="0"/>
              </a:spcBef>
            </a:pPr>
            <a:r>
              <a:rPr lang="en-US" sz="4644">
                <a:solidFill>
                  <a:srgbClr val="000000"/>
                </a:solidFill>
                <a:latin typeface="Arial"/>
                <a:ea typeface="Arial"/>
                <a:cs typeface="Arial"/>
                <a:sym typeface="Arial"/>
              </a:rPr>
              <a:t>  Identify and extract relevant features from the URLs, website content, and metadata.                                                           </a:t>
            </a:r>
          </a:p>
          <a:p>
            <a:pPr algn="ctr">
              <a:lnSpc>
                <a:spcPts val="6502"/>
              </a:lnSpc>
              <a:spcBef>
                <a:spcPct val="0"/>
              </a:spcBef>
            </a:pPr>
            <a:r>
              <a:rPr lang="en-US" sz="4644">
                <a:solidFill>
                  <a:srgbClr val="000000"/>
                </a:solidFill>
                <a:latin typeface="Arial"/>
                <a:ea typeface="Arial"/>
                <a:cs typeface="Arial"/>
                <a:sym typeface="Arial"/>
              </a:rPr>
              <a:t>Step 3:</a:t>
            </a:r>
            <a:r>
              <a:rPr lang="en-US" sz="4644">
                <a:solidFill>
                  <a:srgbClr val="A453A2"/>
                </a:solidFill>
                <a:latin typeface="Arial"/>
                <a:ea typeface="Arial"/>
                <a:cs typeface="Arial"/>
                <a:sym typeface="Arial"/>
              </a:rPr>
              <a:t> Preprocessing    </a:t>
            </a:r>
            <a:r>
              <a:rPr lang="en-US" sz="4644">
                <a:solidFill>
                  <a:srgbClr val="000000"/>
                </a:solidFill>
                <a:latin typeface="Arial"/>
                <a:ea typeface="Arial"/>
                <a:cs typeface="Arial"/>
                <a:sym typeface="Arial"/>
              </a:rPr>
              <a:t>                                                                       </a:t>
            </a:r>
          </a:p>
          <a:p>
            <a:pPr algn="ctr">
              <a:lnSpc>
                <a:spcPts val="6502"/>
              </a:lnSpc>
              <a:spcBef>
                <a:spcPct val="0"/>
              </a:spcBef>
            </a:pPr>
            <a:r>
              <a:rPr lang="en-US" sz="4644">
                <a:solidFill>
                  <a:srgbClr val="000000"/>
                </a:solidFill>
                <a:latin typeface="Arial"/>
                <a:ea typeface="Arial"/>
                <a:cs typeface="Arial"/>
                <a:sym typeface="Arial"/>
              </a:rPr>
              <a:t>Clean and preprocess the data, such as converting text data to  numerical values, handling missing data, and normalizing features.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81043" y="-5031689"/>
            <a:ext cx="7288658" cy="7156856"/>
          </a:xfrm>
          <a:custGeom>
            <a:avLst/>
            <a:gdLst/>
            <a:ahLst/>
            <a:cxnLst/>
            <a:rect r="r" b="b" t="t" l="l"/>
            <a:pathLst>
              <a:path h="7156856" w="7288658">
                <a:moveTo>
                  <a:pt x="0" y="0"/>
                </a:moveTo>
                <a:lnTo>
                  <a:pt x="7288658" y="0"/>
                </a:lnTo>
                <a:lnTo>
                  <a:pt x="7288658" y="7156856"/>
                </a:lnTo>
                <a:lnTo>
                  <a:pt x="0" y="7156856"/>
                </a:lnTo>
                <a:lnTo>
                  <a:pt x="0" y="0"/>
                </a:lnTo>
                <a:close/>
              </a:path>
            </a:pathLst>
          </a:custGeom>
          <a:blipFill>
            <a:blip r:embed="rId3"/>
            <a:stretch>
              <a:fillRect l="0" t="0" r="0" b="0"/>
            </a:stretch>
          </a:blipFill>
        </p:spPr>
      </p:sp>
      <p:sp>
        <p:nvSpPr>
          <p:cNvPr name="Freeform 4" id="4"/>
          <p:cNvSpPr/>
          <p:nvPr/>
        </p:nvSpPr>
        <p:spPr>
          <a:xfrm flipH="false" flipV="false" rot="4492686">
            <a:off x="15247964" y="7696758"/>
            <a:ext cx="4022672" cy="3914355"/>
          </a:xfrm>
          <a:custGeom>
            <a:avLst/>
            <a:gdLst/>
            <a:ahLst/>
            <a:cxnLst/>
            <a:rect r="r" b="b" t="t" l="l"/>
            <a:pathLst>
              <a:path h="3914355" w="4022672">
                <a:moveTo>
                  <a:pt x="0" y="0"/>
                </a:moveTo>
                <a:lnTo>
                  <a:pt x="4022672" y="0"/>
                </a:lnTo>
                <a:lnTo>
                  <a:pt x="4022672" y="3914355"/>
                </a:lnTo>
                <a:lnTo>
                  <a:pt x="0" y="3914355"/>
                </a:lnTo>
                <a:lnTo>
                  <a:pt x="0" y="0"/>
                </a:lnTo>
                <a:close/>
              </a:path>
            </a:pathLst>
          </a:custGeom>
          <a:blipFill>
            <a:blip r:embed="rId4"/>
            <a:stretch>
              <a:fillRect l="0" t="0" r="0" b="0"/>
            </a:stretch>
          </a:blipFill>
        </p:spPr>
      </p:sp>
      <p:sp>
        <p:nvSpPr>
          <p:cNvPr name="TextBox 5" id="5"/>
          <p:cNvSpPr txBox="true"/>
          <p:nvPr/>
        </p:nvSpPr>
        <p:spPr>
          <a:xfrm rot="0">
            <a:off x="0" y="1497631"/>
            <a:ext cx="18028389" cy="9902044"/>
          </a:xfrm>
          <a:prstGeom prst="rect">
            <a:avLst/>
          </a:prstGeom>
        </p:spPr>
        <p:txBody>
          <a:bodyPr anchor="t" rtlCol="false" tIns="0" lIns="0" bIns="0" rIns="0">
            <a:spAutoFit/>
          </a:bodyPr>
          <a:lstStyle/>
          <a:p>
            <a:pPr algn="ctr">
              <a:lnSpc>
                <a:spcPts val="6518"/>
              </a:lnSpc>
            </a:pPr>
          </a:p>
          <a:p>
            <a:pPr algn="ctr">
              <a:lnSpc>
                <a:spcPts val="6518"/>
              </a:lnSpc>
            </a:pPr>
            <a:r>
              <a:rPr lang="en-US" sz="4655">
                <a:solidFill>
                  <a:srgbClr val="000000"/>
                </a:solidFill>
                <a:latin typeface="Arial"/>
                <a:ea typeface="Arial"/>
                <a:cs typeface="Arial"/>
                <a:sym typeface="Arial"/>
              </a:rPr>
              <a:t> Step 4: </a:t>
            </a:r>
            <a:r>
              <a:rPr lang="en-US" sz="4655">
                <a:solidFill>
                  <a:srgbClr val="A453A2"/>
                </a:solidFill>
                <a:latin typeface="Arial"/>
                <a:ea typeface="Arial"/>
                <a:cs typeface="Arial"/>
                <a:sym typeface="Arial"/>
              </a:rPr>
              <a:t>Model Selection</a:t>
            </a:r>
            <a:r>
              <a:rPr lang="en-US" sz="4655">
                <a:solidFill>
                  <a:srgbClr val="000000"/>
                </a:solidFill>
                <a:latin typeface="Arial"/>
                <a:ea typeface="Arial"/>
                <a:cs typeface="Arial"/>
                <a:sym typeface="Arial"/>
              </a:rPr>
              <a:t>                                                                                        </a:t>
            </a:r>
          </a:p>
          <a:p>
            <a:pPr algn="ctr">
              <a:lnSpc>
                <a:spcPts val="6518"/>
              </a:lnSpc>
            </a:pPr>
            <a:r>
              <a:rPr lang="en-US" sz="4655">
                <a:solidFill>
                  <a:srgbClr val="000000"/>
                </a:solidFill>
                <a:latin typeface="Arial"/>
                <a:ea typeface="Arial"/>
                <a:cs typeface="Arial"/>
                <a:sym typeface="Arial"/>
              </a:rPr>
              <a:t>Choose appropriate machine learning algorithms.        </a:t>
            </a:r>
          </a:p>
          <a:p>
            <a:pPr algn="ctr">
              <a:lnSpc>
                <a:spcPts val="6518"/>
              </a:lnSpc>
            </a:pPr>
            <a:r>
              <a:rPr lang="en-US" sz="4655">
                <a:solidFill>
                  <a:srgbClr val="000000"/>
                </a:solidFill>
                <a:latin typeface="Arial"/>
                <a:ea typeface="Arial"/>
                <a:cs typeface="Arial"/>
                <a:sym typeface="Arial"/>
              </a:rPr>
              <a:t>Step 5: </a:t>
            </a:r>
            <a:r>
              <a:rPr lang="en-US" sz="4655">
                <a:solidFill>
                  <a:srgbClr val="A453A2"/>
                </a:solidFill>
                <a:latin typeface="Arial"/>
                <a:ea typeface="Arial"/>
                <a:cs typeface="Arial"/>
                <a:sym typeface="Arial"/>
              </a:rPr>
              <a:t>Model Training</a:t>
            </a:r>
            <a:r>
              <a:rPr lang="en-US" sz="4655">
                <a:solidFill>
                  <a:srgbClr val="000000"/>
                </a:solidFill>
                <a:latin typeface="Arial"/>
                <a:ea typeface="Arial"/>
                <a:cs typeface="Arial"/>
                <a:sym typeface="Arial"/>
              </a:rPr>
              <a:t>                                                                        </a:t>
            </a:r>
          </a:p>
          <a:p>
            <a:pPr algn="ctr">
              <a:lnSpc>
                <a:spcPts val="6518"/>
              </a:lnSpc>
            </a:pPr>
            <a:r>
              <a:rPr lang="en-US" sz="4655">
                <a:solidFill>
                  <a:srgbClr val="000000"/>
                </a:solidFill>
                <a:latin typeface="Arial"/>
                <a:ea typeface="Arial"/>
                <a:cs typeface="Arial"/>
                <a:sym typeface="Arial"/>
              </a:rPr>
              <a:t>        Train the selected model on the preprocessed data,usingcross validation to ensure robust performance.                        </a:t>
            </a:r>
          </a:p>
          <a:p>
            <a:pPr algn="ctr">
              <a:lnSpc>
                <a:spcPts val="6518"/>
              </a:lnSpc>
            </a:pPr>
            <a:r>
              <a:rPr lang="en-US" sz="4655">
                <a:solidFill>
                  <a:srgbClr val="000000"/>
                </a:solidFill>
                <a:latin typeface="Arial"/>
                <a:ea typeface="Arial"/>
                <a:cs typeface="Arial"/>
                <a:sym typeface="Arial"/>
              </a:rPr>
              <a:t>Step 6: </a:t>
            </a:r>
            <a:r>
              <a:rPr lang="en-US" sz="4655">
                <a:solidFill>
                  <a:srgbClr val="A453A2"/>
                </a:solidFill>
                <a:latin typeface="Arial"/>
                <a:ea typeface="Arial"/>
                <a:cs typeface="Arial"/>
                <a:sym typeface="Arial"/>
              </a:rPr>
              <a:t>Model Evaluation</a:t>
            </a:r>
            <a:r>
              <a:rPr lang="en-US" sz="4655">
                <a:solidFill>
                  <a:srgbClr val="000000"/>
                </a:solidFill>
                <a:latin typeface="Arial"/>
                <a:ea typeface="Arial"/>
                <a:cs typeface="Arial"/>
                <a:sym typeface="Arial"/>
              </a:rPr>
              <a:t>                                                                    </a:t>
            </a:r>
          </a:p>
          <a:p>
            <a:pPr algn="ctr">
              <a:lnSpc>
                <a:spcPts val="6518"/>
              </a:lnSpc>
            </a:pPr>
            <a:r>
              <a:rPr lang="en-US" sz="4655">
                <a:solidFill>
                  <a:srgbClr val="000000"/>
                </a:solidFill>
                <a:latin typeface="Arial"/>
                <a:ea typeface="Arial"/>
                <a:cs typeface="Arial"/>
                <a:sym typeface="Arial"/>
              </a:rPr>
              <a:t>       Evaluate the model using metrics like accuracy, precision,recall,       F1-score, and ROC curve to assess its ability to detect phishing websites.</a:t>
            </a:r>
          </a:p>
          <a:p>
            <a:pPr algn="ctr">
              <a:lnSpc>
                <a:spcPts val="6518"/>
              </a:lnSpc>
            </a:pPr>
            <a:r>
              <a:rPr lang="en-US" sz="4655">
                <a:solidFill>
                  <a:srgbClr val="000000"/>
                </a:solidFill>
                <a:latin typeface="Arial"/>
                <a:ea typeface="Arial"/>
                <a:cs typeface="Arial"/>
                <a:sym typeface="Arial"/>
              </a:rPr>
              <a:t>                           </a:t>
            </a:r>
          </a:p>
          <a:p>
            <a:pPr algn="ctr">
              <a:lnSpc>
                <a:spcPts val="6518"/>
              </a:lnSpc>
              <a:spcBef>
                <a:spcPct val="0"/>
              </a:spcBef>
            </a:pPr>
          </a:p>
        </p:txBody>
      </p:sp>
      <p:sp>
        <p:nvSpPr>
          <p:cNvPr name="TextBox 6" id="6"/>
          <p:cNvSpPr txBox="true"/>
          <p:nvPr/>
        </p:nvSpPr>
        <p:spPr>
          <a:xfrm rot="0">
            <a:off x="5026841" y="422201"/>
            <a:ext cx="7274006" cy="1467652"/>
          </a:xfrm>
          <a:prstGeom prst="rect">
            <a:avLst/>
          </a:prstGeom>
        </p:spPr>
        <p:txBody>
          <a:bodyPr anchor="t" rtlCol="false" tIns="0" lIns="0" bIns="0" rIns="0">
            <a:spAutoFit/>
          </a:bodyPr>
          <a:lstStyle/>
          <a:p>
            <a:pPr algn="ctr">
              <a:lnSpc>
                <a:spcPts val="12075"/>
              </a:lnSpc>
              <a:spcBef>
                <a:spcPct val="0"/>
              </a:spcBef>
            </a:pPr>
            <a:r>
              <a:rPr lang="en-US" sz="8625">
                <a:solidFill>
                  <a:srgbClr val="A453A2"/>
                </a:solidFill>
                <a:latin typeface="IBM Plex Sans Condensed"/>
                <a:ea typeface="IBM Plex Sans Condensed"/>
                <a:cs typeface="IBM Plex Sans Condensed"/>
                <a:sym typeface="IBM Plex Sans Condensed"/>
              </a:rPr>
              <a:t>ACTION PLAN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81043" y="-5031689"/>
            <a:ext cx="8381158" cy="8229600"/>
          </a:xfrm>
          <a:custGeom>
            <a:avLst/>
            <a:gdLst/>
            <a:ahLst/>
            <a:cxnLst/>
            <a:rect r="r" b="b" t="t" l="l"/>
            <a:pathLst>
              <a:path h="8229600" w="8381158">
                <a:moveTo>
                  <a:pt x="0" y="0"/>
                </a:moveTo>
                <a:lnTo>
                  <a:pt x="8381158" y="0"/>
                </a:lnTo>
                <a:lnTo>
                  <a:pt x="8381158"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4492686">
            <a:off x="15247964" y="7696758"/>
            <a:ext cx="4022672" cy="3914355"/>
          </a:xfrm>
          <a:custGeom>
            <a:avLst/>
            <a:gdLst/>
            <a:ahLst/>
            <a:cxnLst/>
            <a:rect r="r" b="b" t="t" l="l"/>
            <a:pathLst>
              <a:path h="3914355" w="4022672">
                <a:moveTo>
                  <a:pt x="0" y="0"/>
                </a:moveTo>
                <a:lnTo>
                  <a:pt x="4022672" y="0"/>
                </a:lnTo>
                <a:lnTo>
                  <a:pt x="4022672" y="3914355"/>
                </a:lnTo>
                <a:lnTo>
                  <a:pt x="0" y="3914355"/>
                </a:lnTo>
                <a:lnTo>
                  <a:pt x="0" y="0"/>
                </a:lnTo>
                <a:close/>
              </a:path>
            </a:pathLst>
          </a:custGeom>
          <a:blipFill>
            <a:blip r:embed="rId4"/>
            <a:stretch>
              <a:fillRect l="0" t="0" r="0" b="0"/>
            </a:stretch>
          </a:blipFill>
        </p:spPr>
      </p:sp>
      <p:sp>
        <p:nvSpPr>
          <p:cNvPr name="TextBox 5" id="5"/>
          <p:cNvSpPr txBox="true"/>
          <p:nvPr/>
        </p:nvSpPr>
        <p:spPr>
          <a:xfrm rot="0">
            <a:off x="0" y="2580392"/>
            <a:ext cx="17957291" cy="6319967"/>
          </a:xfrm>
          <a:prstGeom prst="rect">
            <a:avLst/>
          </a:prstGeom>
        </p:spPr>
        <p:txBody>
          <a:bodyPr anchor="t" rtlCol="false" tIns="0" lIns="0" bIns="0" rIns="0">
            <a:spAutoFit/>
          </a:bodyPr>
          <a:lstStyle/>
          <a:p>
            <a:pPr algn="ctr">
              <a:lnSpc>
                <a:spcPts val="5442"/>
              </a:lnSpc>
            </a:pPr>
            <a:r>
              <a:rPr lang="en-US" sz="5442">
                <a:solidFill>
                  <a:srgbClr val="000000"/>
                </a:solidFill>
                <a:latin typeface="Arial"/>
                <a:ea typeface="Arial"/>
                <a:cs typeface="Arial"/>
                <a:sym typeface="Arial"/>
              </a:rPr>
              <a:t>Step 7: </a:t>
            </a:r>
            <a:r>
              <a:rPr lang="en-US" sz="5442">
                <a:solidFill>
                  <a:srgbClr val="A453A2"/>
                </a:solidFill>
                <a:latin typeface="Arial"/>
                <a:ea typeface="Arial"/>
                <a:cs typeface="Arial"/>
                <a:sym typeface="Arial"/>
              </a:rPr>
              <a:t>Optimization  </a:t>
            </a:r>
            <a:r>
              <a:rPr lang="en-US" sz="5442">
                <a:solidFill>
                  <a:srgbClr val="000000"/>
                </a:solidFill>
                <a:latin typeface="Arial"/>
                <a:ea typeface="Arial"/>
                <a:cs typeface="Arial"/>
                <a:sym typeface="Arial"/>
              </a:rPr>
              <a:t>                                                        </a:t>
            </a:r>
          </a:p>
          <a:p>
            <a:pPr algn="ctr">
              <a:lnSpc>
                <a:spcPts val="5442"/>
              </a:lnSpc>
            </a:pPr>
            <a:r>
              <a:rPr lang="en-US" sz="5442">
                <a:solidFill>
                  <a:srgbClr val="000000"/>
                </a:solidFill>
                <a:latin typeface="Arial"/>
                <a:ea typeface="Arial"/>
                <a:cs typeface="Arial"/>
                <a:sym typeface="Arial"/>
              </a:rPr>
              <a:t>Fine-tune the model and experiment with different          algorithms or hyperparameters to improve performance .</a:t>
            </a:r>
          </a:p>
          <a:p>
            <a:pPr algn="ctr">
              <a:lnSpc>
                <a:spcPts val="5442"/>
              </a:lnSpc>
            </a:pPr>
          </a:p>
          <a:p>
            <a:pPr algn="ctr">
              <a:lnSpc>
                <a:spcPts val="5442"/>
              </a:lnSpc>
            </a:pPr>
            <a:r>
              <a:rPr lang="en-US" sz="5442">
                <a:solidFill>
                  <a:srgbClr val="000000"/>
                </a:solidFill>
                <a:latin typeface="Arial"/>
                <a:ea typeface="Arial"/>
                <a:cs typeface="Arial"/>
                <a:sym typeface="Arial"/>
              </a:rPr>
              <a:t>Step 8: </a:t>
            </a:r>
            <a:r>
              <a:rPr lang="en-US" sz="5442">
                <a:solidFill>
                  <a:srgbClr val="A453A2"/>
                </a:solidFill>
                <a:latin typeface="Arial"/>
                <a:ea typeface="Arial"/>
                <a:cs typeface="Arial"/>
                <a:sym typeface="Arial"/>
              </a:rPr>
              <a:t>Deployment </a:t>
            </a:r>
            <a:r>
              <a:rPr lang="en-US" sz="5442">
                <a:solidFill>
                  <a:srgbClr val="000000"/>
                </a:solidFill>
                <a:latin typeface="Arial"/>
                <a:ea typeface="Arial"/>
                <a:cs typeface="Arial"/>
                <a:sym typeface="Arial"/>
              </a:rPr>
              <a:t>                                                           </a:t>
            </a:r>
          </a:p>
          <a:p>
            <a:pPr algn="ctr">
              <a:lnSpc>
                <a:spcPts val="5442"/>
              </a:lnSpc>
            </a:pPr>
            <a:r>
              <a:rPr lang="en-US" sz="5442">
                <a:solidFill>
                  <a:srgbClr val="000000"/>
                </a:solidFill>
                <a:latin typeface="Arial"/>
                <a:ea typeface="Arial"/>
                <a:cs typeface="Arial"/>
                <a:sym typeface="Arial"/>
              </a:rPr>
              <a:t>     </a:t>
            </a:r>
            <a:r>
              <a:rPr lang="en-US" sz="5442">
                <a:solidFill>
                  <a:srgbClr val="000000"/>
                </a:solidFill>
                <a:latin typeface="Arial"/>
                <a:ea typeface="Arial"/>
                <a:cs typeface="Arial"/>
                <a:sym typeface="Arial"/>
              </a:rPr>
              <a:t>Integrate the trained model into a tool or web browser    extension that users can use to check whether the </a:t>
            </a:r>
          </a:p>
          <a:p>
            <a:pPr algn="ctr">
              <a:lnSpc>
                <a:spcPts val="5442"/>
              </a:lnSpc>
            </a:pPr>
            <a:r>
              <a:rPr lang="en-US" sz="5442">
                <a:solidFill>
                  <a:srgbClr val="000000"/>
                </a:solidFill>
                <a:latin typeface="Arial"/>
                <a:ea typeface="Arial"/>
                <a:cs typeface="Arial"/>
                <a:sym typeface="Arial"/>
              </a:rPr>
              <a:t>  website is phishing .                                                  </a:t>
            </a:r>
          </a:p>
          <a:p>
            <a:pPr algn="ctr">
              <a:lnSpc>
                <a:spcPts val="5442"/>
              </a:lnSpc>
              <a:spcBef>
                <a:spcPct val="0"/>
              </a:spcBef>
            </a:pPr>
          </a:p>
        </p:txBody>
      </p:sp>
      <p:sp>
        <p:nvSpPr>
          <p:cNvPr name="TextBox 6" id="6"/>
          <p:cNvSpPr txBox="true"/>
          <p:nvPr/>
        </p:nvSpPr>
        <p:spPr>
          <a:xfrm rot="0">
            <a:off x="4983832" y="219851"/>
            <a:ext cx="8320337" cy="1455774"/>
          </a:xfrm>
          <a:prstGeom prst="rect">
            <a:avLst/>
          </a:prstGeom>
        </p:spPr>
        <p:txBody>
          <a:bodyPr anchor="t" rtlCol="false" tIns="0" lIns="0" bIns="0" rIns="0">
            <a:spAutoFit/>
          </a:bodyPr>
          <a:lstStyle/>
          <a:p>
            <a:pPr algn="ctr">
              <a:lnSpc>
                <a:spcPts val="11965"/>
              </a:lnSpc>
              <a:spcBef>
                <a:spcPct val="0"/>
              </a:spcBef>
            </a:pPr>
            <a:r>
              <a:rPr lang="en-US" sz="8546">
                <a:solidFill>
                  <a:srgbClr val="A453A2"/>
                </a:solidFill>
                <a:latin typeface="IBM Plex Sans Condensed"/>
                <a:ea typeface="IBM Plex Sans Condensed"/>
                <a:cs typeface="IBM Plex Sans Condensed"/>
                <a:sym typeface="IBM Plex Sans Condensed"/>
              </a:rPr>
              <a:t>ACTION PLAN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81043" y="-5031689"/>
            <a:ext cx="8381158" cy="8229600"/>
          </a:xfrm>
          <a:custGeom>
            <a:avLst/>
            <a:gdLst/>
            <a:ahLst/>
            <a:cxnLst/>
            <a:rect r="r" b="b" t="t" l="l"/>
            <a:pathLst>
              <a:path h="8229600" w="8381158">
                <a:moveTo>
                  <a:pt x="0" y="0"/>
                </a:moveTo>
                <a:lnTo>
                  <a:pt x="8381158" y="0"/>
                </a:lnTo>
                <a:lnTo>
                  <a:pt x="8381158" y="8229600"/>
                </a:lnTo>
                <a:lnTo>
                  <a:pt x="0" y="8229600"/>
                </a:lnTo>
                <a:lnTo>
                  <a:pt x="0" y="0"/>
                </a:lnTo>
                <a:close/>
              </a:path>
            </a:pathLst>
          </a:custGeom>
          <a:blipFill>
            <a:blip r:embed="rId3"/>
            <a:stretch>
              <a:fillRect l="0" t="0" r="0" b="0"/>
            </a:stretch>
          </a:blipFill>
        </p:spPr>
      </p:sp>
      <p:sp>
        <p:nvSpPr>
          <p:cNvPr name="TextBox 4" id="4"/>
          <p:cNvSpPr txBox="true"/>
          <p:nvPr/>
        </p:nvSpPr>
        <p:spPr>
          <a:xfrm rot="0">
            <a:off x="3700115" y="344374"/>
            <a:ext cx="11428017" cy="1282010"/>
          </a:xfrm>
          <a:prstGeom prst="rect">
            <a:avLst/>
          </a:prstGeom>
        </p:spPr>
        <p:txBody>
          <a:bodyPr anchor="t" rtlCol="false" tIns="0" lIns="0" bIns="0" rIns="0">
            <a:spAutoFit/>
          </a:bodyPr>
          <a:lstStyle/>
          <a:p>
            <a:pPr algn="ctr">
              <a:lnSpc>
                <a:spcPts val="8472"/>
              </a:lnSpc>
            </a:pPr>
            <a:r>
              <a:rPr lang="en-US" sz="8472">
                <a:solidFill>
                  <a:srgbClr val="A453A2"/>
                </a:solidFill>
                <a:latin typeface="Arial"/>
                <a:ea typeface="Arial"/>
                <a:cs typeface="Arial"/>
                <a:sym typeface="Arial"/>
              </a:rPr>
              <a:t>REFERENCES</a:t>
            </a:r>
          </a:p>
        </p:txBody>
      </p:sp>
      <p:sp>
        <p:nvSpPr>
          <p:cNvPr name="TextBox 5" id="5"/>
          <p:cNvSpPr txBox="true"/>
          <p:nvPr/>
        </p:nvSpPr>
        <p:spPr>
          <a:xfrm rot="0">
            <a:off x="-3323458" y="2360864"/>
            <a:ext cx="24934916" cy="6374898"/>
          </a:xfrm>
          <a:prstGeom prst="rect">
            <a:avLst/>
          </a:prstGeom>
        </p:spPr>
        <p:txBody>
          <a:bodyPr anchor="t" rtlCol="false" tIns="0" lIns="0" bIns="0" rIns="0">
            <a:spAutoFit/>
          </a:bodyPr>
          <a:lstStyle/>
          <a:p>
            <a:pPr algn="ctr">
              <a:lnSpc>
                <a:spcPts val="7202"/>
              </a:lnSpc>
            </a:pPr>
            <a:r>
              <a:rPr lang="en-US" sz="5144">
                <a:solidFill>
                  <a:srgbClr val="A453A2"/>
                </a:solidFill>
                <a:latin typeface="IBM Plex Mono"/>
                <a:ea typeface="IBM Plex Mono"/>
                <a:cs typeface="IBM Plex Mono"/>
                <a:sym typeface="IBM Plex Mono"/>
              </a:rPr>
              <a:t>Research Papers:</a:t>
            </a:r>
          </a:p>
          <a:p>
            <a:pPr algn="ctr">
              <a:lnSpc>
                <a:spcPts val="7202"/>
              </a:lnSpc>
            </a:pPr>
            <a:r>
              <a:rPr lang="en-US" sz="5144">
                <a:solidFill>
                  <a:srgbClr val="303238"/>
                </a:solidFill>
                <a:latin typeface="IBM Plex Sans Condensed"/>
                <a:ea typeface="IBM Plex Sans Condensed"/>
                <a:cs typeface="IBM Plex Sans Condensed"/>
                <a:sym typeface="IBM Plex Sans Condensed"/>
              </a:rPr>
              <a:t>“Phishing Website Detection using Deep Learning Models” </a:t>
            </a:r>
          </a:p>
          <a:p>
            <a:pPr algn="ctr">
              <a:lnSpc>
                <a:spcPts val="7202"/>
              </a:lnSpc>
            </a:pPr>
            <a:r>
              <a:rPr lang="en-US" sz="5144">
                <a:solidFill>
                  <a:srgbClr val="303238"/>
                </a:solidFill>
                <a:latin typeface="IBM Plex Sans Condensed"/>
                <a:ea typeface="IBM Plex Sans Condensed"/>
                <a:cs typeface="IBM Plex Sans Condensed"/>
                <a:sym typeface="IBM Plex Sans Condensed"/>
              </a:rPr>
              <a:t>  https://ieeexplore.ieee.org/document/9824801</a:t>
            </a:r>
          </a:p>
          <a:p>
            <a:pPr algn="ctr">
              <a:lnSpc>
                <a:spcPts val="7202"/>
              </a:lnSpc>
            </a:pPr>
            <a:r>
              <a:rPr lang="en-US" sz="5144">
                <a:solidFill>
                  <a:srgbClr val="A453A2"/>
                </a:solidFill>
                <a:latin typeface="IBM Plex Sans Condensed"/>
                <a:ea typeface="IBM Plex Sans Condensed"/>
                <a:cs typeface="IBM Plex Sans Condensed"/>
                <a:sym typeface="IBM Plex Sans Condensed"/>
              </a:rPr>
              <a:t>Books: </a:t>
            </a:r>
          </a:p>
          <a:p>
            <a:pPr algn="ctr">
              <a:lnSpc>
                <a:spcPts val="7202"/>
              </a:lnSpc>
            </a:pPr>
            <a:r>
              <a:rPr lang="en-US" sz="5144">
                <a:solidFill>
                  <a:srgbClr val="303238"/>
                </a:solidFill>
                <a:latin typeface="IBM Plex Sans Condensed"/>
                <a:ea typeface="IBM Plex Sans Condensed"/>
                <a:cs typeface="IBM Plex Sans Condensed"/>
                <a:sym typeface="IBM Plex Sans Condensed"/>
              </a:rPr>
              <a:t>"Machine Learning Yearning" by Andrew Ng.</a:t>
            </a:r>
          </a:p>
          <a:p>
            <a:pPr algn="ctr">
              <a:lnSpc>
                <a:spcPts val="7202"/>
              </a:lnSpc>
            </a:pPr>
            <a:r>
              <a:rPr lang="en-US" sz="5144">
                <a:solidFill>
                  <a:srgbClr val="303238"/>
                </a:solidFill>
                <a:latin typeface="IBM Plex Sans Condensed"/>
                <a:ea typeface="IBM Plex Sans Condensed"/>
                <a:cs typeface="IBM Plex Sans Condensed"/>
                <a:sym typeface="IBM Plex Sans Condensed"/>
              </a:rPr>
              <a:t>"Pattern Recognition and Machine Learning" by Christopher Bishop.</a:t>
            </a:r>
          </a:p>
          <a:p>
            <a:pPr algn="ctr">
              <a:lnSpc>
                <a:spcPts val="7202"/>
              </a:lnSpc>
            </a:pPr>
          </a:p>
        </p:txBody>
      </p:sp>
      <p:sp>
        <p:nvSpPr>
          <p:cNvPr name="Freeform 6" id="6"/>
          <p:cNvSpPr/>
          <p:nvPr/>
        </p:nvSpPr>
        <p:spPr>
          <a:xfrm flipH="false" flipV="false" rot="4492686">
            <a:off x="15507302" y="7895318"/>
            <a:ext cx="3786937" cy="3684967"/>
          </a:xfrm>
          <a:custGeom>
            <a:avLst/>
            <a:gdLst/>
            <a:ahLst/>
            <a:cxnLst/>
            <a:rect r="r" b="b" t="t" l="l"/>
            <a:pathLst>
              <a:path h="3684967" w="3786937">
                <a:moveTo>
                  <a:pt x="0" y="0"/>
                </a:moveTo>
                <a:lnTo>
                  <a:pt x="3786937" y="0"/>
                </a:lnTo>
                <a:lnTo>
                  <a:pt x="3786937" y="3684967"/>
                </a:lnTo>
                <a:lnTo>
                  <a:pt x="0" y="3684967"/>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5247964" y="-928477"/>
            <a:ext cx="4022672" cy="3914355"/>
          </a:xfrm>
          <a:custGeom>
            <a:avLst/>
            <a:gdLst/>
            <a:ahLst/>
            <a:cxnLst/>
            <a:rect r="r" b="b" t="t" l="l"/>
            <a:pathLst>
              <a:path h="3914355" w="4022672">
                <a:moveTo>
                  <a:pt x="0" y="0"/>
                </a:moveTo>
                <a:lnTo>
                  <a:pt x="4022672" y="0"/>
                </a:lnTo>
                <a:lnTo>
                  <a:pt x="4022672" y="3914354"/>
                </a:lnTo>
                <a:lnTo>
                  <a:pt x="0" y="3914354"/>
                </a:lnTo>
                <a:lnTo>
                  <a:pt x="0" y="0"/>
                </a:lnTo>
                <a:close/>
              </a:path>
            </a:pathLst>
          </a:custGeom>
          <a:blipFill>
            <a:blip r:embed="rId3"/>
            <a:stretch>
              <a:fillRect l="0" t="0" r="0" b="0"/>
            </a:stretch>
          </a:blipFill>
        </p:spPr>
      </p:sp>
      <p:sp>
        <p:nvSpPr>
          <p:cNvPr name="Freeform 4" id="4"/>
          <p:cNvSpPr/>
          <p:nvPr/>
        </p:nvSpPr>
        <p:spPr>
          <a:xfrm flipH="false" flipV="false" rot="0">
            <a:off x="-2011336" y="7735656"/>
            <a:ext cx="4022672" cy="3914355"/>
          </a:xfrm>
          <a:custGeom>
            <a:avLst/>
            <a:gdLst/>
            <a:ahLst/>
            <a:cxnLst/>
            <a:rect r="r" b="b" t="t" l="l"/>
            <a:pathLst>
              <a:path h="3914355" w="4022672">
                <a:moveTo>
                  <a:pt x="0" y="0"/>
                </a:moveTo>
                <a:lnTo>
                  <a:pt x="4022672" y="0"/>
                </a:lnTo>
                <a:lnTo>
                  <a:pt x="4022672" y="3914354"/>
                </a:lnTo>
                <a:lnTo>
                  <a:pt x="0" y="3914354"/>
                </a:lnTo>
                <a:lnTo>
                  <a:pt x="0" y="0"/>
                </a:lnTo>
                <a:close/>
              </a:path>
            </a:pathLst>
          </a:custGeom>
          <a:blipFill>
            <a:blip r:embed="rId3"/>
            <a:stretch>
              <a:fillRect l="0" t="0" r="0" b="0"/>
            </a:stretch>
          </a:blipFill>
        </p:spPr>
      </p:sp>
      <p:sp>
        <p:nvSpPr>
          <p:cNvPr name="TextBox 5" id="5"/>
          <p:cNvSpPr txBox="true"/>
          <p:nvPr/>
        </p:nvSpPr>
        <p:spPr>
          <a:xfrm rot="0">
            <a:off x="651751" y="1230141"/>
            <a:ext cx="17274559" cy="8529165"/>
          </a:xfrm>
          <a:prstGeom prst="rect">
            <a:avLst/>
          </a:prstGeom>
        </p:spPr>
        <p:txBody>
          <a:bodyPr anchor="t" rtlCol="false" tIns="0" lIns="0" bIns="0" rIns="0">
            <a:spAutoFit/>
          </a:bodyPr>
          <a:lstStyle/>
          <a:p>
            <a:pPr algn="ctr">
              <a:lnSpc>
                <a:spcPts val="6181"/>
              </a:lnSpc>
            </a:pPr>
          </a:p>
          <a:p>
            <a:pPr algn="ctr">
              <a:lnSpc>
                <a:spcPts val="6181"/>
              </a:lnSpc>
            </a:pPr>
            <a:r>
              <a:rPr lang="en-US" sz="4415">
                <a:solidFill>
                  <a:srgbClr val="303238"/>
                </a:solidFill>
                <a:latin typeface="IBM Plex Sans Condensed"/>
                <a:ea typeface="IBM Plex Sans Condensed"/>
                <a:cs typeface="IBM Plex Sans Condensed"/>
                <a:sym typeface="IBM Plex Sans Condensed"/>
              </a:rPr>
              <a:t>In our proposed system, we aim to introduce various machine learning models, such as Logistic Regression, Support Vector Machine, Gradient Boost, XGBoost, and Naive Bayes, in addition to the existing deep learning algorithms and Random Forest ,Decision Tree algorithms. After training all these models, we will select the best-performing one based on accuracy. This approach is designed to enhance the accuracy and diversity of our model ensemble. Additionally, we are focusing on improving the system's latency performance and developing a user-friendly interface to ensure ease of use.</a:t>
            </a:r>
          </a:p>
          <a:p>
            <a:pPr algn="ctr">
              <a:lnSpc>
                <a:spcPts val="6181"/>
              </a:lnSpc>
              <a:spcBef>
                <a:spcPct val="0"/>
              </a:spcBef>
            </a:pPr>
          </a:p>
        </p:txBody>
      </p:sp>
      <p:sp>
        <p:nvSpPr>
          <p:cNvPr name="TextBox 6" id="6"/>
          <p:cNvSpPr txBox="true"/>
          <p:nvPr/>
        </p:nvSpPr>
        <p:spPr>
          <a:xfrm rot="0">
            <a:off x="3710117" y="45623"/>
            <a:ext cx="9630319" cy="1283317"/>
          </a:xfrm>
          <a:prstGeom prst="rect">
            <a:avLst/>
          </a:prstGeom>
        </p:spPr>
        <p:txBody>
          <a:bodyPr anchor="t" rtlCol="false" tIns="0" lIns="0" bIns="0" rIns="0">
            <a:spAutoFit/>
          </a:bodyPr>
          <a:lstStyle/>
          <a:p>
            <a:pPr algn="ctr">
              <a:lnSpc>
                <a:spcPts val="10541"/>
              </a:lnSpc>
              <a:spcBef>
                <a:spcPct val="0"/>
              </a:spcBef>
            </a:pPr>
            <a:r>
              <a:rPr lang="en-US" sz="7529">
                <a:solidFill>
                  <a:srgbClr val="A453A2"/>
                </a:solidFill>
                <a:latin typeface="IBM Plex Sans Condensed"/>
                <a:ea typeface="IBM Plex Sans Condensed"/>
                <a:cs typeface="IBM Plex Sans Condensed"/>
                <a:sym typeface="IBM Plex Sans Condensed"/>
              </a:rPr>
              <a:t>FUTURE ENHANCEMENT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5544954" y="-3570980"/>
            <a:ext cx="7622667" cy="8229600"/>
          </a:xfrm>
          <a:custGeom>
            <a:avLst/>
            <a:gdLst/>
            <a:ahLst/>
            <a:cxnLst/>
            <a:rect r="r" b="b" t="t" l="l"/>
            <a:pathLst>
              <a:path h="8229600" w="7622667">
                <a:moveTo>
                  <a:pt x="0" y="0"/>
                </a:moveTo>
                <a:lnTo>
                  <a:pt x="7622667" y="0"/>
                </a:lnTo>
                <a:lnTo>
                  <a:pt x="7622667"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16273859" y="3142066"/>
            <a:ext cx="4028282" cy="8229600"/>
          </a:xfrm>
          <a:custGeom>
            <a:avLst/>
            <a:gdLst/>
            <a:ahLst/>
            <a:cxnLst/>
            <a:rect r="r" b="b" t="t" l="l"/>
            <a:pathLst>
              <a:path h="8229600" w="4028282">
                <a:moveTo>
                  <a:pt x="0" y="0"/>
                </a:moveTo>
                <a:lnTo>
                  <a:pt x="4028282" y="0"/>
                </a:lnTo>
                <a:lnTo>
                  <a:pt x="4028282" y="8229600"/>
                </a:lnTo>
                <a:lnTo>
                  <a:pt x="0" y="8229600"/>
                </a:lnTo>
                <a:lnTo>
                  <a:pt x="0" y="0"/>
                </a:lnTo>
                <a:close/>
              </a:path>
            </a:pathLst>
          </a:custGeom>
          <a:blipFill>
            <a:blip r:embed="rId4"/>
            <a:stretch>
              <a:fillRect l="0" t="0" r="0" b="0"/>
            </a:stretch>
          </a:blipFill>
        </p:spPr>
      </p:sp>
      <p:sp>
        <p:nvSpPr>
          <p:cNvPr name="TextBox 5" id="5"/>
          <p:cNvSpPr txBox="true"/>
          <p:nvPr/>
        </p:nvSpPr>
        <p:spPr>
          <a:xfrm rot="0">
            <a:off x="2500246" y="3132541"/>
            <a:ext cx="12735834" cy="3051176"/>
          </a:xfrm>
          <a:prstGeom prst="rect">
            <a:avLst/>
          </a:prstGeom>
        </p:spPr>
        <p:txBody>
          <a:bodyPr anchor="t" rtlCol="false" tIns="0" lIns="0" bIns="0" rIns="0">
            <a:spAutoFit/>
          </a:bodyPr>
          <a:lstStyle/>
          <a:p>
            <a:pPr algn="ctr">
              <a:lnSpc>
                <a:spcPts val="20000"/>
              </a:lnSpc>
            </a:pPr>
            <a:r>
              <a:rPr lang="en-US" sz="20000">
                <a:solidFill>
                  <a:srgbClr val="303238"/>
                </a:solidFill>
                <a:latin typeface="Arial"/>
                <a:ea typeface="Arial"/>
                <a:cs typeface="Arial"/>
                <a:sym typeface="Aria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DAGW74Y3bW0</dc:identifier>
  <dcterms:modified xsi:type="dcterms:W3CDTF">2011-08-01T06:04:30Z</dcterms:modified>
  <cp:revision>1</cp:revision>
  <dc:title>Blue Gradient Modern Group Project Presentation</dc:title>
</cp:coreProperties>
</file>